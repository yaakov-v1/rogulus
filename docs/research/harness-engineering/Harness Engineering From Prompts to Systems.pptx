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Harness engineering is the practice of building everything around an AI model, such as tools, context, feedback loops and constraints, so an agent does reliable work. Plan: why it matters, what a harness is, how the idea developed from 2022 to 2026, the evidence, how teams apply it, and the open debates. Fill in the presenter name and event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we're going today. First, a quick look at why this matters at all: the same model can do a lot better or a lot worse depending on what you wrap around it. Then we'll pin down what a harness actually is, what's inside one, and which parts you control versus which parts your tool vendor controls. After that, a short history, from the prompt tricks of 2022 to the term "harness engineering" showing up this February. Then the evidence, mainly two case studies from OpenAI and Anthropic. Then the practical part: how teams actually build a harness. And we'll finish with the big open question, whether better models make all of this unnecessary, plus where teams are today. Then we'll close with two questions you're probably already asking: do we need to understand this, and do we need to build our own setup? And I'll leave you with a few things to try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LangChain kept GPT-5.2-Codex fixed and changed only its harness (system prompt, tools and middleware such as a pre-completion checklist and loop detection). Its coding agent went from 52.8% to 66.5% on Terminal-Bench 2.0, from outside the top 30 to the top 5. A separate comparison by Composio ran the same model, provider and tools through 8 harnesses on 25 tasks; success ranged from 68% to 88%. Sources: langchain.com/blog/improving-deep-agents-with-harness-engineering (17 Feb 2026); marmelab.com/blog/2026/09/24/the-state-of-ai-harness-engineering-2026.html (citing Composio).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 comes from Vivek Trivedy at LangChain (10 Mar 2026): a harness is every piece of code, configuration and execution logic that isn't the model, including system prompts, tools, skills and MCP servers, a filesystem, sandbox and browser, orchestration, and hooks or middleware. The practice of harness engineering was named by Mitchell Hashimoto on 5 Feb 2026: whenever an agent makes a mistake, engineer a fix so it never makes that mistake again, either as a line in AGENTS.md or as a programmed tool. Six days later OpenAI used the term in a major report and it went mainstream. Sources: langchain.com/blog/the-anatomy-of-an-agent-harness; mitchellh.com/writing/my-ai-adoption-journey.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OpenAI's harness engineering report says single Codex runs regularly work on one task for upwards of six hours, often while the humans sleep, and calls human time and attention the one truly scarce resource. Cursor (Wilson Lin, Jan 2026): hundreds of concurrent agents wrote over 1M lines across 1,000 files in close to a week while building a web browser. Anthropic (Nicholas Carlini, 5 Feb 2026): 16 agents, nearly 2,000 Claude Code sessions and about $20,000 produced a 100,000-line Rust C compiler that builds Linux 6.9 on x86, ARM and RISC-V. Sources: openai.com/index/harness-engineering; cursor.com/blog/scaling-agents; anthropic.com/engineering/building-c-compiler.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engineering optimized the wording of a single request and went mainstream with ChatGPT in 2022 and 2023. Context engineering curates everything the model sees on each turn: Cognition's Walden Yan used the term on 12 Jun 2025, then Tobi Lütke and Andrej Karpathy popularized it later that month, and Anthropic published a guide in Sept 2025. Harness engineering covers the whole system around the model, including the loop, tools, environment, feedback and constraints; it was named in Feb 2026. Most writers treat these as nested layers, as drawn here, but Birgitta Böckeler treats user-side harness engineering as a specific form of context engineering, so the boundary is still debated.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as one cycle. Guides steer the model before it acts. The model acts with tools inside the environment. Sensors check the result, and their feedback goes straight back to the model so it can fix and retry; that loop is the agent loop. Everything in the white box is the harness. Sources: Sanderson de Macedo (arXiv 2606.10106, Jun 2026) defines a harness by four parts: an agent loop, a tool interface, context management and control mechanisms. Birgitta Böckeler (martinfowler.com, Apr 2026) splits the controls into guides (before) and sensors (after). LangChain (Mar 2026) lists the components: prompts, tools, skills, MCP servers, sandbox, orchestration and hooks.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Böckeler (martinfowler.com, 2 Apr 2026) draws three concentric circles: the model at the core; the builder harness shipped inside a coding agent such as Claude Code, Codex or Cursor (agent loop, tool schemas, system prompt, compaction, sandbox); and the user harness a team builds around its own codebase (AGENTS.md or CLAUDE.md, skills, hooks, MCP servers, linters, tests, CI gates, review agents). She admits the metaphor stretches (someone asked her if she had ever put a harness on the inside of a dog), but the split clarifies who can change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 to 2023, prompts and loops: ReAct (Oct 2022) defined the reason, act, observe loop; AutoGPT (30 Mar 2023) and BabyAGI (early Apr 2023) were the first viral autonomous loops; OpenAI added function calling on 13 Jun 2023. 2024, agent interfaces: Devin launched 12 Mar 2024; SWE-agent (May 2024) showed a purpose-built agent-computer interface lifted SWE-bench to 12.5%; Anthropic released MCP on 25 Nov 2024. 2025, coding agents: Claude Code preview 24 Feb 2025; Codex CLI 16 Apr and Codex cloud 16 May 2025; AGENTS.md in Aug 2025; Agent Skills 16 Oct 2025; Anthropic's long-running harness 26 Nov 2025. 2026, harness engineering: Hashimoto 5 Feb, OpenAI 11 Feb, Böckeler's memo 17 Feb and full article 2 Apr, LangChain's anatomy 10 Mar, automated harness research such as Meta-Harness from Mar 2026. The italic line in each band is the term people used at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Yao et al., arXiv 2210.03629 (Oct 2022): the reason, act, observe loop. SWE-agent, Princeton, arXiv 2405.15793 (May 2024): a purpose-built agent-computer interface reached 12.5% on SWE-bench, against about 3.8% for the previous best. Model Context Protocol, Anthropic, 25 Nov 2024: one standard plug for tools and data. Claude Code research preview, 24 Feb 2025. Context engineering: Walden Yan of Cognition used the term on 12 Jun 2025; Tobi Lütke and Andrej Karpathy popularized it later that month. AGENTS.md, released by OpenAI in Aug 2025, now under the Linux Foundation's Agentic AI Foundation. Harness engineering: Mitchell Hashimoto on 5 Feb 2026, OpenAI's report on 11 Feb 2026. LangChain, "The Anatomy of an Agent Harness", 10 Mar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OpenAI's internal product (Ryan Lopopolo, 11 Feb 2026): about a million lines of code and roughly 1,500 merged PRs in five months, with zero lines written by hand. Three engineers drove Codex at first and the team grew to seven; throughput averaged 3.5 PRs per engineer per day. They estimate it took about a tenth of the time hand-coding would have. Harness moves worth mentioning: a roughly 100-line AGENTS.md that acts as a table of contents into a docs/ system of record; custom linters whose error messages tell the agent how to fix the problem; an app that boots per git worktree, with browser, logs and metrics the agent can query; and recurring background agents that clean up drift and stale docs, replacing Friday clean-ups that used to take 20% of the week. Source: openai.com/index/harness-engineering.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Prithvi Rajasekaran of Anthropic Labs (24 Mar 2026) borrowed the structure of generative adversarial networks: a planner expands a one-line prompt into a spec, a generator builds it, and an evaluator agrees a "sprint contract" with the generator and then tests the running app with Playwright. On a retro game maker prompt, a solo agent ran 20 minutes for $9 and the core game didn't work; the full harness ran 6 hours for $200 and the game was playable. Tuning a separate evaluator to be skeptical proved far easier than getting the generator to judge its own work. With Opus 4.6 he removed the sprint construct and built a browser music workstation in 3 hours 50 minutes for $124.70.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Böckeler's model (martinfowler.com, 2 Apr 2026): guides are feedforward controls that raise the odds the agent gets it right the first time; sensors are feedback controls that let it correct itself, and work best when their output is written for an LLM, such as lint errors that include the fix. Computational controls (language servers, CLIs, scripts, codemods, tests, linters, type checkers, structural tests) are deterministic and cheap enough to run on every change; inferential ones (AGENTS.md rules, skills, reference docs, review agents, LLM-as-judge) add semantic judgment at higher cost. The human's job is to steer: whenever an issue happens more than once, improve the guides and sensors. She flags the behaviour harness, proving the app does what users need, as the biggest unsolved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map, not a manual: OpenAI replaced one big AGENTS.md with a roughly 100-line table of contents pointing into a docs/ folder. Enforce with code, not prose: a study of 481 public CLAUDE.md files (arXiv 2608.23550, as summarized by Marmelab, Sept 2026) found only 4.4% of written security rules were backed by an actual control. Fast checks on every change: LangChain's pre-completion checklist makes the agent run a verification pass before it may stop. State in files and git: Anthropic's long-running harness (Nov 2025) uses a feature list, a progress file and git commits so each new context can resume. Build to delete: Anthropic (Mar 2026) says every harness component encodes an assumption about what the model can't do, so re-test and remove pieces as models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skeptic case: Noam Brown, quoted by Latent Space (5 Mar 2026), argued that just as reasoning models replaced the scaffolding built around earlier models, today's scaffolds will be replaced as models become more capable. Vercel (22 Dec 2025) likewise advised building for the model you'll have in six months. The counter case: Anthropic (24 Mar 2026) found that the space of interesting harness combinations moves rather than shrinks, and that better models leave room for harnesses that do more than the model can alone. Evidence: Opus 4.5 removed the need for context resets and Opus 4.6 made sprints unnecessary, but the planner and evaluator still added value. Related: Cognition argued against multi-agent systems in Jun 2025, then reported multi-agent deployments working in practice in Apr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Marmelab (François Zaninotto, 24 Sept 2026) audited 246 harness repositories and read 57 publications, with a counter-test of 145 large open-source projects. 63% of those 145 ship an agent instruction file, but only 4 (about 3%) declare a subagent. Only 12 of 391 repositories (about 3%) commit a single deny rule. Of 97 harnesses big enough to test, 60% have neither a test nor an eval, so only 40% have any. AGENTS.md is winning: 189 repos have one at the root versus 155 with CLAUDE.md. About a quarter of commits touching a harness are explicitly AI-signed. Note each bar has a different base, shown under its label. Source: marmelab.com/blog/2026/09/24/the-state-of-ai-harness-engineering-2026.html.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pointer during Q&amp;A or as a backup. Böckeler's article opens with an overview diagram of a coding-agent harness: guides on one side (principles, rules, reference docs, how-tos, language servers, CLIs, scripts, codemods) and sensors on the other (review agents, static analysis, logs, browser). De Macedo's paper has five figures; Fig. 1 shows the model as a horse and the harness as the tack that channels its power, and Fig. 3 maps the components around the model (tool registry, context manager, memory, agent loop, verifier, retry, observability, guardrails, deterministic handlers). Cursor's post includes a screenshot of the web browser its agents built from scratch. If you want any of these on a slide, take the screenshot yourself, add a credit line and check the author's reuse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two questions I'd expect from this room. First: do we actually need to understand any of this? I'd say yes, but only enough to steer it. The OpenAI team that built a million lines with agents summed up their job in four words: "Humans steer. Agents execute." Three reasons it's worth knowing. One, the harness moves results about as much as picking a better model. LangChain kept the same model and went from 52.8 to 66.5 percent on Terminal-Bench 2.0 just by changing the harness. Two, you already have one. Vivek Trivedy at LangChain put it simply: "If you're not the model, you're the harness." Every AGENTS.md line you write is harness. Three, it tells you what to fix. Mitchell Hashimoto's rule is that whenever an agent makes a mistake, you "engineer a solution such that the agent never makes that mistake again." Sources: openai.com/index/harness-engineering; langchain.com/blog/improving-deep-agents-with-harness-engineering; langchain.com/blog/the-anatomy-of-an-agent-harness; mitchellh.com/writing/my-ai-adoption-journey.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question: do we have to build our own setup to keep up? Not from scratch, and here's what the people who've done it say. Step one, use your tool as it comes. Birgitta Böckeler at Thoughtworks describes it as two layers: the vendor ships the inner harness inside Claude Code, Codex or Cursor, and we users build the outer one around our own codebase. Step two is where I'd start, and it's small: a short AGENTS.md, your existing tests and linters wired in as checks, and a few skills. Keep it lean. Vercel removed most of their agent's tools and it got better; as Andrew Qu wrote, "the best agents might be the ones with the fewest tools." Step three, a full harness of your own, is what OpenAI and Anthropic did for an agent-built product with about a million lines, and for unattended six-hour, two-hundred-dollar runs. Most of us won't need that. Finally, grow it one fix at a time. Prithvi Rajasekaran at Anthropic points out that every harness piece "encodes an assumption about what the model can't do on its own," so add pieces when the agent keeps failing, and remove them when a new model no longer needs them. Sources: martinfowler.com/articles/harness-engineering.html; vercel.com/blog/we-removed-80-percent-of-our-agents-tools; openai.com/index/harness-engineering; anthropic.com/engineering/harness-design-long-running-apps.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actions the audience can take this week. The first two are Hashimoto's habit and Böckeler's steering loop: every time you correct an agent, ask whether a guide (an instruction, a skill, a doc) or a sensor (a test, a linter, a hook) would have caught it, and add one. Keeping AGENTS.md short is OpenAI's lesson: a map that points into deeper docs. Re-testing at every model upgrade is Anthropic's: every component encodes an assumption about the model, so strip what is no longer load-bearing.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2B2F45"/>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2B2F45"/>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2B2F45"/>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2B2F45"/>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martinfowler.com/articles/harness-engineering.html" TargetMode="External"/><Relationship Id="rId4" Type="http://schemas.openxmlformats.org/officeDocument/2006/relationships/hyperlink" Target="https://arxiv.org/abs/2606.10106" TargetMode="External"/><Relationship Id="rId6" Type="http://schemas.openxmlformats.org/officeDocument/2006/relationships/hyperlink" Target="https://arxiv.org/abs/2606.10106" TargetMode="External"/><Relationship Id="rId8" Type="http://schemas.openxmlformats.org/officeDocument/2006/relationships/hyperlink" Target="https://cursor.com/blog/scaling-agents" TargetMode="External"/><Relationship Id="rId1" Type="http://schemas.openxmlformats.org/officeDocument/2006/relationships/image" Target="../media/image-17-1.png"/><Relationship Id="rId3" Type="http://schemas.openxmlformats.org/officeDocument/2006/relationships/image" Target="../media/image-17-2.png"/><Relationship Id="rId5" Type="http://schemas.openxmlformats.org/officeDocument/2006/relationships/image" Target="../media/image-17-3.png"/><Relationship Id="rId7" Type="http://schemas.openxmlformats.org/officeDocument/2006/relationships/image" Target="../media/image-17-4.png"/><Relationship Id="rId9" Type="http://schemas.openxmlformats.org/officeDocument/2006/relationships/slideLayout" Target="../slideLayouts/slideLayout2.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CE6FB"/>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DCE6FB"/>
              </a:gs>
              <a:gs pos="55000">
                <a:srgbClr val="E9E2FA"/>
              </a:gs>
              <a:gs pos="100000">
                <a:srgbClr val="EFE4F7"/>
              </a:gs>
            </a:gsLst>
            <a:lin ang="2700000" scaled="0"/>
          </a:gradFill>
          <a:ln/>
        </p:spPr>
      </p:sp>
      <p:sp>
        <p:nvSpPr>
          <p:cNvPr id="3" name="Text 1"/>
          <p:cNvSpPr/>
          <p:nvPr/>
        </p:nvSpPr>
        <p:spPr>
          <a:xfrm>
            <a:off x="812800" y="1979364"/>
            <a:ext cx="659282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E52B8"/>
                </a:solidFill>
                <a:latin typeface="JetBrains Mono" pitchFamily="49" charset="0"/>
                <a:ea typeface="JetBrains Mono" pitchFamily="49" charset="-122"/>
                <a:cs typeface="JetBrains Mono" pitchFamily="49" charset="-120"/>
              </a:rPr>
              <a:t>A FIELD OVERVIEW, 2022–2026</a:t>
            </a:r>
            <a:endParaRPr lang="en-US" sz="1200" dirty="0"/>
          </a:p>
        </p:txBody>
      </p:sp>
      <p:sp>
        <p:nvSpPr>
          <p:cNvPr id="4" name="Text 2"/>
          <p:cNvSpPr/>
          <p:nvPr>
            <p:ph type="title"/>
          </p:nvPr>
        </p:nvSpPr>
        <p:spPr>
          <a:xfrm>
            <a:off x="812800" y="2395885"/>
            <a:ext cx="6592824" cy="1579860"/>
          </a:xfrm>
          <a:prstGeom prst="rect">
            <a:avLst/>
          </a:prstGeom>
          <a:noFill/>
          <a:ln/>
        </p:spPr>
        <p:txBody>
          <a:bodyPr wrap="square" lIns="0" tIns="0" rIns="0" bIns="0" rtlCol="0" anchor="t">
            <a:normAutofit/>
          </a:bodyPr>
          <a:lstStyle/>
          <a:p>
            <a:pPr algn="l" indent="0" marL="0">
              <a:lnSpc>
                <a:spcPts val="6120"/>
              </a:lnSpc>
              <a:buNone/>
            </a:pPr>
            <a:r>
              <a:rPr lang="en-US" sz="6000" b="1" i="0" spc="-150" kern="0" dirty="0">
                <a:solidFill>
                  <a:srgbClr val="2B2F45"/>
                </a:solidFill>
                <a:latin typeface="DM Sans" pitchFamily="34" charset="0"/>
                <a:ea typeface="DM Sans" pitchFamily="34" charset="-122"/>
                <a:cs typeface="DM Sans" pitchFamily="34" charset="-120"/>
              </a:rPr>
              <a:t>Harness Engineering</a:t>
            </a:r>
            <a:endParaRPr lang="en-US" sz="6000" dirty="0"/>
          </a:p>
        </p:txBody>
      </p:sp>
      <p:sp>
        <p:nvSpPr>
          <p:cNvPr id="5" name="Text 3"/>
          <p:cNvSpPr/>
          <p:nvPr/>
        </p:nvSpPr>
        <p:spPr>
          <a:xfrm>
            <a:off x="812800" y="4153545"/>
            <a:ext cx="6592824"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565B75"/>
                </a:solidFill>
                <a:latin typeface="DM Sans" pitchFamily="34" charset="0"/>
                <a:ea typeface="DM Sans" pitchFamily="34" charset="-122"/>
                <a:cs typeface="DM Sans" pitchFamily="34" charset="-120"/>
              </a:rPr>
              <a:t>How the layer around the model became a discipline</a:t>
            </a:r>
            <a:endParaRPr lang="en-US" sz="1800" dirty="0"/>
          </a:p>
        </p:txBody>
      </p:sp>
      <p:sp>
        <p:nvSpPr>
          <p:cNvPr id="6" name="Text 4"/>
          <p:cNvSpPr/>
          <p:nvPr/>
        </p:nvSpPr>
        <p:spPr>
          <a:xfrm>
            <a:off x="812800" y="4665315"/>
            <a:ext cx="65928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5B75"/>
                </a:solidFill>
                <a:latin typeface="DM Sans" pitchFamily="34" charset="0"/>
                <a:ea typeface="DM Sans" pitchFamily="34" charset="-122"/>
                <a:cs typeface="DM Sans" pitchFamily="34" charset="-120"/>
              </a:rPr>
              <a:t>John Albert Jacob · Brownbag · October 2026</a:t>
            </a:r>
            <a:endParaRPr lang="en-US" sz="1200" dirty="0"/>
          </a:p>
        </p:txBody>
      </p:sp>
      <p:sp>
        <p:nvSpPr>
          <p:cNvPr id="7" name="Shape 5"/>
          <p:cNvSpPr/>
          <p:nvPr/>
        </p:nvSpPr>
        <p:spPr>
          <a:xfrm>
            <a:off x="7829550" y="1657350"/>
            <a:ext cx="3543300" cy="3543300"/>
          </a:xfrm>
          <a:prstGeom prst="roundRect">
            <a:avLst>
              <a:gd name="adj" fmla="val 12724"/>
            </a:avLst>
          </a:prstGeom>
          <a:solidFill>
            <a:srgbClr val="FFFFFF">
              <a:alpha val="50000"/>
            </a:srgbClr>
          </a:solidFill>
          <a:ln w="12700">
            <a:solidFill>
              <a:srgbClr val="C9CFF3"/>
            </a:solidFill>
            <a:prstDash val="solid"/>
          </a:ln>
        </p:spPr>
      </p:sp>
      <p:sp>
        <p:nvSpPr>
          <p:cNvPr id="8" name="Text 6"/>
          <p:cNvSpPr/>
          <p:nvPr/>
        </p:nvSpPr>
        <p:spPr>
          <a:xfrm>
            <a:off x="8839200" y="2667000"/>
            <a:ext cx="1524000" cy="1524000"/>
          </a:xfrm>
          <a:prstGeom prst="roundRect">
            <a:avLst>
              <a:gd name="adj" fmla="val 16667"/>
            </a:avLst>
          </a:prstGeom>
          <a:solidFill>
            <a:srgbClr val="5A5ED6"/>
          </a:solidFill>
          <a:ln/>
        </p:spPr>
        <p:txBody>
          <a:bodyPr wrap="square" lIns="0" tIns="0" rIns="0" bIns="0" rtlCol="0" anchor="ctr">
            <a:normAutofit/>
          </a:bodyPr>
          <a:lstStyle/>
          <a:p>
            <a:pPr algn="ctr" indent="0" marL="0">
              <a:lnSpc>
                <a:spcPts val="2520"/>
              </a:lnSpc>
              <a:buNone/>
            </a:pPr>
            <a:r>
              <a:rPr lang="en-US" sz="1800" b="1" dirty="0">
                <a:solidFill>
                  <a:srgbClr val="FCFCFE"/>
                </a:solidFill>
                <a:latin typeface="DM Sans" pitchFamily="34" charset="0"/>
                <a:ea typeface="DM Sans" pitchFamily="34" charset="-122"/>
                <a:cs typeface="DM Sans" pitchFamily="34" charset="-120"/>
              </a:rPr>
              <a:t>Model</a:t>
            </a:r>
            <a:endParaRPr lang="en-US" sz="1800" dirty="0"/>
          </a:p>
        </p:txBody>
      </p:sp>
      <p:sp>
        <p:nvSpPr>
          <p:cNvPr id="9" name="Text 7"/>
          <p:cNvSpPr/>
          <p:nvPr/>
        </p:nvSpPr>
        <p:spPr>
          <a:xfrm>
            <a:off x="8128000" y="19050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E52B8"/>
                </a:solidFill>
                <a:latin typeface="JetBrains Mono" pitchFamily="49" charset="0"/>
                <a:ea typeface="JetBrains Mono" pitchFamily="49" charset="-122"/>
                <a:cs typeface="JetBrains Mono" pitchFamily="49" charset="-120"/>
              </a:rPr>
              <a:t>HARNESS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What we'll cover</a:t>
            </a:r>
            <a:endParaRPr lang="en-US" sz="3200" dirty="0"/>
          </a:p>
        </p:txBody>
      </p:sp>
      <p:sp>
        <p:nvSpPr>
          <p:cNvPr id="3" name="Shape 1"/>
          <p:cNvSpPr/>
          <p:nvPr/>
        </p:nvSpPr>
        <p:spPr>
          <a:xfrm>
            <a:off x="812800" y="1618605"/>
            <a:ext cx="10566400" cy="0"/>
          </a:xfrm>
          <a:prstGeom prst="line">
            <a:avLst/>
          </a:prstGeom>
          <a:noFill/>
          <a:ln w="6350">
            <a:solidFill>
              <a:srgbClr val="E1E4F2"/>
            </a:solidFill>
            <a:prstDash val="solid"/>
          </a:ln>
        </p:spPr>
      </p:sp>
      <p:sp>
        <p:nvSpPr>
          <p:cNvPr id="4" name="Text 2"/>
          <p:cNvSpPr/>
          <p:nvPr/>
        </p:nvSpPr>
        <p:spPr>
          <a:xfrm>
            <a:off x="812800" y="1796405"/>
            <a:ext cx="5080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2B8"/>
                </a:solidFill>
                <a:latin typeface="JetBrains Mono" pitchFamily="49" charset="0"/>
                <a:ea typeface="JetBrains Mono" pitchFamily="49" charset="-122"/>
                <a:cs typeface="JetBrains Mono" pitchFamily="49" charset="-120"/>
              </a:rPr>
              <a:t>01</a:t>
            </a:r>
            <a:endParaRPr lang="en-US" sz="1400" dirty="0"/>
          </a:p>
        </p:txBody>
      </p:sp>
      <p:sp>
        <p:nvSpPr>
          <p:cNvPr id="5" name="Text 3"/>
          <p:cNvSpPr/>
          <p:nvPr/>
        </p:nvSpPr>
        <p:spPr>
          <a:xfrm>
            <a:off x="1524000" y="1748780"/>
            <a:ext cx="366268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2F45"/>
                </a:solidFill>
                <a:latin typeface="DM Sans" pitchFamily="34" charset="0"/>
                <a:ea typeface="DM Sans" pitchFamily="34" charset="-122"/>
                <a:cs typeface="DM Sans" pitchFamily="34" charset="-120"/>
              </a:rPr>
              <a:t>Why it matters</a:t>
            </a:r>
            <a:endParaRPr lang="en-US" sz="1800" dirty="0"/>
          </a:p>
        </p:txBody>
      </p:sp>
      <p:sp>
        <p:nvSpPr>
          <p:cNvPr id="6" name="Text 4"/>
          <p:cNvSpPr/>
          <p:nvPr/>
        </p:nvSpPr>
        <p:spPr>
          <a:xfrm>
            <a:off x="5334000" y="1799580"/>
            <a:ext cx="265872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46983"/>
                </a:solidFill>
                <a:latin typeface="DM Sans" pitchFamily="34" charset="0"/>
                <a:ea typeface="DM Sans" pitchFamily="34" charset="-122"/>
                <a:cs typeface="DM Sans" pitchFamily="34" charset="-120"/>
              </a:rPr>
              <a:t>Same model, better results</a:t>
            </a:r>
            <a:endParaRPr lang="en-US" sz="1400" dirty="0"/>
          </a:p>
        </p:txBody>
      </p:sp>
      <p:sp>
        <p:nvSpPr>
          <p:cNvPr id="7" name="Shape 5"/>
          <p:cNvSpPr/>
          <p:nvPr/>
        </p:nvSpPr>
        <p:spPr>
          <a:xfrm>
            <a:off x="812800" y="2247454"/>
            <a:ext cx="10566400" cy="0"/>
          </a:xfrm>
          <a:prstGeom prst="line">
            <a:avLst/>
          </a:prstGeom>
          <a:noFill/>
          <a:ln w="6350">
            <a:solidFill>
              <a:srgbClr val="E1E4F2"/>
            </a:solidFill>
            <a:prstDash val="solid"/>
          </a:ln>
        </p:spPr>
      </p:sp>
      <p:sp>
        <p:nvSpPr>
          <p:cNvPr id="8" name="Text 6"/>
          <p:cNvSpPr/>
          <p:nvPr/>
        </p:nvSpPr>
        <p:spPr>
          <a:xfrm>
            <a:off x="812800" y="2425254"/>
            <a:ext cx="5080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2B8"/>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1524000" y="2377629"/>
            <a:ext cx="366268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2F45"/>
                </a:solidFill>
                <a:latin typeface="DM Sans" pitchFamily="34" charset="0"/>
                <a:ea typeface="DM Sans" pitchFamily="34" charset="-122"/>
                <a:cs typeface="DM Sans" pitchFamily="34" charset="-120"/>
              </a:rPr>
              <a:t>What a harness is</a:t>
            </a:r>
            <a:endParaRPr lang="en-US" sz="1800" dirty="0"/>
          </a:p>
        </p:txBody>
      </p:sp>
      <p:sp>
        <p:nvSpPr>
          <p:cNvPr id="10" name="Text 8"/>
          <p:cNvSpPr/>
          <p:nvPr/>
        </p:nvSpPr>
        <p:spPr>
          <a:xfrm>
            <a:off x="5334000" y="2428429"/>
            <a:ext cx="42301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46983"/>
                </a:solidFill>
                <a:latin typeface="DM Sans" pitchFamily="34" charset="0"/>
                <a:ea typeface="DM Sans" pitchFamily="34" charset="-122"/>
                <a:cs typeface="DM Sans" pitchFamily="34" charset="-120"/>
              </a:rPr>
              <a:t>The formula, its parts, and who owns which</a:t>
            </a:r>
            <a:endParaRPr lang="en-US" sz="1400" dirty="0"/>
          </a:p>
        </p:txBody>
      </p:sp>
      <p:sp>
        <p:nvSpPr>
          <p:cNvPr id="11" name="Shape 9"/>
          <p:cNvSpPr/>
          <p:nvPr/>
        </p:nvSpPr>
        <p:spPr>
          <a:xfrm>
            <a:off x="812800" y="2876352"/>
            <a:ext cx="10566400" cy="0"/>
          </a:xfrm>
          <a:prstGeom prst="line">
            <a:avLst/>
          </a:prstGeom>
          <a:noFill/>
          <a:ln w="6350">
            <a:solidFill>
              <a:srgbClr val="E1E4F2"/>
            </a:solidFill>
            <a:prstDash val="solid"/>
          </a:ln>
        </p:spPr>
      </p:sp>
      <p:sp>
        <p:nvSpPr>
          <p:cNvPr id="12" name="Text 10"/>
          <p:cNvSpPr/>
          <p:nvPr/>
        </p:nvSpPr>
        <p:spPr>
          <a:xfrm>
            <a:off x="812800" y="3054152"/>
            <a:ext cx="5080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2B8"/>
                </a:solidFill>
                <a:latin typeface="JetBrains Mono" pitchFamily="49" charset="0"/>
                <a:ea typeface="JetBrains Mono" pitchFamily="49" charset="-122"/>
                <a:cs typeface="JetBrains Mono" pitchFamily="49" charset="-120"/>
              </a:rPr>
              <a:t>03</a:t>
            </a:r>
            <a:endParaRPr lang="en-US" sz="1400" dirty="0"/>
          </a:p>
        </p:txBody>
      </p:sp>
      <p:sp>
        <p:nvSpPr>
          <p:cNvPr id="13" name="Text 11"/>
          <p:cNvSpPr/>
          <p:nvPr/>
        </p:nvSpPr>
        <p:spPr>
          <a:xfrm>
            <a:off x="1524000" y="3006527"/>
            <a:ext cx="366268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2F45"/>
                </a:solidFill>
                <a:latin typeface="DM Sans" pitchFamily="34" charset="0"/>
                <a:ea typeface="DM Sans" pitchFamily="34" charset="-122"/>
                <a:cs typeface="DM Sans" pitchFamily="34" charset="-120"/>
              </a:rPr>
              <a:t>How we got here</a:t>
            </a:r>
            <a:endParaRPr lang="en-US" sz="1800" dirty="0"/>
          </a:p>
        </p:txBody>
      </p:sp>
      <p:sp>
        <p:nvSpPr>
          <p:cNvPr id="14" name="Text 12"/>
          <p:cNvSpPr/>
          <p:nvPr/>
        </p:nvSpPr>
        <p:spPr>
          <a:xfrm>
            <a:off x="5334000" y="3057327"/>
            <a:ext cx="43382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46983"/>
                </a:solidFill>
                <a:latin typeface="DM Sans" pitchFamily="34" charset="0"/>
                <a:ea typeface="DM Sans" pitchFamily="34" charset="-122"/>
                <a:cs typeface="DM Sans" pitchFamily="34" charset="-120"/>
              </a:rPr>
              <a:t>From prompts in 2022 to harnesses in 2026</a:t>
            </a:r>
            <a:endParaRPr lang="en-US" sz="1400" dirty="0"/>
          </a:p>
        </p:txBody>
      </p:sp>
      <p:sp>
        <p:nvSpPr>
          <p:cNvPr id="15" name="Shape 13"/>
          <p:cNvSpPr/>
          <p:nvPr/>
        </p:nvSpPr>
        <p:spPr>
          <a:xfrm>
            <a:off x="812800" y="3505200"/>
            <a:ext cx="10566400" cy="0"/>
          </a:xfrm>
          <a:prstGeom prst="line">
            <a:avLst/>
          </a:prstGeom>
          <a:noFill/>
          <a:ln w="6350">
            <a:solidFill>
              <a:srgbClr val="E1E4F2"/>
            </a:solidFill>
            <a:prstDash val="solid"/>
          </a:ln>
        </p:spPr>
      </p:sp>
      <p:sp>
        <p:nvSpPr>
          <p:cNvPr id="16" name="Text 14"/>
          <p:cNvSpPr/>
          <p:nvPr/>
        </p:nvSpPr>
        <p:spPr>
          <a:xfrm>
            <a:off x="812800" y="3683000"/>
            <a:ext cx="5080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2B8"/>
                </a:solidFill>
                <a:latin typeface="JetBrains Mono" pitchFamily="49" charset="0"/>
                <a:ea typeface="JetBrains Mono" pitchFamily="49" charset="-122"/>
                <a:cs typeface="JetBrains Mono" pitchFamily="49" charset="-120"/>
              </a:rPr>
              <a:t>04</a:t>
            </a:r>
            <a:endParaRPr lang="en-US" sz="1400" dirty="0"/>
          </a:p>
        </p:txBody>
      </p:sp>
      <p:sp>
        <p:nvSpPr>
          <p:cNvPr id="17" name="Text 15"/>
          <p:cNvSpPr/>
          <p:nvPr/>
        </p:nvSpPr>
        <p:spPr>
          <a:xfrm>
            <a:off x="1524000" y="3635375"/>
            <a:ext cx="366268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2F45"/>
                </a:solidFill>
                <a:latin typeface="DM Sans" pitchFamily="34" charset="0"/>
                <a:ea typeface="DM Sans" pitchFamily="34" charset="-122"/>
                <a:cs typeface="DM Sans" pitchFamily="34" charset="-120"/>
              </a:rPr>
              <a:t>What the evidence shows</a:t>
            </a:r>
            <a:endParaRPr lang="en-US" sz="1800" dirty="0"/>
          </a:p>
        </p:txBody>
      </p:sp>
      <p:sp>
        <p:nvSpPr>
          <p:cNvPr id="18" name="Text 16"/>
          <p:cNvSpPr/>
          <p:nvPr/>
        </p:nvSpPr>
        <p:spPr>
          <a:xfrm>
            <a:off x="5334000" y="3686175"/>
            <a:ext cx="405175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46983"/>
                </a:solidFill>
                <a:latin typeface="DM Sans" pitchFamily="34" charset="0"/>
                <a:ea typeface="DM Sans" pitchFamily="34" charset="-122"/>
                <a:cs typeface="DM Sans" pitchFamily="34" charset="-120"/>
              </a:rPr>
              <a:t>Case studies from OpenAI and Anthropic</a:t>
            </a:r>
            <a:endParaRPr lang="en-US" sz="1400" dirty="0"/>
          </a:p>
        </p:txBody>
      </p:sp>
      <p:sp>
        <p:nvSpPr>
          <p:cNvPr id="19" name="Shape 17"/>
          <p:cNvSpPr/>
          <p:nvPr/>
        </p:nvSpPr>
        <p:spPr>
          <a:xfrm>
            <a:off x="812800" y="4134048"/>
            <a:ext cx="10566400" cy="0"/>
          </a:xfrm>
          <a:prstGeom prst="line">
            <a:avLst/>
          </a:prstGeom>
          <a:noFill/>
          <a:ln w="6350">
            <a:solidFill>
              <a:srgbClr val="E1E4F2"/>
            </a:solidFill>
            <a:prstDash val="solid"/>
          </a:ln>
        </p:spPr>
      </p:sp>
      <p:sp>
        <p:nvSpPr>
          <p:cNvPr id="20" name="Text 18"/>
          <p:cNvSpPr/>
          <p:nvPr/>
        </p:nvSpPr>
        <p:spPr>
          <a:xfrm>
            <a:off x="812800" y="4311848"/>
            <a:ext cx="5080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2B8"/>
                </a:solidFill>
                <a:latin typeface="JetBrains Mono" pitchFamily="49" charset="0"/>
                <a:ea typeface="JetBrains Mono" pitchFamily="49" charset="-122"/>
                <a:cs typeface="JetBrains Mono" pitchFamily="49" charset="-120"/>
              </a:rPr>
              <a:t>05</a:t>
            </a:r>
            <a:endParaRPr lang="en-US" sz="1400" dirty="0"/>
          </a:p>
        </p:txBody>
      </p:sp>
      <p:sp>
        <p:nvSpPr>
          <p:cNvPr id="21" name="Text 19"/>
          <p:cNvSpPr/>
          <p:nvPr/>
        </p:nvSpPr>
        <p:spPr>
          <a:xfrm>
            <a:off x="1524000" y="4264223"/>
            <a:ext cx="366268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2F45"/>
                </a:solidFill>
                <a:latin typeface="DM Sans" pitchFamily="34" charset="0"/>
                <a:ea typeface="DM Sans" pitchFamily="34" charset="-122"/>
                <a:cs typeface="DM Sans" pitchFamily="34" charset="-120"/>
              </a:rPr>
              <a:t>How teams build one</a:t>
            </a:r>
            <a:endParaRPr lang="en-US" sz="1800" dirty="0"/>
          </a:p>
        </p:txBody>
      </p:sp>
      <p:sp>
        <p:nvSpPr>
          <p:cNvPr id="22" name="Text 20"/>
          <p:cNvSpPr/>
          <p:nvPr/>
        </p:nvSpPr>
        <p:spPr>
          <a:xfrm>
            <a:off x="5334000" y="4315023"/>
            <a:ext cx="306859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46983"/>
                </a:solidFill>
                <a:latin typeface="DM Sans" pitchFamily="34" charset="0"/>
                <a:ea typeface="DM Sans" pitchFamily="34" charset="-122"/>
                <a:cs typeface="DM Sans" pitchFamily="34" charset="-120"/>
              </a:rPr>
              <a:t>Guides, sensors and five habits</a:t>
            </a:r>
            <a:endParaRPr lang="en-US" sz="1400" dirty="0"/>
          </a:p>
        </p:txBody>
      </p:sp>
      <p:sp>
        <p:nvSpPr>
          <p:cNvPr id="23" name="Shape 21"/>
          <p:cNvSpPr/>
          <p:nvPr/>
        </p:nvSpPr>
        <p:spPr>
          <a:xfrm>
            <a:off x="812800" y="4762946"/>
            <a:ext cx="10566400" cy="0"/>
          </a:xfrm>
          <a:prstGeom prst="line">
            <a:avLst/>
          </a:prstGeom>
          <a:noFill/>
          <a:ln w="6350">
            <a:solidFill>
              <a:srgbClr val="E1E4F2"/>
            </a:solidFill>
            <a:prstDash val="solid"/>
          </a:ln>
        </p:spPr>
      </p:sp>
      <p:sp>
        <p:nvSpPr>
          <p:cNvPr id="24" name="Text 22"/>
          <p:cNvSpPr/>
          <p:nvPr/>
        </p:nvSpPr>
        <p:spPr>
          <a:xfrm>
            <a:off x="812800" y="4940746"/>
            <a:ext cx="5080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2B8"/>
                </a:solidFill>
                <a:latin typeface="JetBrains Mono" pitchFamily="49" charset="0"/>
                <a:ea typeface="JetBrains Mono" pitchFamily="49" charset="-122"/>
                <a:cs typeface="JetBrains Mono" pitchFamily="49" charset="-120"/>
              </a:rPr>
              <a:t>06</a:t>
            </a:r>
            <a:endParaRPr lang="en-US" sz="1400" dirty="0"/>
          </a:p>
        </p:txBody>
      </p:sp>
      <p:sp>
        <p:nvSpPr>
          <p:cNvPr id="25" name="Text 23"/>
          <p:cNvSpPr/>
          <p:nvPr/>
        </p:nvSpPr>
        <p:spPr>
          <a:xfrm>
            <a:off x="1524000" y="4893121"/>
            <a:ext cx="366268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2F45"/>
                </a:solidFill>
                <a:latin typeface="DM Sans" pitchFamily="34" charset="0"/>
                <a:ea typeface="DM Sans" pitchFamily="34" charset="-122"/>
                <a:cs typeface="DM Sans" pitchFamily="34" charset="-120"/>
              </a:rPr>
              <a:t>Where it's heading</a:t>
            </a:r>
            <a:endParaRPr lang="en-US" sz="1800" dirty="0"/>
          </a:p>
        </p:txBody>
      </p:sp>
      <p:sp>
        <p:nvSpPr>
          <p:cNvPr id="26" name="Text 24"/>
          <p:cNvSpPr/>
          <p:nvPr/>
        </p:nvSpPr>
        <p:spPr>
          <a:xfrm>
            <a:off x="5334000" y="4943921"/>
            <a:ext cx="444281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46983"/>
                </a:solidFill>
                <a:latin typeface="DM Sans" pitchFamily="34" charset="0"/>
                <a:ea typeface="DM Sans" pitchFamily="34" charset="-122"/>
                <a:cs typeface="DM Sans" pitchFamily="34" charset="-120"/>
              </a:rPr>
              <a:t>The open debate and where teams are today</a:t>
            </a:r>
            <a:endParaRPr lang="en-US" sz="1400" dirty="0"/>
          </a:p>
        </p:txBody>
      </p:sp>
      <p:sp>
        <p:nvSpPr>
          <p:cNvPr id="27" name="Shape 25"/>
          <p:cNvSpPr/>
          <p:nvPr/>
        </p:nvSpPr>
        <p:spPr>
          <a:xfrm>
            <a:off x="812800" y="5391795"/>
            <a:ext cx="10566400" cy="0"/>
          </a:xfrm>
          <a:prstGeom prst="line">
            <a:avLst/>
          </a:prstGeom>
          <a:noFill/>
          <a:ln w="6350">
            <a:solidFill>
              <a:srgbClr val="E1E4F2"/>
            </a:solidFill>
            <a:prstDash val="solid"/>
          </a:ln>
        </p:spPr>
      </p:sp>
      <p:sp>
        <p:nvSpPr>
          <p:cNvPr id="28" name="Text 26"/>
          <p:cNvSpPr/>
          <p:nvPr/>
        </p:nvSpPr>
        <p:spPr>
          <a:xfrm>
            <a:off x="812800" y="5569595"/>
            <a:ext cx="5080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2B8"/>
                </a:solidFill>
                <a:latin typeface="JetBrains Mono" pitchFamily="49" charset="0"/>
                <a:ea typeface="JetBrains Mono" pitchFamily="49" charset="-122"/>
                <a:cs typeface="JetBrains Mono" pitchFamily="49" charset="-120"/>
              </a:rPr>
              <a:t>07</a:t>
            </a:r>
            <a:endParaRPr lang="en-US" sz="1400" dirty="0"/>
          </a:p>
        </p:txBody>
      </p:sp>
      <p:sp>
        <p:nvSpPr>
          <p:cNvPr id="29" name="Text 27"/>
          <p:cNvSpPr/>
          <p:nvPr/>
        </p:nvSpPr>
        <p:spPr>
          <a:xfrm>
            <a:off x="1524000" y="5521970"/>
            <a:ext cx="366268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2F45"/>
                </a:solidFill>
                <a:latin typeface="DM Sans" pitchFamily="34" charset="0"/>
                <a:ea typeface="DM Sans" pitchFamily="34" charset="-122"/>
                <a:cs typeface="DM Sans" pitchFamily="34" charset="-120"/>
              </a:rPr>
              <a:t>What it means for us</a:t>
            </a:r>
            <a:endParaRPr lang="en-US" sz="1800" dirty="0"/>
          </a:p>
        </p:txBody>
      </p:sp>
      <p:sp>
        <p:nvSpPr>
          <p:cNvPr id="30" name="Text 28"/>
          <p:cNvSpPr/>
          <p:nvPr/>
        </p:nvSpPr>
        <p:spPr>
          <a:xfrm>
            <a:off x="5334000" y="5572770"/>
            <a:ext cx="3995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46983"/>
                </a:solidFill>
                <a:latin typeface="DM Sans" pitchFamily="34" charset="0"/>
                <a:ea typeface="DM Sans" pitchFamily="34" charset="-122"/>
                <a:cs typeface="DM Sans" pitchFamily="34" charset="-120"/>
              </a:rPr>
              <a:t>Do we need it, and do we build our own?</a:t>
            </a:r>
            <a:endParaRPr lang="en-US" sz="1400" dirty="0"/>
          </a:p>
        </p:txBody>
      </p:sp>
      <p:sp>
        <p:nvSpPr>
          <p:cNvPr id="31" name="Text 29"/>
          <p:cNvSpPr/>
          <p:nvPr/>
        </p:nvSpPr>
        <p:spPr>
          <a:xfrm>
            <a:off x="11137900" y="6238280"/>
            <a:ext cx="241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Same model, better agent</a:t>
            </a:r>
            <a:endParaRPr lang="en-US" sz="3200" dirty="0"/>
          </a:p>
        </p:txBody>
      </p:sp>
      <p:sp>
        <p:nvSpPr>
          <p:cNvPr id="3" name="Text 1"/>
          <p:cNvSpPr/>
          <p:nvPr/>
        </p:nvSpPr>
        <p:spPr>
          <a:xfrm>
            <a:off x="812800" y="2157115"/>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LangChain's coding agent on Terminal-Bench 2.0</a:t>
            </a:r>
            <a:endParaRPr lang="en-US" sz="1400" dirty="0"/>
          </a:p>
        </p:txBody>
      </p:sp>
      <p:sp>
        <p:nvSpPr>
          <p:cNvPr id="4" name="Text 2"/>
          <p:cNvSpPr/>
          <p:nvPr/>
        </p:nvSpPr>
        <p:spPr>
          <a:xfrm>
            <a:off x="812800" y="2553345"/>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Old harness</a:t>
            </a:r>
            <a:endParaRPr lang="en-US" sz="1200" dirty="0"/>
          </a:p>
        </p:txBody>
      </p:sp>
      <p:sp>
        <p:nvSpPr>
          <p:cNvPr id="5" name="Shape 3"/>
          <p:cNvSpPr/>
          <p:nvPr/>
        </p:nvSpPr>
        <p:spPr>
          <a:xfrm>
            <a:off x="2489200" y="2507605"/>
            <a:ext cx="3689350" cy="304800"/>
          </a:xfrm>
          <a:prstGeom prst="roundRect">
            <a:avLst>
              <a:gd name="adj" fmla="val 25000"/>
            </a:avLst>
          </a:prstGeom>
          <a:solidFill>
            <a:srgbClr val="C9CFF3"/>
          </a:solidFill>
          <a:ln/>
        </p:spPr>
      </p:sp>
      <p:sp>
        <p:nvSpPr>
          <p:cNvPr id="6" name="Text 4"/>
          <p:cNvSpPr/>
          <p:nvPr/>
        </p:nvSpPr>
        <p:spPr>
          <a:xfrm>
            <a:off x="6330950" y="2535535"/>
            <a:ext cx="62168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52.8%</a:t>
            </a:r>
            <a:endParaRPr lang="en-US" sz="1400" dirty="0"/>
          </a:p>
        </p:txBody>
      </p:sp>
      <p:sp>
        <p:nvSpPr>
          <p:cNvPr id="7" name="Text 5"/>
          <p:cNvSpPr/>
          <p:nvPr/>
        </p:nvSpPr>
        <p:spPr>
          <a:xfrm>
            <a:off x="812800" y="2959745"/>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New harness</a:t>
            </a:r>
            <a:endParaRPr lang="en-US" sz="1200" dirty="0"/>
          </a:p>
        </p:txBody>
      </p:sp>
      <p:sp>
        <p:nvSpPr>
          <p:cNvPr id="8" name="Shape 6"/>
          <p:cNvSpPr/>
          <p:nvPr/>
        </p:nvSpPr>
        <p:spPr>
          <a:xfrm>
            <a:off x="2489200" y="2914005"/>
            <a:ext cx="4648200" cy="304800"/>
          </a:xfrm>
          <a:prstGeom prst="roundRect">
            <a:avLst>
              <a:gd name="adj" fmla="val 25000"/>
            </a:avLst>
          </a:prstGeom>
          <a:solidFill>
            <a:srgbClr val="6C70E0"/>
          </a:solidFill>
          <a:ln/>
        </p:spPr>
      </p:sp>
      <p:sp>
        <p:nvSpPr>
          <p:cNvPr id="9" name="Text 7"/>
          <p:cNvSpPr/>
          <p:nvPr/>
        </p:nvSpPr>
        <p:spPr>
          <a:xfrm>
            <a:off x="7289800" y="2941935"/>
            <a:ext cx="64204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E52B8"/>
                </a:solidFill>
                <a:latin typeface="DM Sans" pitchFamily="34" charset="0"/>
                <a:ea typeface="DM Sans" pitchFamily="34" charset="-122"/>
                <a:cs typeface="DM Sans" pitchFamily="34" charset="-120"/>
              </a:rPr>
              <a:t>66.5%</a:t>
            </a:r>
            <a:endParaRPr lang="en-US" sz="1400" dirty="0"/>
          </a:p>
        </p:txBody>
      </p:sp>
      <p:sp>
        <p:nvSpPr>
          <p:cNvPr id="10" name="Text 8"/>
          <p:cNvSpPr/>
          <p:nvPr/>
        </p:nvSpPr>
        <p:spPr>
          <a:xfrm>
            <a:off x="812800" y="3574405"/>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One model run through 8 harnesses on 25 tasks</a:t>
            </a:r>
            <a:endParaRPr lang="en-US" sz="1400" dirty="0"/>
          </a:p>
        </p:txBody>
      </p:sp>
      <p:sp>
        <p:nvSpPr>
          <p:cNvPr id="11" name="Text 9"/>
          <p:cNvSpPr/>
          <p:nvPr/>
        </p:nvSpPr>
        <p:spPr>
          <a:xfrm>
            <a:off x="812800" y="3970635"/>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Worst harness</a:t>
            </a:r>
            <a:endParaRPr lang="en-US" sz="1200" dirty="0"/>
          </a:p>
        </p:txBody>
      </p:sp>
      <p:sp>
        <p:nvSpPr>
          <p:cNvPr id="12" name="Shape 10"/>
          <p:cNvSpPr/>
          <p:nvPr/>
        </p:nvSpPr>
        <p:spPr>
          <a:xfrm>
            <a:off x="2489200" y="3924895"/>
            <a:ext cx="4749800" cy="304800"/>
          </a:xfrm>
          <a:prstGeom prst="roundRect">
            <a:avLst>
              <a:gd name="adj" fmla="val 25000"/>
            </a:avLst>
          </a:prstGeom>
          <a:solidFill>
            <a:srgbClr val="C9CFF3"/>
          </a:solidFill>
          <a:ln/>
        </p:spPr>
      </p:sp>
      <p:sp>
        <p:nvSpPr>
          <p:cNvPr id="13" name="Text 11"/>
          <p:cNvSpPr/>
          <p:nvPr/>
        </p:nvSpPr>
        <p:spPr>
          <a:xfrm>
            <a:off x="7391400" y="3952825"/>
            <a:ext cx="45345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68%</a:t>
            </a:r>
            <a:endParaRPr lang="en-US" sz="1400" dirty="0"/>
          </a:p>
        </p:txBody>
      </p:sp>
      <p:sp>
        <p:nvSpPr>
          <p:cNvPr id="14" name="Text 12"/>
          <p:cNvSpPr/>
          <p:nvPr/>
        </p:nvSpPr>
        <p:spPr>
          <a:xfrm>
            <a:off x="812800" y="4377035"/>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Best harness</a:t>
            </a:r>
            <a:endParaRPr lang="en-US" sz="1200" dirty="0"/>
          </a:p>
        </p:txBody>
      </p:sp>
      <p:sp>
        <p:nvSpPr>
          <p:cNvPr id="15" name="Shape 13"/>
          <p:cNvSpPr/>
          <p:nvPr/>
        </p:nvSpPr>
        <p:spPr>
          <a:xfrm>
            <a:off x="2489200" y="4331295"/>
            <a:ext cx="6146800" cy="304800"/>
          </a:xfrm>
          <a:prstGeom prst="roundRect">
            <a:avLst>
              <a:gd name="adj" fmla="val 25000"/>
            </a:avLst>
          </a:prstGeom>
          <a:solidFill>
            <a:srgbClr val="6C70E0"/>
          </a:solidFill>
          <a:ln/>
        </p:spPr>
      </p:sp>
      <p:sp>
        <p:nvSpPr>
          <p:cNvPr id="16" name="Text 14"/>
          <p:cNvSpPr/>
          <p:nvPr/>
        </p:nvSpPr>
        <p:spPr>
          <a:xfrm>
            <a:off x="8788400" y="4359225"/>
            <a:ext cx="46220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E52B8"/>
                </a:solidFill>
                <a:latin typeface="DM Sans" pitchFamily="34" charset="0"/>
                <a:ea typeface="DM Sans" pitchFamily="34" charset="-122"/>
                <a:cs typeface="DM Sans" pitchFamily="34" charset="-120"/>
              </a:rPr>
              <a:t>88%</a:t>
            </a:r>
            <a:endParaRPr lang="en-US" sz="1400" dirty="0"/>
          </a:p>
        </p:txBody>
      </p:sp>
      <p:sp>
        <p:nvSpPr>
          <p:cNvPr id="17" name="Text 15"/>
          <p:cNvSpPr/>
          <p:nvPr/>
        </p:nvSpPr>
        <p:spPr>
          <a:xfrm>
            <a:off x="812800" y="4991695"/>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2B2F45"/>
                </a:solidFill>
                <a:latin typeface="DM Sans" pitchFamily="34" charset="0"/>
                <a:ea typeface="DM Sans" pitchFamily="34" charset="-122"/>
                <a:cs typeface="DM Sans" pitchFamily="34" charset="-120"/>
              </a:rPr>
              <a:t>Only the harness changed.</a:t>
            </a:r>
            <a:endParaRPr lang="en-US" sz="1800" dirty="0"/>
          </a:p>
        </p:txBody>
      </p:sp>
      <p:sp>
        <p:nvSpPr>
          <p:cNvPr id="18" name="Text 16"/>
          <p:cNvSpPr/>
          <p:nvPr/>
        </p:nvSpPr>
        <p:spPr>
          <a:xfrm>
            <a:off x="812800" y="6238280"/>
            <a:ext cx="5900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Sources: LangChain (Feb 2026); Composio via Marmelab (Sept 2026) </a:t>
            </a:r>
            <a:endParaRPr lang="en-US" sz="1200" dirty="0"/>
          </a:p>
        </p:txBody>
      </p:sp>
      <p:sp>
        <p:nvSpPr>
          <p:cNvPr id="19" name="Text 17"/>
          <p:cNvSpPr/>
          <p:nvPr/>
        </p:nvSpPr>
        <p:spPr>
          <a:xfrm>
            <a:off x="11134080" y="6238280"/>
            <a:ext cx="24512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812800" y="6238280"/>
            <a:ext cx="56546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Source: LangChain, “The Anatomy of an Agent Harness” (Mar 2026)</a:t>
            </a:r>
            <a:endParaRPr lang="en-US" sz="1200" dirty="0"/>
          </a:p>
        </p:txBody>
      </p:sp>
      <p:sp>
        <p:nvSpPr>
          <p:cNvPr id="3" name="Text 1"/>
          <p:cNvSpPr/>
          <p:nvPr/>
        </p:nvSpPr>
        <p:spPr>
          <a:xfrm>
            <a:off x="11131649" y="6238280"/>
            <a:ext cx="24755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04</a:t>
            </a:r>
            <a:endParaRPr lang="en-US" sz="1200" dirty="0"/>
          </a:p>
        </p:txBody>
      </p:sp>
      <p:sp>
        <p:nvSpPr>
          <p:cNvPr id="4" name="Text 2"/>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Agent = Model + Harness</a:t>
            </a:r>
            <a:endParaRPr lang="en-US" sz="3200" dirty="0"/>
          </a:p>
        </p:txBody>
      </p:sp>
      <p:sp>
        <p:nvSpPr>
          <p:cNvPr id="5" name="Shape 3"/>
          <p:cNvSpPr/>
          <p:nvPr/>
        </p:nvSpPr>
        <p:spPr>
          <a:xfrm>
            <a:off x="1365250" y="1619250"/>
            <a:ext cx="2527300" cy="1511300"/>
          </a:xfrm>
          <a:prstGeom prst="roundRect">
            <a:avLst>
              <a:gd name="adj" fmla="val 13025"/>
            </a:avLst>
          </a:prstGeom>
          <a:solidFill>
            <a:srgbClr val="FCFCFE"/>
          </a:solidFill>
          <a:ln w="12700">
            <a:solidFill>
              <a:srgbClr val="E1E4F2"/>
            </a:solidFill>
            <a:prstDash val="solid"/>
          </a:ln>
        </p:spPr>
      </p:sp>
      <p:pic>
        <p:nvPicPr>
          <p:cNvPr id="6" name="Image 0" descr="Lightbulb">    </p:cNvPr>
          <p:cNvPicPr>
            <a:picLocks noChangeAspect="1"/>
          </p:cNvPicPr>
          <p:nvPr/>
        </p:nvPicPr>
        <p:blipFill>
          <a:blip r:embed="rId1"/>
          <a:srcRect l="0" r="0" t="0" b="0"/>
          <a:stretch/>
        </p:blipFill>
        <p:spPr>
          <a:xfrm>
            <a:off x="2400300" y="1935460"/>
            <a:ext cx="457200" cy="457200"/>
          </a:xfrm>
          <a:prstGeom prst="rect">
            <a:avLst/>
          </a:prstGeom>
        </p:spPr>
      </p:pic>
      <p:sp>
        <p:nvSpPr>
          <p:cNvPr id="7" name="Text 4"/>
          <p:cNvSpPr/>
          <p:nvPr/>
        </p:nvSpPr>
        <p:spPr>
          <a:xfrm>
            <a:off x="2214801" y="2494260"/>
            <a:ext cx="828199" cy="34543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2B2F45"/>
                </a:solidFill>
                <a:latin typeface="DM Sans" pitchFamily="34" charset="0"/>
                <a:ea typeface="DM Sans" pitchFamily="34" charset="-122"/>
                <a:cs typeface="DM Sans" pitchFamily="34" charset="-120"/>
              </a:rPr>
              <a:t>Model</a:t>
            </a:r>
            <a:endParaRPr lang="en-US" sz="1800" dirty="0"/>
          </a:p>
        </p:txBody>
      </p:sp>
      <p:sp>
        <p:nvSpPr>
          <p:cNvPr id="8" name="Text 5"/>
          <p:cNvSpPr/>
          <p:nvPr/>
        </p:nvSpPr>
        <p:spPr>
          <a:xfrm>
            <a:off x="4152900" y="1993900"/>
            <a:ext cx="502920" cy="787400"/>
          </a:xfrm>
          <a:prstGeom prst="rect">
            <a:avLst/>
          </a:prstGeom>
          <a:noFill/>
          <a:ln/>
        </p:spPr>
        <p:txBody>
          <a:bodyPr wrap="square" lIns="0" tIns="0" rIns="0" bIns="0" rtlCol="0" anchor="t">
            <a:normAutofit/>
          </a:bodyPr>
          <a:lstStyle/>
          <a:p>
            <a:pPr algn="l" indent="0" marL="0">
              <a:lnSpc>
                <a:spcPts val="6000"/>
              </a:lnSpc>
              <a:buNone/>
            </a:pPr>
            <a:r>
              <a:rPr lang="en-US" sz="6000" dirty="0">
                <a:solidFill>
                  <a:srgbClr val="7D82A0"/>
                </a:solidFill>
                <a:latin typeface="DM Sans" pitchFamily="34" charset="0"/>
                <a:ea typeface="DM Sans" pitchFamily="34" charset="-122"/>
                <a:cs typeface="DM Sans" pitchFamily="34" charset="-120"/>
              </a:rPr>
              <a:t>+</a:t>
            </a:r>
            <a:endParaRPr lang="en-US" sz="6000" dirty="0"/>
          </a:p>
        </p:txBody>
      </p:sp>
      <p:sp>
        <p:nvSpPr>
          <p:cNvPr id="9" name="Shape 6"/>
          <p:cNvSpPr/>
          <p:nvPr/>
        </p:nvSpPr>
        <p:spPr>
          <a:xfrm>
            <a:off x="4826000" y="1612900"/>
            <a:ext cx="2540000" cy="1524000"/>
          </a:xfrm>
          <a:prstGeom prst="roundRect">
            <a:avLst>
              <a:gd name="adj" fmla="val 13333"/>
            </a:avLst>
          </a:prstGeom>
          <a:solidFill>
            <a:srgbClr val="CFD6F6"/>
          </a:solidFill>
          <a:ln/>
        </p:spPr>
      </p:sp>
      <p:pic>
        <p:nvPicPr>
          <p:cNvPr id="10" name="Image 1" descr="Wrench">    </p:cNvPr>
          <p:cNvPicPr>
            <a:picLocks noChangeAspect="1"/>
          </p:cNvPicPr>
          <p:nvPr/>
        </p:nvPicPr>
        <p:blipFill>
          <a:blip r:embed="rId2"/>
          <a:srcRect l="0" r="0" t="0" b="0"/>
          <a:stretch/>
        </p:blipFill>
        <p:spPr>
          <a:xfrm>
            <a:off x="5867400" y="1935460"/>
            <a:ext cx="457200" cy="457200"/>
          </a:xfrm>
          <a:prstGeom prst="rect">
            <a:avLst/>
          </a:prstGeom>
        </p:spPr>
      </p:pic>
      <p:sp>
        <p:nvSpPr>
          <p:cNvPr id="11" name="Text 7"/>
          <p:cNvSpPr/>
          <p:nvPr/>
        </p:nvSpPr>
        <p:spPr>
          <a:xfrm>
            <a:off x="5548551" y="2494260"/>
            <a:ext cx="1094899" cy="34543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2B2F45"/>
                </a:solidFill>
                <a:latin typeface="DM Sans" pitchFamily="34" charset="0"/>
                <a:ea typeface="DM Sans" pitchFamily="34" charset="-122"/>
                <a:cs typeface="DM Sans" pitchFamily="34" charset="-120"/>
              </a:rPr>
              <a:t>Harness</a:t>
            </a:r>
            <a:endParaRPr lang="en-US" sz="1800" dirty="0"/>
          </a:p>
        </p:txBody>
      </p:sp>
      <p:sp>
        <p:nvSpPr>
          <p:cNvPr id="12" name="Text 8"/>
          <p:cNvSpPr/>
          <p:nvPr/>
        </p:nvSpPr>
        <p:spPr>
          <a:xfrm>
            <a:off x="7620000" y="1993900"/>
            <a:ext cx="502920" cy="787400"/>
          </a:xfrm>
          <a:prstGeom prst="rect">
            <a:avLst/>
          </a:prstGeom>
          <a:noFill/>
          <a:ln/>
        </p:spPr>
        <p:txBody>
          <a:bodyPr wrap="square" lIns="0" tIns="0" rIns="0" bIns="0" rtlCol="0" anchor="t">
            <a:normAutofit/>
          </a:bodyPr>
          <a:lstStyle/>
          <a:p>
            <a:pPr algn="l" indent="0" marL="0">
              <a:lnSpc>
                <a:spcPts val="6000"/>
              </a:lnSpc>
              <a:buNone/>
            </a:pPr>
            <a:r>
              <a:rPr lang="en-US" sz="6000" dirty="0">
                <a:solidFill>
                  <a:srgbClr val="7D82A0"/>
                </a:solidFill>
                <a:latin typeface="DM Sans" pitchFamily="34" charset="0"/>
                <a:ea typeface="DM Sans" pitchFamily="34" charset="-122"/>
                <a:cs typeface="DM Sans" pitchFamily="34" charset="-120"/>
              </a:rPr>
              <a:t>=</a:t>
            </a:r>
            <a:endParaRPr lang="en-US" sz="6000" dirty="0"/>
          </a:p>
        </p:txBody>
      </p:sp>
      <p:sp>
        <p:nvSpPr>
          <p:cNvPr id="13" name="Shape 9"/>
          <p:cNvSpPr/>
          <p:nvPr/>
        </p:nvSpPr>
        <p:spPr>
          <a:xfrm>
            <a:off x="8293100" y="1612900"/>
            <a:ext cx="2540000" cy="1524000"/>
          </a:xfrm>
          <a:prstGeom prst="roundRect">
            <a:avLst>
              <a:gd name="adj" fmla="val 13333"/>
            </a:avLst>
          </a:prstGeom>
          <a:solidFill>
            <a:srgbClr val="5A5ED6"/>
          </a:solidFill>
          <a:ln/>
        </p:spPr>
      </p:sp>
      <p:pic>
        <p:nvPicPr>
          <p:cNvPr id="14" name="Image 2" descr="Lightning">    </p:cNvPr>
          <p:cNvPicPr>
            <a:picLocks noChangeAspect="1"/>
          </p:cNvPicPr>
          <p:nvPr/>
        </p:nvPicPr>
        <p:blipFill>
          <a:blip r:embed="rId3"/>
          <a:srcRect l="0" r="0" t="0" b="0"/>
          <a:stretch/>
        </p:blipFill>
        <p:spPr>
          <a:xfrm>
            <a:off x="9334500" y="1935460"/>
            <a:ext cx="457200" cy="457200"/>
          </a:xfrm>
          <a:prstGeom prst="rect">
            <a:avLst/>
          </a:prstGeom>
        </p:spPr>
      </p:pic>
      <p:sp>
        <p:nvSpPr>
          <p:cNvPr id="15" name="Text 10"/>
          <p:cNvSpPr/>
          <p:nvPr/>
        </p:nvSpPr>
        <p:spPr>
          <a:xfrm>
            <a:off x="9160252" y="2494260"/>
            <a:ext cx="805696" cy="34543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FCFCFE"/>
                </a:solidFill>
                <a:latin typeface="DM Sans" pitchFamily="34" charset="0"/>
                <a:ea typeface="DM Sans" pitchFamily="34" charset="-122"/>
                <a:cs typeface="DM Sans" pitchFamily="34" charset="-120"/>
              </a:rPr>
              <a:t>Agent</a:t>
            </a:r>
            <a:endParaRPr lang="en-US" sz="1800" dirty="0"/>
          </a:p>
        </p:txBody>
      </p:sp>
      <p:pic>
        <p:nvPicPr>
          <p:cNvPr id="16" name="Image 3" descr="image.png">    </p:cNvPr>
          <p:cNvPicPr>
            <a:picLocks noChangeAspect="1"/>
          </p:cNvPicPr>
          <p:nvPr/>
        </p:nvPicPr>
        <p:blipFill>
          <a:blip r:embed="rId4"/>
          <a:srcRect l="0" r="0" t="705" b="705"/>
          <a:stretch/>
        </p:blipFill>
        <p:spPr>
          <a:xfrm>
            <a:off x="6802438" y="3498875"/>
            <a:ext cx="3820914" cy="2739380"/>
          </a:xfrm>
          <a:prstGeom prst="rect">
            <a:avLst/>
          </a:prstGeom>
        </p:spPr>
      </p:pic>
      <p:pic>
        <p:nvPicPr>
          <p:cNvPr id="17" name="Image 4" descr="image.png">    </p:cNvPr>
          <p:cNvPicPr>
            <a:picLocks noChangeAspect="1"/>
          </p:cNvPicPr>
          <p:nvPr/>
        </p:nvPicPr>
        <p:blipFill>
          <a:blip r:embed="rId5"/>
          <a:srcRect l="0" r="0" t="6016" b="0"/>
          <a:stretch/>
        </p:blipFill>
        <p:spPr>
          <a:xfrm>
            <a:off x="1417439" y="3646190"/>
            <a:ext cx="4064000" cy="2444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Agents now run for hours</a:t>
            </a:r>
            <a:endParaRPr lang="en-US" sz="3200" dirty="0"/>
          </a:p>
        </p:txBody>
      </p:sp>
      <p:sp>
        <p:nvSpPr>
          <p:cNvPr id="3" name="Shape 1"/>
          <p:cNvSpPr/>
          <p:nvPr/>
        </p:nvSpPr>
        <p:spPr>
          <a:xfrm>
            <a:off x="815975" y="2153940"/>
            <a:ext cx="3380284" cy="2485330"/>
          </a:xfrm>
          <a:prstGeom prst="roundRect">
            <a:avLst>
              <a:gd name="adj" fmla="val 6004"/>
            </a:avLst>
          </a:prstGeom>
          <a:solidFill>
            <a:srgbClr val="FCFCFE"/>
          </a:solidFill>
          <a:ln w="6350">
            <a:solidFill>
              <a:srgbClr val="E1E4F2"/>
            </a:solidFill>
            <a:prstDash val="solid"/>
          </a:ln>
        </p:spPr>
      </p:sp>
      <p:pic>
        <p:nvPicPr>
          <p:cNvPr id="4" name="Image 0" descr="Clock">    </p:cNvPr>
          <p:cNvPicPr>
            <a:picLocks noChangeAspect="1"/>
          </p:cNvPicPr>
          <p:nvPr/>
        </p:nvPicPr>
        <p:blipFill>
          <a:blip r:embed="rId1"/>
          <a:srcRect l="0" r="0" t="0" b="0"/>
          <a:stretch/>
        </p:blipFill>
        <p:spPr>
          <a:xfrm>
            <a:off x="1123950" y="2461915"/>
            <a:ext cx="406400" cy="406400"/>
          </a:xfrm>
          <a:prstGeom prst="rect">
            <a:avLst/>
          </a:prstGeom>
        </p:spPr>
      </p:pic>
      <p:sp>
        <p:nvSpPr>
          <p:cNvPr id="5" name="Text 2"/>
          <p:cNvSpPr/>
          <p:nvPr/>
        </p:nvSpPr>
        <p:spPr>
          <a:xfrm>
            <a:off x="1123950" y="2969915"/>
            <a:ext cx="2847264" cy="787400"/>
          </a:xfrm>
          <a:prstGeom prst="rect">
            <a:avLst/>
          </a:prstGeom>
          <a:noFill/>
          <a:ln/>
        </p:spPr>
        <p:txBody>
          <a:bodyPr wrap="square" lIns="0" tIns="0" rIns="0" bIns="0" rtlCol="0" anchor="t">
            <a:normAutofit/>
          </a:bodyPr>
          <a:lstStyle/>
          <a:p>
            <a:pPr algn="l" indent="0" marL="0">
              <a:lnSpc>
                <a:spcPts val="6000"/>
              </a:lnSpc>
              <a:buNone/>
            </a:pPr>
            <a:r>
              <a:rPr lang="en-US" sz="6000" b="1" spc="-100" kern="0" dirty="0">
                <a:solidFill>
                  <a:srgbClr val="6C70E0"/>
                </a:solidFill>
                <a:latin typeface="DM Sans" pitchFamily="34" charset="0"/>
                <a:ea typeface="DM Sans" pitchFamily="34" charset="-122"/>
                <a:cs typeface="DM Sans" pitchFamily="34" charset="-120"/>
              </a:rPr>
              <a:t>6+</a:t>
            </a:r>
            <a:endParaRPr lang="en-US" sz="6000" dirty="0"/>
          </a:p>
        </p:txBody>
      </p:sp>
      <p:sp>
        <p:nvSpPr>
          <p:cNvPr id="6" name="Text 3"/>
          <p:cNvSpPr/>
          <p:nvPr/>
        </p:nvSpPr>
        <p:spPr>
          <a:xfrm>
            <a:off x="1123950" y="3833515"/>
            <a:ext cx="284726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hours on a single Codex run</a:t>
            </a:r>
            <a:endParaRPr lang="en-US" sz="1400" dirty="0"/>
          </a:p>
        </p:txBody>
      </p:sp>
      <p:sp>
        <p:nvSpPr>
          <p:cNvPr id="7" name="Shape 4"/>
          <p:cNvSpPr/>
          <p:nvPr/>
        </p:nvSpPr>
        <p:spPr>
          <a:xfrm>
            <a:off x="4405809" y="2153940"/>
            <a:ext cx="3380333" cy="2485330"/>
          </a:xfrm>
          <a:prstGeom prst="roundRect">
            <a:avLst>
              <a:gd name="adj" fmla="val 6004"/>
            </a:avLst>
          </a:prstGeom>
          <a:solidFill>
            <a:srgbClr val="FCFCFE"/>
          </a:solidFill>
          <a:ln w="6350">
            <a:solidFill>
              <a:srgbClr val="E1E4F2"/>
            </a:solidFill>
            <a:prstDash val="solid"/>
          </a:ln>
        </p:spPr>
      </p:sp>
      <p:pic>
        <p:nvPicPr>
          <p:cNvPr id="8" name="Image 1" descr="Code">    </p:cNvPr>
          <p:cNvPicPr>
            <a:picLocks noChangeAspect="1"/>
          </p:cNvPicPr>
          <p:nvPr/>
        </p:nvPicPr>
        <p:blipFill>
          <a:blip r:embed="rId2"/>
          <a:srcRect l="0" r="0" t="0" b="0"/>
          <a:stretch/>
        </p:blipFill>
        <p:spPr>
          <a:xfrm>
            <a:off x="4713784" y="2461915"/>
            <a:ext cx="406400" cy="406400"/>
          </a:xfrm>
          <a:prstGeom prst="rect">
            <a:avLst/>
          </a:prstGeom>
        </p:spPr>
      </p:pic>
      <p:sp>
        <p:nvSpPr>
          <p:cNvPr id="9" name="Text 5"/>
          <p:cNvSpPr/>
          <p:nvPr/>
        </p:nvSpPr>
        <p:spPr>
          <a:xfrm>
            <a:off x="4713784" y="2969915"/>
            <a:ext cx="2847315" cy="787400"/>
          </a:xfrm>
          <a:prstGeom prst="rect">
            <a:avLst/>
          </a:prstGeom>
          <a:noFill/>
          <a:ln/>
        </p:spPr>
        <p:txBody>
          <a:bodyPr wrap="square" lIns="0" tIns="0" rIns="0" bIns="0" rtlCol="0" anchor="t">
            <a:normAutofit/>
          </a:bodyPr>
          <a:lstStyle/>
          <a:p>
            <a:pPr algn="l" indent="0" marL="0">
              <a:lnSpc>
                <a:spcPts val="6000"/>
              </a:lnSpc>
              <a:buNone/>
            </a:pPr>
            <a:r>
              <a:rPr lang="en-US" sz="6000" b="1" spc="-100" kern="0" dirty="0">
                <a:solidFill>
                  <a:srgbClr val="6C70E0"/>
                </a:solidFill>
                <a:latin typeface="DM Sans" pitchFamily="34" charset="0"/>
                <a:ea typeface="DM Sans" pitchFamily="34" charset="-122"/>
                <a:cs typeface="DM Sans" pitchFamily="34" charset="-120"/>
              </a:rPr>
              <a:t>1M+</a:t>
            </a:r>
            <a:endParaRPr lang="en-US" sz="6000" dirty="0"/>
          </a:p>
        </p:txBody>
      </p:sp>
      <p:sp>
        <p:nvSpPr>
          <p:cNvPr id="10" name="Text 6"/>
          <p:cNvSpPr/>
          <p:nvPr/>
        </p:nvSpPr>
        <p:spPr>
          <a:xfrm>
            <a:off x="4713784" y="3833515"/>
            <a:ext cx="284731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lines from Cursor's agents in about a week</a:t>
            </a:r>
            <a:endParaRPr lang="en-US" sz="1400" dirty="0"/>
          </a:p>
        </p:txBody>
      </p:sp>
      <p:sp>
        <p:nvSpPr>
          <p:cNvPr id="11" name="Shape 7"/>
          <p:cNvSpPr/>
          <p:nvPr/>
        </p:nvSpPr>
        <p:spPr>
          <a:xfrm>
            <a:off x="7995692" y="2153940"/>
            <a:ext cx="3380333" cy="2485330"/>
          </a:xfrm>
          <a:prstGeom prst="roundRect">
            <a:avLst>
              <a:gd name="adj" fmla="val 6004"/>
            </a:avLst>
          </a:prstGeom>
          <a:solidFill>
            <a:srgbClr val="FCFCFE"/>
          </a:solidFill>
          <a:ln w="6350">
            <a:solidFill>
              <a:srgbClr val="E1E4F2"/>
            </a:solidFill>
            <a:prstDash val="solid"/>
          </a:ln>
        </p:spPr>
      </p:sp>
      <p:pic>
        <p:nvPicPr>
          <p:cNvPr id="12" name="Image 2" descr="Users">    </p:cNvPr>
          <p:cNvPicPr>
            <a:picLocks noChangeAspect="1"/>
          </p:cNvPicPr>
          <p:nvPr/>
        </p:nvPicPr>
        <p:blipFill>
          <a:blip r:embed="rId3"/>
          <a:srcRect l="0" r="0" t="0" b="0"/>
          <a:stretch/>
        </p:blipFill>
        <p:spPr>
          <a:xfrm>
            <a:off x="8303667" y="2461915"/>
            <a:ext cx="406400" cy="406400"/>
          </a:xfrm>
          <a:prstGeom prst="rect">
            <a:avLst/>
          </a:prstGeom>
        </p:spPr>
      </p:pic>
      <p:sp>
        <p:nvSpPr>
          <p:cNvPr id="13" name="Text 8"/>
          <p:cNvSpPr/>
          <p:nvPr/>
        </p:nvSpPr>
        <p:spPr>
          <a:xfrm>
            <a:off x="8303667" y="2969915"/>
            <a:ext cx="2847315" cy="787400"/>
          </a:xfrm>
          <a:prstGeom prst="rect">
            <a:avLst/>
          </a:prstGeom>
          <a:noFill/>
          <a:ln/>
        </p:spPr>
        <p:txBody>
          <a:bodyPr wrap="square" lIns="0" tIns="0" rIns="0" bIns="0" rtlCol="0" anchor="t">
            <a:normAutofit/>
          </a:bodyPr>
          <a:lstStyle/>
          <a:p>
            <a:pPr algn="l" indent="0" marL="0">
              <a:lnSpc>
                <a:spcPts val="6000"/>
              </a:lnSpc>
              <a:buNone/>
            </a:pPr>
            <a:r>
              <a:rPr lang="en-US" sz="6000" b="1" spc="-100" kern="0" dirty="0">
                <a:solidFill>
                  <a:srgbClr val="6C70E0"/>
                </a:solidFill>
                <a:latin typeface="DM Sans" pitchFamily="34" charset="0"/>
                <a:ea typeface="DM Sans" pitchFamily="34" charset="-122"/>
                <a:cs typeface="DM Sans" pitchFamily="34" charset="-120"/>
              </a:rPr>
              <a:t>16</a:t>
            </a:r>
            <a:endParaRPr lang="en-US" sz="6000" dirty="0"/>
          </a:p>
        </p:txBody>
      </p:sp>
      <p:sp>
        <p:nvSpPr>
          <p:cNvPr id="14" name="Text 9"/>
          <p:cNvSpPr/>
          <p:nvPr/>
        </p:nvSpPr>
        <p:spPr>
          <a:xfrm>
            <a:off x="8303667" y="3833515"/>
            <a:ext cx="284731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Claude agents building one C compiler in parallel</a:t>
            </a:r>
            <a:endParaRPr lang="en-US" sz="1400" dirty="0"/>
          </a:p>
        </p:txBody>
      </p:sp>
      <p:sp>
        <p:nvSpPr>
          <p:cNvPr id="15" name="Text 10"/>
          <p:cNvSpPr/>
          <p:nvPr/>
        </p:nvSpPr>
        <p:spPr>
          <a:xfrm>
            <a:off x="812800" y="4998045"/>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2B2F45"/>
                </a:solidFill>
                <a:latin typeface="DM Sans" pitchFamily="34" charset="0"/>
                <a:ea typeface="DM Sans" pitchFamily="34" charset="-122"/>
                <a:cs typeface="DM Sans" pitchFamily="34" charset="-120"/>
              </a:rPr>
              <a:t>Nobody can watch every step, so the environment has to catch the mistakes.</a:t>
            </a:r>
            <a:endParaRPr lang="en-US" sz="1800" dirty="0"/>
          </a:p>
        </p:txBody>
      </p:sp>
      <p:sp>
        <p:nvSpPr>
          <p:cNvPr id="16" name="Text 11"/>
          <p:cNvSpPr/>
          <p:nvPr/>
        </p:nvSpPr>
        <p:spPr>
          <a:xfrm>
            <a:off x="812800" y="6238280"/>
            <a:ext cx="59355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Sources: OpenAI (Feb 2026); Cursor (Jan 2026); Anthropic (Feb 2026)</a:t>
            </a:r>
            <a:endParaRPr lang="en-US" sz="1200" dirty="0"/>
          </a:p>
        </p:txBody>
      </p:sp>
      <p:sp>
        <p:nvSpPr>
          <p:cNvPr id="17" name="Text 12"/>
          <p:cNvSpPr/>
          <p:nvPr/>
        </p:nvSpPr>
        <p:spPr>
          <a:xfrm>
            <a:off x="11131153" y="6238280"/>
            <a:ext cx="24804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Prompt, context, harness</a:t>
            </a:r>
            <a:endParaRPr lang="en-US" sz="3200" dirty="0"/>
          </a:p>
        </p:txBody>
      </p:sp>
      <p:sp>
        <p:nvSpPr>
          <p:cNvPr id="3" name="Shape 1"/>
          <p:cNvSpPr/>
          <p:nvPr/>
        </p:nvSpPr>
        <p:spPr>
          <a:xfrm>
            <a:off x="812800" y="2491780"/>
            <a:ext cx="10566400" cy="2473871"/>
          </a:xfrm>
          <a:prstGeom prst="roundRect">
            <a:avLst>
              <a:gd name="adj" fmla="val 10267"/>
            </a:avLst>
          </a:prstGeom>
          <a:solidFill>
            <a:srgbClr val="CFD6F6"/>
          </a:solidFill>
          <a:ln/>
        </p:spPr>
      </p:sp>
      <p:sp>
        <p:nvSpPr>
          <p:cNvPr id="4" name="Text 2"/>
          <p:cNvSpPr/>
          <p:nvPr/>
        </p:nvSpPr>
        <p:spPr>
          <a:xfrm>
            <a:off x="1066800" y="2745780"/>
            <a:ext cx="193655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Harness engineering</a:t>
            </a:r>
            <a:endParaRPr lang="en-US" sz="1400" dirty="0"/>
          </a:p>
        </p:txBody>
      </p:sp>
      <p:sp>
        <p:nvSpPr>
          <p:cNvPr id="5" name="Text 3"/>
          <p:cNvSpPr/>
          <p:nvPr/>
        </p:nvSpPr>
        <p:spPr>
          <a:xfrm>
            <a:off x="3003352" y="2771180"/>
            <a:ext cx="36183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270"/>
                </a:solidFill>
                <a:latin typeface="DM Sans" pitchFamily="34" charset="0"/>
                <a:ea typeface="DM Sans" pitchFamily="34" charset="-122"/>
                <a:cs typeface="DM Sans" pitchFamily="34" charset="-120"/>
              </a:rPr>
              <a:t>2026 · the whole system around the model</a:t>
            </a:r>
            <a:endParaRPr lang="en-US" sz="1200" dirty="0"/>
          </a:p>
        </p:txBody>
      </p:sp>
      <p:sp>
        <p:nvSpPr>
          <p:cNvPr id="6" name="Shape 4"/>
          <p:cNvSpPr/>
          <p:nvPr/>
        </p:nvSpPr>
        <p:spPr>
          <a:xfrm>
            <a:off x="1066800" y="3147070"/>
            <a:ext cx="10058400" cy="1564580"/>
          </a:xfrm>
          <a:prstGeom prst="roundRect">
            <a:avLst>
              <a:gd name="adj" fmla="val 12988"/>
            </a:avLst>
          </a:prstGeom>
          <a:solidFill>
            <a:srgbClr val="E6E4FA"/>
          </a:solidFill>
          <a:ln/>
        </p:spPr>
      </p:sp>
      <p:sp>
        <p:nvSpPr>
          <p:cNvPr id="7" name="Text 5"/>
          <p:cNvSpPr/>
          <p:nvPr/>
        </p:nvSpPr>
        <p:spPr>
          <a:xfrm>
            <a:off x="1320800" y="3401070"/>
            <a:ext cx="193025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Context engineering</a:t>
            </a:r>
            <a:endParaRPr lang="en-US" sz="1400" dirty="0"/>
          </a:p>
        </p:txBody>
      </p:sp>
      <p:sp>
        <p:nvSpPr>
          <p:cNvPr id="8" name="Text 6"/>
          <p:cNvSpPr/>
          <p:nvPr/>
        </p:nvSpPr>
        <p:spPr>
          <a:xfrm>
            <a:off x="3251051" y="3426470"/>
            <a:ext cx="36784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270"/>
                </a:solidFill>
                <a:latin typeface="DM Sans" pitchFamily="34" charset="0"/>
                <a:ea typeface="DM Sans" pitchFamily="34" charset="-122"/>
                <a:cs typeface="DM Sans" pitchFamily="34" charset="-120"/>
              </a:rPr>
              <a:t>2025 · everything the model sees each turn</a:t>
            </a:r>
            <a:endParaRPr lang="en-US" sz="1200" dirty="0"/>
          </a:p>
        </p:txBody>
      </p:sp>
      <p:sp>
        <p:nvSpPr>
          <p:cNvPr id="9" name="Shape 7"/>
          <p:cNvSpPr/>
          <p:nvPr/>
        </p:nvSpPr>
        <p:spPr>
          <a:xfrm>
            <a:off x="1320800" y="3802360"/>
            <a:ext cx="9550400" cy="655290"/>
          </a:xfrm>
          <a:prstGeom prst="roundRect">
            <a:avLst>
              <a:gd name="adj" fmla="val 23257"/>
            </a:avLst>
          </a:prstGeom>
          <a:solidFill>
            <a:srgbClr val="FCFCFE"/>
          </a:solidFill>
          <a:ln/>
        </p:spPr>
      </p:sp>
      <p:sp>
        <p:nvSpPr>
          <p:cNvPr id="10" name="Text 8"/>
          <p:cNvSpPr/>
          <p:nvPr/>
        </p:nvSpPr>
        <p:spPr>
          <a:xfrm>
            <a:off x="1574800" y="4005560"/>
            <a:ext cx="187290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Prompt engineering</a:t>
            </a:r>
            <a:endParaRPr lang="en-US" sz="1400" dirty="0"/>
          </a:p>
        </p:txBody>
      </p:sp>
      <p:sp>
        <p:nvSpPr>
          <p:cNvPr id="11" name="Text 9"/>
          <p:cNvSpPr/>
          <p:nvPr/>
        </p:nvSpPr>
        <p:spPr>
          <a:xfrm>
            <a:off x="3447703" y="4030960"/>
            <a:ext cx="31951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270"/>
                </a:solidFill>
                <a:latin typeface="DM Sans" pitchFamily="34" charset="0"/>
                <a:ea typeface="DM Sans" pitchFamily="34" charset="-122"/>
                <a:cs typeface="DM Sans" pitchFamily="34" charset="-120"/>
              </a:rPr>
              <a:t>2022–23 · the wording of one request</a:t>
            </a:r>
            <a:endParaRPr lang="en-US" sz="1200" dirty="0"/>
          </a:p>
        </p:txBody>
      </p:sp>
      <p:sp>
        <p:nvSpPr>
          <p:cNvPr id="12" name="Text 10"/>
          <p:cNvSpPr/>
          <p:nvPr/>
        </p:nvSpPr>
        <p:spPr>
          <a:xfrm>
            <a:off x="812800" y="6238280"/>
            <a:ext cx="66460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Sources: Cognition, Lütke, Karpathy (Jun 2025); Hashimoto, OpenAI (Feb 2026)</a:t>
            </a:r>
            <a:endParaRPr lang="en-US" sz="1200" dirty="0"/>
          </a:p>
        </p:txBody>
      </p:sp>
      <p:sp>
        <p:nvSpPr>
          <p:cNvPr id="13" name="Text 11"/>
          <p:cNvSpPr/>
          <p:nvPr/>
        </p:nvSpPr>
        <p:spPr>
          <a:xfrm>
            <a:off x="11128425" y="6238280"/>
            <a:ext cx="25077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Inside a harness</a:t>
            </a:r>
            <a:endParaRPr lang="en-US" sz="3200" dirty="0"/>
          </a:p>
        </p:txBody>
      </p:sp>
      <p:sp>
        <p:nvSpPr>
          <p:cNvPr id="3" name="Shape 1"/>
          <p:cNvSpPr/>
          <p:nvPr/>
        </p:nvSpPr>
        <p:spPr>
          <a:xfrm>
            <a:off x="815975" y="1781175"/>
            <a:ext cx="10560050" cy="3473450"/>
          </a:xfrm>
          <a:prstGeom prst="roundRect">
            <a:avLst>
              <a:gd name="adj" fmla="val 5759"/>
            </a:avLst>
          </a:prstGeom>
          <a:solidFill>
            <a:srgbClr val="FCFCFE"/>
          </a:solidFill>
          <a:ln w="6350">
            <a:solidFill>
              <a:srgbClr val="E1E4F2"/>
            </a:solidFill>
            <a:prstDash val="solid"/>
          </a:ln>
        </p:spPr>
      </p:sp>
      <p:sp>
        <p:nvSpPr>
          <p:cNvPr id="4" name="Text 2"/>
          <p:cNvSpPr/>
          <p:nvPr/>
        </p:nvSpPr>
        <p:spPr>
          <a:xfrm>
            <a:off x="1066800" y="18796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E52B8"/>
                </a:solidFill>
                <a:latin typeface="JetBrains Mono" pitchFamily="49" charset="0"/>
                <a:ea typeface="JetBrains Mono" pitchFamily="49" charset="-122"/>
                <a:cs typeface="JetBrains Mono" pitchFamily="49" charset="-120"/>
              </a:rPr>
              <a:t>THE HARNESS</a:t>
            </a:r>
            <a:endParaRPr lang="en-US" sz="1200" dirty="0"/>
          </a:p>
        </p:txBody>
      </p:sp>
      <p:sp>
        <p:nvSpPr>
          <p:cNvPr id="5" name="Shape 3"/>
          <p:cNvSpPr/>
          <p:nvPr/>
        </p:nvSpPr>
        <p:spPr>
          <a:xfrm>
            <a:off x="1219200" y="2222500"/>
            <a:ext cx="2667000" cy="1397000"/>
          </a:xfrm>
          <a:prstGeom prst="roundRect">
            <a:avLst>
              <a:gd name="adj" fmla="val 10909"/>
            </a:avLst>
          </a:prstGeom>
          <a:solidFill>
            <a:srgbClr val="CFD6F6"/>
          </a:solidFill>
          <a:ln/>
        </p:spPr>
      </p:sp>
      <p:pic>
        <p:nvPicPr>
          <p:cNvPr id="6" name="Image 0" descr="Book">    </p:cNvPr>
          <p:cNvPicPr>
            <a:picLocks noChangeAspect="1"/>
          </p:cNvPicPr>
          <p:nvPr/>
        </p:nvPicPr>
        <p:blipFill>
          <a:blip r:embed="rId1"/>
          <a:srcRect l="0" r="0" t="0" b="0"/>
          <a:stretch/>
        </p:blipFill>
        <p:spPr>
          <a:xfrm>
            <a:off x="1422400" y="2442220"/>
            <a:ext cx="304800" cy="304800"/>
          </a:xfrm>
          <a:prstGeom prst="rect">
            <a:avLst/>
          </a:prstGeom>
        </p:spPr>
      </p:pic>
      <p:sp>
        <p:nvSpPr>
          <p:cNvPr id="7" name="Text 4"/>
          <p:cNvSpPr/>
          <p:nvPr/>
        </p:nvSpPr>
        <p:spPr>
          <a:xfrm>
            <a:off x="1422400" y="2797820"/>
            <a:ext cx="232841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E42A0"/>
                </a:solidFill>
                <a:latin typeface="DM Sans" pitchFamily="34" charset="0"/>
                <a:ea typeface="DM Sans" pitchFamily="34" charset="-122"/>
                <a:cs typeface="DM Sans" pitchFamily="34" charset="-120"/>
              </a:rPr>
              <a:t>Guides</a:t>
            </a:r>
            <a:endParaRPr lang="en-US" sz="1800" dirty="0"/>
          </a:p>
        </p:txBody>
      </p:sp>
      <p:sp>
        <p:nvSpPr>
          <p:cNvPr id="8" name="Text 5"/>
          <p:cNvSpPr/>
          <p:nvPr/>
        </p:nvSpPr>
        <p:spPr>
          <a:xfrm>
            <a:off x="1422400" y="3168650"/>
            <a:ext cx="2328418"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B2F45"/>
                </a:solidFill>
                <a:latin typeface="DM Sans" pitchFamily="34" charset="0"/>
                <a:ea typeface="DM Sans" pitchFamily="34" charset="-122"/>
                <a:cs typeface="DM Sans" pitchFamily="34" charset="-120"/>
              </a:rPr>
              <a:t>Prompt, AGENTS.md, skills</a:t>
            </a:r>
            <a:endParaRPr lang="en-US" sz="1400" dirty="0"/>
          </a:p>
        </p:txBody>
      </p:sp>
      <p:sp>
        <p:nvSpPr>
          <p:cNvPr id="9" name="Shape 6"/>
          <p:cNvSpPr/>
          <p:nvPr/>
        </p:nvSpPr>
        <p:spPr>
          <a:xfrm>
            <a:off x="4762500" y="2222500"/>
            <a:ext cx="2667000" cy="1397000"/>
          </a:xfrm>
          <a:prstGeom prst="roundRect">
            <a:avLst>
              <a:gd name="adj" fmla="val 10909"/>
            </a:avLst>
          </a:prstGeom>
          <a:solidFill>
            <a:srgbClr val="5A5ED6"/>
          </a:solidFill>
          <a:ln/>
        </p:spPr>
      </p:sp>
      <p:sp>
        <p:nvSpPr>
          <p:cNvPr id="10" name="Text 7"/>
          <p:cNvSpPr/>
          <p:nvPr/>
        </p:nvSpPr>
        <p:spPr>
          <a:xfrm>
            <a:off x="5681901" y="2620020"/>
            <a:ext cx="828199" cy="34543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FCFCFE"/>
                </a:solidFill>
                <a:latin typeface="DM Sans" pitchFamily="34" charset="0"/>
                <a:ea typeface="DM Sans" pitchFamily="34" charset="-122"/>
                <a:cs typeface="DM Sans" pitchFamily="34" charset="-120"/>
              </a:rPr>
              <a:t>Model</a:t>
            </a:r>
            <a:endParaRPr lang="en-US" sz="1800" dirty="0"/>
          </a:p>
        </p:txBody>
      </p:sp>
      <p:sp>
        <p:nvSpPr>
          <p:cNvPr id="11" name="Text 8"/>
          <p:cNvSpPr/>
          <p:nvPr/>
        </p:nvSpPr>
        <p:spPr>
          <a:xfrm>
            <a:off x="5371926" y="2990850"/>
            <a:ext cx="1448098" cy="256530"/>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FCFCFE"/>
                </a:solidFill>
                <a:latin typeface="DM Sans" pitchFamily="34" charset="0"/>
                <a:ea typeface="DM Sans" pitchFamily="34" charset="-122"/>
                <a:cs typeface="DM Sans" pitchFamily="34" charset="-120"/>
              </a:rPr>
              <a:t>acts with tools</a:t>
            </a:r>
            <a:endParaRPr lang="en-US" sz="1400" dirty="0"/>
          </a:p>
        </p:txBody>
      </p:sp>
      <p:sp>
        <p:nvSpPr>
          <p:cNvPr id="12" name="Shape 9"/>
          <p:cNvSpPr/>
          <p:nvPr/>
        </p:nvSpPr>
        <p:spPr>
          <a:xfrm>
            <a:off x="8305800" y="2222500"/>
            <a:ext cx="2667000" cy="1397000"/>
          </a:xfrm>
          <a:prstGeom prst="roundRect">
            <a:avLst>
              <a:gd name="adj" fmla="val 10909"/>
            </a:avLst>
          </a:prstGeom>
          <a:solidFill>
            <a:srgbClr val="ECEDF1"/>
          </a:solidFill>
          <a:ln/>
        </p:spPr>
      </p:sp>
      <p:pic>
        <p:nvPicPr>
          <p:cNvPr id="13" name="Image 1" descr="CheckCircle">    </p:cNvPr>
          <p:cNvPicPr>
            <a:picLocks noChangeAspect="1"/>
          </p:cNvPicPr>
          <p:nvPr/>
        </p:nvPicPr>
        <p:blipFill>
          <a:blip r:embed="rId2"/>
          <a:srcRect l="0" r="0" t="0" b="0"/>
          <a:stretch/>
        </p:blipFill>
        <p:spPr>
          <a:xfrm>
            <a:off x="8509000" y="2442220"/>
            <a:ext cx="304800" cy="304800"/>
          </a:xfrm>
          <a:prstGeom prst="rect">
            <a:avLst/>
          </a:prstGeom>
        </p:spPr>
      </p:pic>
      <p:sp>
        <p:nvSpPr>
          <p:cNvPr id="14" name="Text 10"/>
          <p:cNvSpPr/>
          <p:nvPr/>
        </p:nvSpPr>
        <p:spPr>
          <a:xfrm>
            <a:off x="8509000" y="2797820"/>
            <a:ext cx="232841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4A4F63"/>
                </a:solidFill>
                <a:latin typeface="DM Sans" pitchFamily="34" charset="0"/>
                <a:ea typeface="DM Sans" pitchFamily="34" charset="-122"/>
                <a:cs typeface="DM Sans" pitchFamily="34" charset="-120"/>
              </a:rPr>
              <a:t>Sensors</a:t>
            </a:r>
            <a:endParaRPr lang="en-US" sz="1800" dirty="0"/>
          </a:p>
        </p:txBody>
      </p:sp>
      <p:sp>
        <p:nvSpPr>
          <p:cNvPr id="15" name="Text 11"/>
          <p:cNvSpPr/>
          <p:nvPr/>
        </p:nvSpPr>
        <p:spPr>
          <a:xfrm>
            <a:off x="8509000" y="3168650"/>
            <a:ext cx="2328418"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B2F45"/>
                </a:solidFill>
                <a:latin typeface="DM Sans" pitchFamily="34" charset="0"/>
                <a:ea typeface="DM Sans" pitchFamily="34" charset="-122"/>
                <a:cs typeface="DM Sans" pitchFamily="34" charset="-120"/>
              </a:rPr>
              <a:t>Tests, linters, reviewers</a:t>
            </a:r>
            <a:endParaRPr lang="en-US" sz="1400" dirty="0"/>
          </a:p>
        </p:txBody>
      </p:sp>
      <p:sp>
        <p:nvSpPr>
          <p:cNvPr id="16" name="Text 12"/>
          <p:cNvSpPr/>
          <p:nvPr/>
        </p:nvSpPr>
        <p:spPr>
          <a:xfrm>
            <a:off x="3860800" y="2616200"/>
            <a:ext cx="9271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46983"/>
                </a:solidFill>
                <a:latin typeface="DM Sans" pitchFamily="34" charset="0"/>
                <a:ea typeface="DM Sans" pitchFamily="34" charset="-122"/>
                <a:cs typeface="DM Sans" pitchFamily="34" charset="-120"/>
              </a:rPr>
              <a:t>steer</a:t>
            </a:r>
            <a:endParaRPr lang="en-US" sz="1200" dirty="0"/>
          </a:p>
        </p:txBody>
      </p:sp>
      <p:sp>
        <p:nvSpPr>
          <p:cNvPr id="17" name="Text 13"/>
          <p:cNvSpPr/>
          <p:nvPr/>
        </p:nvSpPr>
        <p:spPr>
          <a:xfrm>
            <a:off x="7404100" y="2616200"/>
            <a:ext cx="9271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46983"/>
                </a:solidFill>
                <a:latin typeface="DM Sans" pitchFamily="34" charset="0"/>
                <a:ea typeface="DM Sans" pitchFamily="34" charset="-122"/>
                <a:cs typeface="DM Sans" pitchFamily="34" charset="-120"/>
              </a:rPr>
              <a:t>check</a:t>
            </a:r>
            <a:endParaRPr lang="en-US" sz="1200" dirty="0"/>
          </a:p>
        </p:txBody>
      </p:sp>
      <p:pic>
        <p:nvPicPr>
          <p:cNvPr id="18" name="Image 2" descr="connector">    </p:cNvPr>
          <p:cNvPicPr>
            <a:picLocks noChangeAspect="1"/>
          </p:cNvPicPr>
          <p:nvPr/>
        </p:nvPicPr>
        <p:blipFill>
          <a:blip r:embed="rId3"/>
          <a:srcRect l="0" r="0" t="0" b="0"/>
          <a:stretch/>
        </p:blipFill>
        <p:spPr>
          <a:xfrm>
            <a:off x="3835400" y="2870200"/>
            <a:ext cx="977900" cy="101600"/>
          </a:xfrm>
          <a:prstGeom prst="rect">
            <a:avLst/>
          </a:prstGeom>
        </p:spPr>
      </p:pic>
      <p:pic>
        <p:nvPicPr>
          <p:cNvPr id="19" name="Image 3" descr="connector">    </p:cNvPr>
          <p:cNvPicPr>
            <a:picLocks noChangeAspect="1"/>
          </p:cNvPicPr>
          <p:nvPr/>
        </p:nvPicPr>
        <p:blipFill>
          <a:blip r:embed="rId4"/>
          <a:srcRect l="0" r="0" t="0" b="0"/>
          <a:stretch/>
        </p:blipFill>
        <p:spPr>
          <a:xfrm>
            <a:off x="7378700" y="2870200"/>
            <a:ext cx="977900" cy="101600"/>
          </a:xfrm>
          <a:prstGeom prst="rect">
            <a:avLst/>
          </a:prstGeom>
        </p:spPr>
      </p:pic>
      <p:pic>
        <p:nvPicPr>
          <p:cNvPr id="20" name="Image 4" descr="connector">    </p:cNvPr>
          <p:cNvPicPr>
            <a:picLocks noChangeAspect="1"/>
          </p:cNvPicPr>
          <p:nvPr/>
        </p:nvPicPr>
        <p:blipFill>
          <a:blip r:embed="rId5"/>
          <a:srcRect l="0" r="0" t="0" b="0"/>
          <a:stretch/>
        </p:blipFill>
        <p:spPr>
          <a:xfrm>
            <a:off x="9588500" y="3568700"/>
            <a:ext cx="101600" cy="546100"/>
          </a:xfrm>
          <a:prstGeom prst="rect">
            <a:avLst/>
          </a:prstGeom>
        </p:spPr>
      </p:pic>
      <p:pic>
        <p:nvPicPr>
          <p:cNvPr id="21" name="Image 5" descr="connector">    </p:cNvPr>
          <p:cNvPicPr>
            <a:picLocks noChangeAspect="1"/>
          </p:cNvPicPr>
          <p:nvPr/>
        </p:nvPicPr>
        <p:blipFill>
          <a:blip r:embed="rId6"/>
          <a:srcRect l="0" r="0" t="0" b="0"/>
          <a:stretch/>
        </p:blipFill>
        <p:spPr>
          <a:xfrm>
            <a:off x="6045200" y="4013200"/>
            <a:ext cx="3644900" cy="101600"/>
          </a:xfrm>
          <a:prstGeom prst="rect">
            <a:avLst/>
          </a:prstGeom>
        </p:spPr>
      </p:pic>
      <p:pic>
        <p:nvPicPr>
          <p:cNvPr id="22" name="Image 6" descr="connector">    </p:cNvPr>
          <p:cNvPicPr>
            <a:picLocks noChangeAspect="1"/>
          </p:cNvPicPr>
          <p:nvPr/>
        </p:nvPicPr>
        <p:blipFill>
          <a:blip r:embed="rId7"/>
          <a:srcRect l="0" r="0" t="0" b="0"/>
          <a:stretch/>
        </p:blipFill>
        <p:spPr>
          <a:xfrm>
            <a:off x="6045200" y="3568700"/>
            <a:ext cx="101600" cy="546100"/>
          </a:xfrm>
          <a:prstGeom prst="rect">
            <a:avLst/>
          </a:prstGeom>
        </p:spPr>
      </p:pic>
      <p:sp>
        <p:nvSpPr>
          <p:cNvPr id="23" name="Text 14"/>
          <p:cNvSpPr/>
          <p:nvPr/>
        </p:nvSpPr>
        <p:spPr>
          <a:xfrm>
            <a:off x="6232525" y="4140200"/>
            <a:ext cx="32702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4F63"/>
                </a:solidFill>
                <a:latin typeface="DM Sans" pitchFamily="34" charset="0"/>
                <a:ea typeface="DM Sans" pitchFamily="34" charset="-122"/>
                <a:cs typeface="DM Sans" pitchFamily="34" charset="-120"/>
              </a:rPr>
              <a:t>feedback: fix and retry</a:t>
            </a:r>
            <a:endParaRPr lang="en-US" sz="1200" dirty="0"/>
          </a:p>
        </p:txBody>
      </p:sp>
      <p:sp>
        <p:nvSpPr>
          <p:cNvPr id="24" name="Shape 15"/>
          <p:cNvSpPr/>
          <p:nvPr/>
        </p:nvSpPr>
        <p:spPr>
          <a:xfrm>
            <a:off x="1219200" y="4521200"/>
            <a:ext cx="9753600" cy="508000"/>
          </a:xfrm>
          <a:prstGeom prst="roundRect">
            <a:avLst>
              <a:gd name="adj" fmla="val 20000"/>
            </a:avLst>
          </a:prstGeom>
          <a:solidFill>
            <a:srgbClr val="EEF0FA"/>
          </a:solidFill>
          <a:ln/>
        </p:spPr>
      </p:sp>
      <p:pic>
        <p:nvPicPr>
          <p:cNvPr id="25" name="Image 7" descr="Settings">    </p:cNvPr>
          <p:cNvPicPr>
            <a:picLocks noChangeAspect="1"/>
          </p:cNvPicPr>
          <p:nvPr/>
        </p:nvPicPr>
        <p:blipFill>
          <a:blip r:embed="rId8"/>
          <a:srcRect l="0" r="0" t="0" b="0"/>
          <a:stretch/>
        </p:blipFill>
        <p:spPr>
          <a:xfrm>
            <a:off x="1422400" y="4648200"/>
            <a:ext cx="254000" cy="254000"/>
          </a:xfrm>
          <a:prstGeom prst="rect">
            <a:avLst/>
          </a:prstGeom>
        </p:spPr>
      </p:pic>
      <p:sp>
        <p:nvSpPr>
          <p:cNvPr id="26" name="Text 16"/>
          <p:cNvSpPr/>
          <p:nvPr/>
        </p:nvSpPr>
        <p:spPr>
          <a:xfrm>
            <a:off x="1828800" y="4650730"/>
            <a:ext cx="12651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Environment</a:t>
            </a:r>
            <a:endParaRPr lang="en-US" sz="1400" dirty="0"/>
          </a:p>
        </p:txBody>
      </p:sp>
      <p:sp>
        <p:nvSpPr>
          <p:cNvPr id="27" name="Text 17"/>
          <p:cNvSpPr/>
          <p:nvPr/>
        </p:nvSpPr>
        <p:spPr>
          <a:xfrm>
            <a:off x="3093938" y="4650730"/>
            <a:ext cx="42713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D5270"/>
                </a:solidFill>
                <a:latin typeface="DM Sans" pitchFamily="34" charset="0"/>
                <a:ea typeface="DM Sans" pitchFamily="34" charset="-122"/>
                <a:cs typeface="DM Sans" pitchFamily="34" charset="-120"/>
              </a:rPr>
              <a:t>tools · sandbox · permissions · memory files</a:t>
            </a:r>
            <a:endParaRPr lang="en-US" sz="1400" dirty="0"/>
          </a:p>
        </p:txBody>
      </p:sp>
      <p:sp>
        <p:nvSpPr>
          <p:cNvPr id="28" name="Text 18"/>
          <p:cNvSpPr/>
          <p:nvPr/>
        </p:nvSpPr>
        <p:spPr>
          <a:xfrm>
            <a:off x="812800" y="6238280"/>
            <a:ext cx="64597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Sources: Böckeler (Apr 2026); de Macedo (Jun 2026); LangChain (Mar 2026)</a:t>
            </a:r>
            <a:endParaRPr lang="en-US" sz="1200" dirty="0"/>
          </a:p>
        </p:txBody>
      </p:sp>
      <p:sp>
        <p:nvSpPr>
          <p:cNvPr id="29" name="Text 19"/>
          <p:cNvSpPr/>
          <p:nvPr/>
        </p:nvSpPr>
        <p:spPr>
          <a:xfrm>
            <a:off x="11144895" y="6238280"/>
            <a:ext cx="23430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Two harnesses</a:t>
            </a:r>
            <a:endParaRPr lang="en-US" sz="3200" dirty="0"/>
          </a:p>
        </p:txBody>
      </p:sp>
      <p:sp>
        <p:nvSpPr>
          <p:cNvPr id="3" name="Shape 1"/>
          <p:cNvSpPr/>
          <p:nvPr/>
        </p:nvSpPr>
        <p:spPr>
          <a:xfrm>
            <a:off x="812800" y="2347615"/>
            <a:ext cx="10566400" cy="2148830"/>
          </a:xfrm>
          <a:prstGeom prst="roundRect">
            <a:avLst>
              <a:gd name="adj" fmla="val 11820"/>
            </a:avLst>
          </a:prstGeom>
          <a:solidFill>
            <a:srgbClr val="CFD6F6"/>
          </a:solidFill>
          <a:ln/>
        </p:spPr>
      </p:sp>
      <p:sp>
        <p:nvSpPr>
          <p:cNvPr id="4" name="Text 2"/>
          <p:cNvSpPr/>
          <p:nvPr/>
        </p:nvSpPr>
        <p:spPr>
          <a:xfrm>
            <a:off x="1117600" y="3099445"/>
            <a:ext cx="378827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E42A0"/>
                </a:solidFill>
                <a:latin typeface="DM Sans" pitchFamily="34" charset="0"/>
                <a:ea typeface="DM Sans" pitchFamily="34" charset="-122"/>
                <a:cs typeface="DM Sans" pitchFamily="34" charset="-120"/>
              </a:rPr>
              <a:t>Yours</a:t>
            </a:r>
            <a:endParaRPr lang="en-US" sz="1800" dirty="0"/>
          </a:p>
        </p:txBody>
      </p:sp>
      <p:sp>
        <p:nvSpPr>
          <p:cNvPr id="5" name="Text 3"/>
          <p:cNvSpPr/>
          <p:nvPr/>
        </p:nvSpPr>
        <p:spPr>
          <a:xfrm>
            <a:off x="1117600" y="3495675"/>
            <a:ext cx="378827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AGENTS.md, skills, hooks, tests, CI</a:t>
            </a:r>
            <a:endParaRPr lang="en-US" sz="1400" dirty="0"/>
          </a:p>
        </p:txBody>
      </p:sp>
      <p:sp>
        <p:nvSpPr>
          <p:cNvPr id="6" name="Shape 4"/>
          <p:cNvSpPr/>
          <p:nvPr/>
        </p:nvSpPr>
        <p:spPr>
          <a:xfrm>
            <a:off x="5049540" y="2652415"/>
            <a:ext cx="6024860" cy="1539230"/>
          </a:xfrm>
          <a:prstGeom prst="roundRect">
            <a:avLst>
              <a:gd name="adj" fmla="val 13201"/>
            </a:avLst>
          </a:prstGeom>
          <a:solidFill>
            <a:srgbClr val="ECEDF1"/>
          </a:solidFill>
          <a:ln/>
        </p:spPr>
      </p:sp>
      <p:sp>
        <p:nvSpPr>
          <p:cNvPr id="7" name="Text 5"/>
          <p:cNvSpPr/>
          <p:nvPr/>
        </p:nvSpPr>
        <p:spPr>
          <a:xfrm>
            <a:off x="5303540" y="3099445"/>
            <a:ext cx="4238959"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4A4F63"/>
                </a:solidFill>
                <a:latin typeface="DM Sans" pitchFamily="34" charset="0"/>
                <a:ea typeface="DM Sans" pitchFamily="34" charset="-122"/>
                <a:cs typeface="DM Sans" pitchFamily="34" charset="-120"/>
              </a:rPr>
              <a:t>The vendor's</a:t>
            </a:r>
            <a:endParaRPr lang="en-US" sz="1800" dirty="0"/>
          </a:p>
        </p:txBody>
      </p:sp>
      <p:sp>
        <p:nvSpPr>
          <p:cNvPr id="8" name="Text 6"/>
          <p:cNvSpPr/>
          <p:nvPr/>
        </p:nvSpPr>
        <p:spPr>
          <a:xfrm>
            <a:off x="5303540" y="3495675"/>
            <a:ext cx="423895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Claude Code, Codex, Cursor</a:t>
            </a:r>
            <a:endParaRPr lang="en-US" sz="1400" dirty="0"/>
          </a:p>
        </p:txBody>
      </p:sp>
      <p:sp>
        <p:nvSpPr>
          <p:cNvPr id="9" name="Text 7"/>
          <p:cNvSpPr/>
          <p:nvPr/>
        </p:nvSpPr>
        <p:spPr>
          <a:xfrm>
            <a:off x="9622234" y="2906415"/>
            <a:ext cx="1198166" cy="1031230"/>
          </a:xfrm>
          <a:prstGeom prst="roundRect">
            <a:avLst>
              <a:gd name="adj" fmla="val 14778"/>
            </a:avLst>
          </a:prstGeom>
          <a:solidFill>
            <a:srgbClr val="5A5ED6"/>
          </a:solidFill>
          <a:ln/>
        </p:spPr>
        <p:txBody>
          <a:bodyPr wrap="none" lIns="0" tIns="0" rIns="0" bIns="0" rtlCol="0" anchor="ctr">
            <a:normAutofit/>
          </a:bodyPr>
          <a:lstStyle/>
          <a:p>
            <a:pPr algn="ctr" indent="0" marL="0">
              <a:lnSpc>
                <a:spcPts val="2520"/>
              </a:lnSpc>
              <a:buNone/>
            </a:pPr>
            <a:r>
              <a:rPr lang="en-US" sz="1800" b="1" dirty="0">
                <a:solidFill>
                  <a:srgbClr val="FCFCFE"/>
                </a:solidFill>
                <a:latin typeface="DM Sans" pitchFamily="34" charset="0"/>
                <a:ea typeface="DM Sans" pitchFamily="34" charset="-122"/>
                <a:cs typeface="DM Sans" pitchFamily="34" charset="-120"/>
              </a:rPr>
              <a:t>Model</a:t>
            </a:r>
            <a:endParaRPr lang="en-US" sz="1800" dirty="0"/>
          </a:p>
        </p:txBody>
      </p:sp>
      <p:sp>
        <p:nvSpPr>
          <p:cNvPr id="10" name="Text 8"/>
          <p:cNvSpPr/>
          <p:nvPr/>
        </p:nvSpPr>
        <p:spPr>
          <a:xfrm>
            <a:off x="812800" y="4801245"/>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2B2F45"/>
                </a:solidFill>
                <a:latin typeface="DM Sans" pitchFamily="34" charset="0"/>
                <a:ea typeface="DM Sans" pitchFamily="34" charset="-122"/>
                <a:cs typeface="DM Sans" pitchFamily="34" charset="-120"/>
              </a:rPr>
              <a:t>You can't change the vendor's harness. You own the outer ring.</a:t>
            </a:r>
            <a:endParaRPr lang="en-US" sz="1800" dirty="0"/>
          </a:p>
        </p:txBody>
      </p:sp>
      <p:sp>
        <p:nvSpPr>
          <p:cNvPr id="11" name="Text 9"/>
          <p:cNvSpPr/>
          <p:nvPr/>
        </p:nvSpPr>
        <p:spPr>
          <a:xfrm>
            <a:off x="812800" y="6238280"/>
            <a:ext cx="4579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Source: Birgitta Böckeler, martinfowler.com (Apr 2026)</a:t>
            </a:r>
            <a:endParaRPr lang="en-US" sz="1200" dirty="0"/>
          </a:p>
        </p:txBody>
      </p:sp>
      <p:sp>
        <p:nvSpPr>
          <p:cNvPr id="12" name="Text 10"/>
          <p:cNvSpPr/>
          <p:nvPr/>
        </p:nvSpPr>
        <p:spPr>
          <a:xfrm>
            <a:off x="11131451" y="6238280"/>
            <a:ext cx="24774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Four eras</a:t>
            </a:r>
            <a:endParaRPr lang="en-US" sz="3200" dirty="0"/>
          </a:p>
        </p:txBody>
      </p:sp>
      <p:sp>
        <p:nvSpPr>
          <p:cNvPr id="3" name="Shape 1"/>
          <p:cNvSpPr/>
          <p:nvPr/>
        </p:nvSpPr>
        <p:spPr>
          <a:xfrm>
            <a:off x="812800" y="2640360"/>
            <a:ext cx="2641600" cy="2176661"/>
          </a:xfrm>
          <a:custGeom>
            <a:avLst/>
            <a:gdLst/>
            <a:ahLst/>
            <a:cxnLst/>
            <a:rect l="l" t="t" r="r" b="b"/>
            <a:pathLst>
              <a:path w="2641600" h="2176661">
                <a:moveTo>
                  <a:pt x="152400" y="0"/>
                </a:moveTo>
                <a:lnTo>
                  <a:pt x="2641600" y="0"/>
                </a:lnTo>
                <a:lnTo>
                  <a:pt x="2641600" y="2176661"/>
                </a:lnTo>
                <a:lnTo>
                  <a:pt x="152400" y="2176661"/>
                </a:lnTo>
                <a:arcTo hR="152400" wR="152400" stAng="5400000" swAng="5400000"/>
                <a:lnTo>
                  <a:pt x="0" y="152400"/>
                </a:lnTo>
                <a:arcTo hR="152400" wR="152400" stAng="10800000" swAng="5400000"/>
                <a:close/>
              </a:path>
            </a:pathLst>
          </a:custGeom>
          <a:solidFill>
            <a:srgbClr val="EEF0FA"/>
          </a:solidFill>
          <a:ln/>
        </p:spPr>
      </p:sp>
      <p:sp>
        <p:nvSpPr>
          <p:cNvPr id="4" name="Text 2"/>
          <p:cNvSpPr/>
          <p:nvPr/>
        </p:nvSpPr>
        <p:spPr>
          <a:xfrm>
            <a:off x="1066800" y="2894360"/>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2A0"/>
                </a:solidFill>
                <a:latin typeface="JetBrains Mono" pitchFamily="49" charset="0"/>
                <a:ea typeface="JetBrains Mono" pitchFamily="49" charset="-122"/>
                <a:cs typeface="JetBrains Mono" pitchFamily="49" charset="-120"/>
              </a:rPr>
              <a:t>2022–23</a:t>
            </a:r>
            <a:endParaRPr lang="en-US" sz="1200" dirty="0"/>
          </a:p>
        </p:txBody>
      </p:sp>
      <p:sp>
        <p:nvSpPr>
          <p:cNvPr id="5" name="Text 3"/>
          <p:cNvSpPr/>
          <p:nvPr/>
        </p:nvSpPr>
        <p:spPr>
          <a:xfrm>
            <a:off x="1066800" y="3183880"/>
            <a:ext cx="2387600" cy="28828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2B2F45"/>
                </a:solidFill>
                <a:latin typeface="DM Sans" pitchFamily="34" charset="0"/>
                <a:ea typeface="DM Sans" pitchFamily="34" charset="-122"/>
                <a:cs typeface="DM Sans" pitchFamily="34" charset="-120"/>
              </a:rPr>
              <a:t>Prompts and loops</a:t>
            </a:r>
            <a:endParaRPr lang="en-US" sz="1800" dirty="0"/>
          </a:p>
        </p:txBody>
      </p:sp>
      <p:sp>
        <p:nvSpPr>
          <p:cNvPr id="6" name="Text 4"/>
          <p:cNvSpPr/>
          <p:nvPr/>
        </p:nvSpPr>
        <p:spPr>
          <a:xfrm>
            <a:off x="1066800" y="3522960"/>
            <a:ext cx="219760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D5270"/>
                </a:solidFill>
                <a:latin typeface="DM Sans" pitchFamily="34" charset="0"/>
                <a:ea typeface="DM Sans" pitchFamily="34" charset="-122"/>
                <a:cs typeface="DM Sans" pitchFamily="34" charset="-120"/>
              </a:rPr>
              <a:t>ReAct, AutoGPT, function calling</a:t>
            </a:r>
            <a:endParaRPr lang="en-US" sz="1200" dirty="0"/>
          </a:p>
        </p:txBody>
      </p:sp>
      <p:sp>
        <p:nvSpPr>
          <p:cNvPr id="7" name="Text 5"/>
          <p:cNvSpPr/>
          <p:nvPr/>
        </p:nvSpPr>
        <p:spPr>
          <a:xfrm>
            <a:off x="1066800" y="4349700"/>
            <a:ext cx="2197608"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E42A0"/>
                </a:solidFill>
                <a:latin typeface="DM Sans" pitchFamily="34" charset="0"/>
                <a:ea typeface="DM Sans" pitchFamily="34" charset="-122"/>
                <a:cs typeface="DM Sans" pitchFamily="34" charset="-120"/>
              </a:rPr>
              <a:t>prompt engineering</a:t>
            </a:r>
            <a:endParaRPr lang="en-US" sz="1200" dirty="0"/>
          </a:p>
        </p:txBody>
      </p:sp>
      <p:sp>
        <p:nvSpPr>
          <p:cNvPr id="8" name="Shape 6"/>
          <p:cNvSpPr/>
          <p:nvPr/>
        </p:nvSpPr>
        <p:spPr>
          <a:xfrm>
            <a:off x="3454400" y="2640360"/>
            <a:ext cx="2641600" cy="2176661"/>
          </a:xfrm>
          <a:prstGeom prst="rect">
            <a:avLst/>
          </a:prstGeom>
          <a:solidFill>
            <a:srgbClr val="E1E5F8"/>
          </a:solidFill>
          <a:ln/>
        </p:spPr>
      </p:sp>
      <p:sp>
        <p:nvSpPr>
          <p:cNvPr id="9" name="Text 7"/>
          <p:cNvSpPr/>
          <p:nvPr/>
        </p:nvSpPr>
        <p:spPr>
          <a:xfrm>
            <a:off x="3708400" y="2894360"/>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2A0"/>
                </a:solidFill>
                <a:latin typeface="JetBrains Mono" pitchFamily="49" charset="0"/>
                <a:ea typeface="JetBrains Mono" pitchFamily="49" charset="-122"/>
                <a:cs typeface="JetBrains Mono" pitchFamily="49" charset="-120"/>
              </a:rPr>
              <a:t>2024</a:t>
            </a:r>
            <a:endParaRPr lang="en-US" sz="1200" dirty="0"/>
          </a:p>
        </p:txBody>
      </p:sp>
      <p:sp>
        <p:nvSpPr>
          <p:cNvPr id="10" name="Text 8"/>
          <p:cNvSpPr/>
          <p:nvPr/>
        </p:nvSpPr>
        <p:spPr>
          <a:xfrm>
            <a:off x="3708400" y="3183880"/>
            <a:ext cx="2197608" cy="28828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2B2F45"/>
                </a:solidFill>
                <a:latin typeface="DM Sans" pitchFamily="34" charset="0"/>
                <a:ea typeface="DM Sans" pitchFamily="34" charset="-122"/>
                <a:cs typeface="DM Sans" pitchFamily="34" charset="-120"/>
              </a:rPr>
              <a:t>Agent interfaces</a:t>
            </a:r>
            <a:endParaRPr lang="en-US" sz="1800" dirty="0"/>
          </a:p>
        </p:txBody>
      </p:sp>
      <p:sp>
        <p:nvSpPr>
          <p:cNvPr id="11" name="Text 9"/>
          <p:cNvSpPr/>
          <p:nvPr/>
        </p:nvSpPr>
        <p:spPr>
          <a:xfrm>
            <a:off x="3708400" y="3522960"/>
            <a:ext cx="2197608"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D5270"/>
                </a:solidFill>
                <a:latin typeface="DM Sans" pitchFamily="34" charset="0"/>
                <a:ea typeface="DM Sans" pitchFamily="34" charset="-122"/>
                <a:cs typeface="DM Sans" pitchFamily="34" charset="-120"/>
              </a:rPr>
              <a:t>SWE-agent, Devin, MCP</a:t>
            </a:r>
            <a:endParaRPr lang="en-US" sz="1200" dirty="0"/>
          </a:p>
        </p:txBody>
      </p:sp>
      <p:sp>
        <p:nvSpPr>
          <p:cNvPr id="12" name="Text 10"/>
          <p:cNvSpPr/>
          <p:nvPr/>
        </p:nvSpPr>
        <p:spPr>
          <a:xfrm>
            <a:off x="3708400" y="4349700"/>
            <a:ext cx="2197608"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E42A0"/>
                </a:solidFill>
                <a:latin typeface="DM Sans" pitchFamily="34" charset="0"/>
                <a:ea typeface="DM Sans" pitchFamily="34" charset="-122"/>
                <a:cs typeface="DM Sans" pitchFamily="34" charset="-120"/>
              </a:rPr>
              <a:t>scaffolding</a:t>
            </a:r>
            <a:endParaRPr lang="en-US" sz="1200" dirty="0"/>
          </a:p>
        </p:txBody>
      </p:sp>
      <p:sp>
        <p:nvSpPr>
          <p:cNvPr id="13" name="Shape 11"/>
          <p:cNvSpPr/>
          <p:nvPr/>
        </p:nvSpPr>
        <p:spPr>
          <a:xfrm>
            <a:off x="6096000" y="2640360"/>
            <a:ext cx="2641600" cy="2176661"/>
          </a:xfrm>
          <a:prstGeom prst="rect">
            <a:avLst/>
          </a:prstGeom>
          <a:solidFill>
            <a:srgbClr val="CFD6F6"/>
          </a:solidFill>
          <a:ln/>
        </p:spPr>
      </p:sp>
      <p:sp>
        <p:nvSpPr>
          <p:cNvPr id="14" name="Text 12"/>
          <p:cNvSpPr/>
          <p:nvPr/>
        </p:nvSpPr>
        <p:spPr>
          <a:xfrm>
            <a:off x="6350000" y="2894360"/>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2A0"/>
                </a:solidFill>
                <a:latin typeface="JetBrains Mono" pitchFamily="49" charset="0"/>
                <a:ea typeface="JetBrains Mono" pitchFamily="49" charset="-122"/>
                <a:cs typeface="JetBrains Mono" pitchFamily="49" charset="-120"/>
              </a:rPr>
              <a:t>2025</a:t>
            </a:r>
            <a:endParaRPr lang="en-US" sz="1200" dirty="0"/>
          </a:p>
        </p:txBody>
      </p:sp>
      <p:sp>
        <p:nvSpPr>
          <p:cNvPr id="15" name="Text 13"/>
          <p:cNvSpPr/>
          <p:nvPr/>
        </p:nvSpPr>
        <p:spPr>
          <a:xfrm>
            <a:off x="6350000" y="3183880"/>
            <a:ext cx="2197608" cy="28828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2B2F45"/>
                </a:solidFill>
                <a:latin typeface="DM Sans" pitchFamily="34" charset="0"/>
                <a:ea typeface="DM Sans" pitchFamily="34" charset="-122"/>
                <a:cs typeface="DM Sans" pitchFamily="34" charset="-120"/>
              </a:rPr>
              <a:t>Coding agents</a:t>
            </a:r>
            <a:endParaRPr lang="en-US" sz="1800" dirty="0"/>
          </a:p>
        </p:txBody>
      </p:sp>
      <p:sp>
        <p:nvSpPr>
          <p:cNvPr id="16" name="Text 14"/>
          <p:cNvSpPr/>
          <p:nvPr/>
        </p:nvSpPr>
        <p:spPr>
          <a:xfrm>
            <a:off x="6350000" y="3522960"/>
            <a:ext cx="219760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D5270"/>
                </a:solidFill>
                <a:latin typeface="DM Sans" pitchFamily="34" charset="0"/>
                <a:ea typeface="DM Sans" pitchFamily="34" charset="-122"/>
                <a:cs typeface="DM Sans" pitchFamily="34" charset="-120"/>
              </a:rPr>
              <a:t>Claude Code, Codex, AGENTS.md</a:t>
            </a:r>
            <a:endParaRPr lang="en-US" sz="1200" dirty="0"/>
          </a:p>
        </p:txBody>
      </p:sp>
      <p:sp>
        <p:nvSpPr>
          <p:cNvPr id="17" name="Text 15"/>
          <p:cNvSpPr/>
          <p:nvPr/>
        </p:nvSpPr>
        <p:spPr>
          <a:xfrm>
            <a:off x="6350000" y="4349700"/>
            <a:ext cx="2197608"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E42A0"/>
                </a:solidFill>
                <a:latin typeface="DM Sans" pitchFamily="34" charset="0"/>
                <a:ea typeface="DM Sans" pitchFamily="34" charset="-122"/>
                <a:cs typeface="DM Sans" pitchFamily="34" charset="-120"/>
              </a:rPr>
              <a:t>context engineering</a:t>
            </a:r>
            <a:endParaRPr lang="en-US" sz="1200" dirty="0"/>
          </a:p>
        </p:txBody>
      </p:sp>
      <p:sp>
        <p:nvSpPr>
          <p:cNvPr id="18" name="Shape 16"/>
          <p:cNvSpPr/>
          <p:nvPr/>
        </p:nvSpPr>
        <p:spPr>
          <a:xfrm>
            <a:off x="8737600" y="2640360"/>
            <a:ext cx="2641600" cy="2176661"/>
          </a:xfrm>
          <a:custGeom>
            <a:avLst/>
            <a:gdLst/>
            <a:ahLst/>
            <a:cxnLst/>
            <a:rect l="l" t="t" r="r" b="b"/>
            <a:pathLst>
              <a:path w="2641600" h="2176661">
                <a:moveTo>
                  <a:pt x="0" y="0"/>
                </a:moveTo>
                <a:lnTo>
                  <a:pt x="2489200" y="0"/>
                </a:lnTo>
                <a:arcTo hR="152400" wR="152400" stAng="16200000" swAng="5400000"/>
                <a:lnTo>
                  <a:pt x="2641600" y="2024261"/>
                </a:lnTo>
                <a:arcTo hR="152400" wR="152400" stAng="0" swAng="5400000"/>
                <a:lnTo>
                  <a:pt x="0" y="2176661"/>
                </a:lnTo>
                <a:lnTo>
                  <a:pt x="0" y="0"/>
                </a:lnTo>
                <a:close/>
              </a:path>
            </a:pathLst>
          </a:custGeom>
          <a:solidFill>
            <a:srgbClr val="5A5ED6"/>
          </a:solidFill>
          <a:ln/>
        </p:spPr>
      </p:sp>
      <p:sp>
        <p:nvSpPr>
          <p:cNvPr id="19" name="Text 17"/>
          <p:cNvSpPr/>
          <p:nvPr/>
        </p:nvSpPr>
        <p:spPr>
          <a:xfrm>
            <a:off x="8991600" y="2894360"/>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CFCFE"/>
                </a:solidFill>
                <a:latin typeface="JetBrains Mono" pitchFamily="49" charset="0"/>
                <a:ea typeface="JetBrains Mono" pitchFamily="49" charset="-122"/>
                <a:cs typeface="JetBrains Mono" pitchFamily="49" charset="-120"/>
              </a:rPr>
              <a:t>2026</a:t>
            </a:r>
            <a:endParaRPr lang="en-US" sz="1200" dirty="0"/>
          </a:p>
        </p:txBody>
      </p:sp>
      <p:sp>
        <p:nvSpPr>
          <p:cNvPr id="20" name="Text 18"/>
          <p:cNvSpPr/>
          <p:nvPr/>
        </p:nvSpPr>
        <p:spPr>
          <a:xfrm>
            <a:off x="8991600" y="3183880"/>
            <a:ext cx="2197608" cy="55116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CFCFE"/>
                </a:solidFill>
                <a:latin typeface="DM Sans" pitchFamily="34" charset="0"/>
                <a:ea typeface="DM Sans" pitchFamily="34" charset="-122"/>
                <a:cs typeface="DM Sans" pitchFamily="34" charset="-120"/>
              </a:rPr>
              <a:t>Harness engineering</a:t>
            </a:r>
            <a:endParaRPr lang="en-US" sz="1800" dirty="0"/>
          </a:p>
        </p:txBody>
      </p:sp>
      <p:sp>
        <p:nvSpPr>
          <p:cNvPr id="21" name="Text 19"/>
          <p:cNvSpPr/>
          <p:nvPr/>
        </p:nvSpPr>
        <p:spPr>
          <a:xfrm>
            <a:off x="8991600" y="3785840"/>
            <a:ext cx="219760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CFCFE"/>
                </a:solidFill>
                <a:latin typeface="DM Sans" pitchFamily="34" charset="0"/>
                <a:ea typeface="DM Sans" pitchFamily="34" charset="-122"/>
                <a:cs typeface="DM Sans" pitchFamily="34" charset="-120"/>
              </a:rPr>
              <a:t>Guides, sensors, automated harnesses</a:t>
            </a:r>
            <a:endParaRPr lang="en-US" sz="1200" dirty="0"/>
          </a:p>
        </p:txBody>
      </p:sp>
      <p:sp>
        <p:nvSpPr>
          <p:cNvPr id="22" name="Text 20"/>
          <p:cNvSpPr/>
          <p:nvPr/>
        </p:nvSpPr>
        <p:spPr>
          <a:xfrm>
            <a:off x="8991600" y="4349700"/>
            <a:ext cx="2197608"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FCFCFE"/>
                </a:solidFill>
                <a:latin typeface="DM Sans" pitchFamily="34" charset="0"/>
                <a:ea typeface="DM Sans" pitchFamily="34" charset="-122"/>
                <a:cs typeface="DM Sans" pitchFamily="34" charset="-120"/>
              </a:rPr>
              <a:t>harness engineering</a:t>
            </a:r>
            <a:endParaRPr lang="en-US" sz="1200" dirty="0"/>
          </a:p>
        </p:txBody>
      </p:sp>
      <p:sp>
        <p:nvSpPr>
          <p:cNvPr id="23" name="Text 21"/>
          <p:cNvSpPr/>
          <p:nvPr/>
        </p:nvSpPr>
        <p:spPr>
          <a:xfrm>
            <a:off x="11128425" y="6238280"/>
            <a:ext cx="25077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Eight milestones</a:t>
            </a:r>
            <a:endParaRPr lang="en-US" sz="3200" dirty="0"/>
          </a:p>
        </p:txBody>
      </p:sp>
      <p:sp>
        <p:nvSpPr>
          <p:cNvPr id="3" name="Shape 1"/>
          <p:cNvSpPr/>
          <p:nvPr/>
        </p:nvSpPr>
        <p:spPr>
          <a:xfrm>
            <a:off x="812800" y="2696220"/>
            <a:ext cx="2641600" cy="0"/>
          </a:xfrm>
          <a:prstGeom prst="line">
            <a:avLst/>
          </a:prstGeom>
          <a:noFill/>
          <a:ln w="25400">
            <a:solidFill>
              <a:srgbClr val="C9CFF3"/>
            </a:solidFill>
            <a:prstDash val="solid"/>
          </a:ln>
        </p:spPr>
      </p:sp>
      <p:sp>
        <p:nvSpPr>
          <p:cNvPr id="4" name="Shape 2"/>
          <p:cNvSpPr/>
          <p:nvPr/>
        </p:nvSpPr>
        <p:spPr>
          <a:xfrm>
            <a:off x="812800" y="2607320"/>
            <a:ext cx="177800" cy="177800"/>
          </a:xfrm>
          <a:prstGeom prst="roundRect">
            <a:avLst>
              <a:gd name="adj" fmla="val 50000"/>
            </a:avLst>
          </a:prstGeom>
          <a:solidFill>
            <a:srgbClr val="5A5ED6"/>
          </a:solidFill>
          <a:ln/>
        </p:spPr>
      </p:sp>
      <p:sp>
        <p:nvSpPr>
          <p:cNvPr id="5" name="Text 3"/>
          <p:cNvSpPr/>
          <p:nvPr/>
        </p:nvSpPr>
        <p:spPr>
          <a:xfrm>
            <a:off x="812800" y="2962920"/>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2B8"/>
                </a:solidFill>
                <a:latin typeface="JetBrains Mono" pitchFamily="49" charset="0"/>
                <a:ea typeface="JetBrains Mono" pitchFamily="49" charset="-122"/>
                <a:cs typeface="JetBrains Mono" pitchFamily="49" charset="-120"/>
              </a:rPr>
              <a:t>Oct 2022</a:t>
            </a:r>
            <a:endParaRPr lang="en-US" sz="1200" dirty="0"/>
          </a:p>
        </p:txBody>
      </p:sp>
      <p:sp>
        <p:nvSpPr>
          <p:cNvPr id="6" name="Text 4"/>
          <p:cNvSpPr/>
          <p:nvPr/>
        </p:nvSpPr>
        <p:spPr>
          <a:xfrm>
            <a:off x="812800" y="3252440"/>
            <a:ext cx="256387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B2F45"/>
                </a:solidFill>
                <a:latin typeface="DM Sans" pitchFamily="34" charset="0"/>
                <a:ea typeface="DM Sans" pitchFamily="34" charset="-122"/>
                <a:cs typeface="DM Sans" pitchFamily="34" charset="-120"/>
              </a:rPr>
              <a:t>ReAct</a:t>
            </a:r>
            <a:endParaRPr lang="en-US" sz="1400" dirty="0"/>
          </a:p>
        </p:txBody>
      </p:sp>
      <p:sp>
        <p:nvSpPr>
          <p:cNvPr id="7" name="Shape 5"/>
          <p:cNvSpPr/>
          <p:nvPr/>
        </p:nvSpPr>
        <p:spPr>
          <a:xfrm>
            <a:off x="3454400" y="2696220"/>
            <a:ext cx="2641600" cy="0"/>
          </a:xfrm>
          <a:prstGeom prst="line">
            <a:avLst/>
          </a:prstGeom>
          <a:noFill/>
          <a:ln w="25400">
            <a:solidFill>
              <a:srgbClr val="C9CFF3"/>
            </a:solidFill>
            <a:prstDash val="solid"/>
          </a:ln>
        </p:spPr>
      </p:sp>
      <p:sp>
        <p:nvSpPr>
          <p:cNvPr id="8" name="Shape 6"/>
          <p:cNvSpPr/>
          <p:nvPr/>
        </p:nvSpPr>
        <p:spPr>
          <a:xfrm>
            <a:off x="3454400" y="2607320"/>
            <a:ext cx="177800" cy="177800"/>
          </a:xfrm>
          <a:prstGeom prst="roundRect">
            <a:avLst>
              <a:gd name="adj" fmla="val 50000"/>
            </a:avLst>
          </a:prstGeom>
          <a:solidFill>
            <a:srgbClr val="5A5ED6"/>
          </a:solidFill>
          <a:ln/>
        </p:spPr>
      </p:sp>
      <p:sp>
        <p:nvSpPr>
          <p:cNvPr id="9" name="Text 7"/>
          <p:cNvSpPr/>
          <p:nvPr/>
        </p:nvSpPr>
        <p:spPr>
          <a:xfrm>
            <a:off x="3454400" y="2962920"/>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2B8"/>
                </a:solidFill>
                <a:latin typeface="JetBrains Mono" pitchFamily="49" charset="0"/>
                <a:ea typeface="JetBrains Mono" pitchFamily="49" charset="-122"/>
                <a:cs typeface="JetBrains Mono" pitchFamily="49" charset="-120"/>
              </a:rPr>
              <a:t>May 2024</a:t>
            </a:r>
            <a:endParaRPr lang="en-US" sz="1200" dirty="0"/>
          </a:p>
        </p:txBody>
      </p:sp>
      <p:sp>
        <p:nvSpPr>
          <p:cNvPr id="10" name="Text 8"/>
          <p:cNvSpPr/>
          <p:nvPr/>
        </p:nvSpPr>
        <p:spPr>
          <a:xfrm>
            <a:off x="3454400" y="3252440"/>
            <a:ext cx="256387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B2F45"/>
                </a:solidFill>
                <a:latin typeface="DM Sans" pitchFamily="34" charset="0"/>
                <a:ea typeface="DM Sans" pitchFamily="34" charset="-122"/>
                <a:cs typeface="DM Sans" pitchFamily="34" charset="-120"/>
              </a:rPr>
              <a:t>SWE-agent</a:t>
            </a:r>
            <a:endParaRPr lang="en-US" sz="1400" dirty="0"/>
          </a:p>
        </p:txBody>
      </p:sp>
      <p:sp>
        <p:nvSpPr>
          <p:cNvPr id="11" name="Shape 9"/>
          <p:cNvSpPr/>
          <p:nvPr/>
        </p:nvSpPr>
        <p:spPr>
          <a:xfrm>
            <a:off x="6096000" y="2696220"/>
            <a:ext cx="2641600" cy="0"/>
          </a:xfrm>
          <a:prstGeom prst="line">
            <a:avLst/>
          </a:prstGeom>
          <a:noFill/>
          <a:ln w="25400">
            <a:solidFill>
              <a:srgbClr val="C9CFF3"/>
            </a:solidFill>
            <a:prstDash val="solid"/>
          </a:ln>
        </p:spPr>
      </p:sp>
      <p:sp>
        <p:nvSpPr>
          <p:cNvPr id="12" name="Shape 10"/>
          <p:cNvSpPr/>
          <p:nvPr/>
        </p:nvSpPr>
        <p:spPr>
          <a:xfrm>
            <a:off x="6096000" y="2607320"/>
            <a:ext cx="177800" cy="177800"/>
          </a:xfrm>
          <a:prstGeom prst="roundRect">
            <a:avLst>
              <a:gd name="adj" fmla="val 50000"/>
            </a:avLst>
          </a:prstGeom>
          <a:solidFill>
            <a:srgbClr val="5A5ED6"/>
          </a:solidFill>
          <a:ln/>
        </p:spPr>
      </p:sp>
      <p:sp>
        <p:nvSpPr>
          <p:cNvPr id="13" name="Text 11"/>
          <p:cNvSpPr/>
          <p:nvPr/>
        </p:nvSpPr>
        <p:spPr>
          <a:xfrm>
            <a:off x="6096000" y="2962920"/>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2B8"/>
                </a:solidFill>
                <a:latin typeface="JetBrains Mono" pitchFamily="49" charset="0"/>
                <a:ea typeface="JetBrains Mono" pitchFamily="49" charset="-122"/>
                <a:cs typeface="JetBrains Mono" pitchFamily="49" charset="-120"/>
              </a:rPr>
              <a:t>Nov 2024</a:t>
            </a:r>
            <a:endParaRPr lang="en-US" sz="1200" dirty="0"/>
          </a:p>
        </p:txBody>
      </p:sp>
      <p:sp>
        <p:nvSpPr>
          <p:cNvPr id="14" name="Text 12"/>
          <p:cNvSpPr/>
          <p:nvPr/>
        </p:nvSpPr>
        <p:spPr>
          <a:xfrm>
            <a:off x="6096000" y="3252440"/>
            <a:ext cx="256387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B2F45"/>
                </a:solidFill>
                <a:latin typeface="DM Sans" pitchFamily="34" charset="0"/>
                <a:ea typeface="DM Sans" pitchFamily="34" charset="-122"/>
                <a:cs typeface="DM Sans" pitchFamily="34" charset="-120"/>
              </a:rPr>
              <a:t>MCP</a:t>
            </a:r>
            <a:endParaRPr lang="en-US" sz="1400" dirty="0"/>
          </a:p>
        </p:txBody>
      </p:sp>
      <p:sp>
        <p:nvSpPr>
          <p:cNvPr id="15" name="Shape 13"/>
          <p:cNvSpPr/>
          <p:nvPr/>
        </p:nvSpPr>
        <p:spPr>
          <a:xfrm>
            <a:off x="8737600" y="2696220"/>
            <a:ext cx="2641600" cy="0"/>
          </a:xfrm>
          <a:prstGeom prst="line">
            <a:avLst/>
          </a:prstGeom>
          <a:noFill/>
          <a:ln w="25400">
            <a:solidFill>
              <a:srgbClr val="C9CFF3"/>
            </a:solidFill>
            <a:prstDash val="solid"/>
          </a:ln>
        </p:spPr>
      </p:sp>
      <p:sp>
        <p:nvSpPr>
          <p:cNvPr id="16" name="Shape 14"/>
          <p:cNvSpPr/>
          <p:nvPr/>
        </p:nvSpPr>
        <p:spPr>
          <a:xfrm>
            <a:off x="8737600" y="2607320"/>
            <a:ext cx="177800" cy="177800"/>
          </a:xfrm>
          <a:prstGeom prst="roundRect">
            <a:avLst>
              <a:gd name="adj" fmla="val 50000"/>
            </a:avLst>
          </a:prstGeom>
          <a:solidFill>
            <a:srgbClr val="5A5ED6"/>
          </a:solidFill>
          <a:ln/>
        </p:spPr>
      </p:sp>
      <p:sp>
        <p:nvSpPr>
          <p:cNvPr id="17" name="Text 15"/>
          <p:cNvSpPr/>
          <p:nvPr/>
        </p:nvSpPr>
        <p:spPr>
          <a:xfrm>
            <a:off x="8737600" y="2962920"/>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2B8"/>
                </a:solidFill>
                <a:latin typeface="JetBrains Mono" pitchFamily="49" charset="0"/>
                <a:ea typeface="JetBrains Mono" pitchFamily="49" charset="-122"/>
                <a:cs typeface="JetBrains Mono" pitchFamily="49" charset="-120"/>
              </a:rPr>
              <a:t>Feb 2025</a:t>
            </a:r>
            <a:endParaRPr lang="en-US" sz="1200" dirty="0"/>
          </a:p>
        </p:txBody>
      </p:sp>
      <p:sp>
        <p:nvSpPr>
          <p:cNvPr id="18" name="Text 16"/>
          <p:cNvSpPr/>
          <p:nvPr/>
        </p:nvSpPr>
        <p:spPr>
          <a:xfrm>
            <a:off x="8737600" y="3252440"/>
            <a:ext cx="256387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B2F45"/>
                </a:solidFill>
                <a:latin typeface="DM Sans" pitchFamily="34" charset="0"/>
                <a:ea typeface="DM Sans" pitchFamily="34" charset="-122"/>
                <a:cs typeface="DM Sans" pitchFamily="34" charset="-120"/>
              </a:rPr>
              <a:t>Claude Code</a:t>
            </a:r>
            <a:endParaRPr lang="en-US" sz="1400" dirty="0"/>
          </a:p>
        </p:txBody>
      </p:sp>
      <p:sp>
        <p:nvSpPr>
          <p:cNvPr id="19" name="Shape 17"/>
          <p:cNvSpPr/>
          <p:nvPr/>
        </p:nvSpPr>
        <p:spPr>
          <a:xfrm>
            <a:off x="812800" y="3995390"/>
            <a:ext cx="2641600" cy="0"/>
          </a:xfrm>
          <a:prstGeom prst="line">
            <a:avLst/>
          </a:prstGeom>
          <a:noFill/>
          <a:ln w="25400">
            <a:solidFill>
              <a:srgbClr val="C9CFF3"/>
            </a:solidFill>
            <a:prstDash val="solid"/>
          </a:ln>
        </p:spPr>
      </p:sp>
      <p:sp>
        <p:nvSpPr>
          <p:cNvPr id="20" name="Shape 18"/>
          <p:cNvSpPr/>
          <p:nvPr/>
        </p:nvSpPr>
        <p:spPr>
          <a:xfrm>
            <a:off x="812800" y="3906490"/>
            <a:ext cx="177800" cy="177800"/>
          </a:xfrm>
          <a:prstGeom prst="roundRect">
            <a:avLst>
              <a:gd name="adj" fmla="val 50000"/>
            </a:avLst>
          </a:prstGeom>
          <a:solidFill>
            <a:srgbClr val="5A5ED6"/>
          </a:solidFill>
          <a:ln/>
        </p:spPr>
      </p:sp>
      <p:sp>
        <p:nvSpPr>
          <p:cNvPr id="21" name="Text 19"/>
          <p:cNvSpPr/>
          <p:nvPr/>
        </p:nvSpPr>
        <p:spPr>
          <a:xfrm>
            <a:off x="812800" y="4262090"/>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2B8"/>
                </a:solidFill>
                <a:latin typeface="JetBrains Mono" pitchFamily="49" charset="0"/>
                <a:ea typeface="JetBrains Mono" pitchFamily="49" charset="-122"/>
                <a:cs typeface="JetBrains Mono" pitchFamily="49" charset="-120"/>
              </a:rPr>
              <a:t>Jun 2025</a:t>
            </a:r>
            <a:endParaRPr lang="en-US" sz="1200" dirty="0"/>
          </a:p>
        </p:txBody>
      </p:sp>
      <p:sp>
        <p:nvSpPr>
          <p:cNvPr id="22" name="Text 20"/>
          <p:cNvSpPr/>
          <p:nvPr/>
        </p:nvSpPr>
        <p:spPr>
          <a:xfrm>
            <a:off x="812800" y="4551611"/>
            <a:ext cx="256387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B2F45"/>
                </a:solidFill>
                <a:latin typeface="DM Sans" pitchFamily="34" charset="0"/>
                <a:ea typeface="DM Sans" pitchFamily="34" charset="-122"/>
                <a:cs typeface="DM Sans" pitchFamily="34" charset="-120"/>
              </a:rPr>
              <a:t>Context engineering</a:t>
            </a:r>
            <a:endParaRPr lang="en-US" sz="1400" dirty="0"/>
          </a:p>
        </p:txBody>
      </p:sp>
      <p:sp>
        <p:nvSpPr>
          <p:cNvPr id="23" name="Shape 21"/>
          <p:cNvSpPr/>
          <p:nvPr/>
        </p:nvSpPr>
        <p:spPr>
          <a:xfrm>
            <a:off x="3454400" y="3995390"/>
            <a:ext cx="2641600" cy="0"/>
          </a:xfrm>
          <a:prstGeom prst="line">
            <a:avLst/>
          </a:prstGeom>
          <a:noFill/>
          <a:ln w="25400">
            <a:solidFill>
              <a:srgbClr val="C9CFF3"/>
            </a:solidFill>
            <a:prstDash val="solid"/>
          </a:ln>
        </p:spPr>
      </p:sp>
      <p:sp>
        <p:nvSpPr>
          <p:cNvPr id="24" name="Shape 22"/>
          <p:cNvSpPr/>
          <p:nvPr/>
        </p:nvSpPr>
        <p:spPr>
          <a:xfrm>
            <a:off x="3454400" y="3906490"/>
            <a:ext cx="177800" cy="177800"/>
          </a:xfrm>
          <a:prstGeom prst="roundRect">
            <a:avLst>
              <a:gd name="adj" fmla="val 50000"/>
            </a:avLst>
          </a:prstGeom>
          <a:solidFill>
            <a:srgbClr val="5A5ED6"/>
          </a:solidFill>
          <a:ln/>
        </p:spPr>
      </p:sp>
      <p:sp>
        <p:nvSpPr>
          <p:cNvPr id="25" name="Text 23"/>
          <p:cNvSpPr/>
          <p:nvPr/>
        </p:nvSpPr>
        <p:spPr>
          <a:xfrm>
            <a:off x="3454400" y="4262090"/>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2B8"/>
                </a:solidFill>
                <a:latin typeface="JetBrains Mono" pitchFamily="49" charset="0"/>
                <a:ea typeface="JetBrains Mono" pitchFamily="49" charset="-122"/>
                <a:cs typeface="JetBrains Mono" pitchFamily="49" charset="-120"/>
              </a:rPr>
              <a:t>Aug 2025</a:t>
            </a:r>
            <a:endParaRPr lang="en-US" sz="1200" dirty="0"/>
          </a:p>
        </p:txBody>
      </p:sp>
      <p:sp>
        <p:nvSpPr>
          <p:cNvPr id="26" name="Text 24"/>
          <p:cNvSpPr/>
          <p:nvPr/>
        </p:nvSpPr>
        <p:spPr>
          <a:xfrm>
            <a:off x="3454400" y="4551611"/>
            <a:ext cx="256387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B2F45"/>
                </a:solidFill>
                <a:latin typeface="DM Sans" pitchFamily="34" charset="0"/>
                <a:ea typeface="DM Sans" pitchFamily="34" charset="-122"/>
                <a:cs typeface="DM Sans" pitchFamily="34" charset="-120"/>
              </a:rPr>
              <a:t>AGENTS.md</a:t>
            </a:r>
            <a:endParaRPr lang="en-US" sz="1400" dirty="0"/>
          </a:p>
        </p:txBody>
      </p:sp>
      <p:sp>
        <p:nvSpPr>
          <p:cNvPr id="27" name="Shape 25"/>
          <p:cNvSpPr/>
          <p:nvPr/>
        </p:nvSpPr>
        <p:spPr>
          <a:xfrm>
            <a:off x="6096000" y="3995390"/>
            <a:ext cx="2641600" cy="0"/>
          </a:xfrm>
          <a:prstGeom prst="line">
            <a:avLst/>
          </a:prstGeom>
          <a:noFill/>
          <a:ln w="25400">
            <a:solidFill>
              <a:srgbClr val="C9CFF3"/>
            </a:solidFill>
            <a:prstDash val="solid"/>
          </a:ln>
        </p:spPr>
      </p:sp>
      <p:sp>
        <p:nvSpPr>
          <p:cNvPr id="28" name="Shape 26"/>
          <p:cNvSpPr/>
          <p:nvPr/>
        </p:nvSpPr>
        <p:spPr>
          <a:xfrm>
            <a:off x="6096000" y="3906490"/>
            <a:ext cx="177800" cy="177800"/>
          </a:xfrm>
          <a:prstGeom prst="roundRect">
            <a:avLst>
              <a:gd name="adj" fmla="val 50000"/>
            </a:avLst>
          </a:prstGeom>
          <a:solidFill>
            <a:srgbClr val="5A5ED6"/>
          </a:solidFill>
          <a:ln/>
        </p:spPr>
      </p:sp>
      <p:sp>
        <p:nvSpPr>
          <p:cNvPr id="29" name="Text 27"/>
          <p:cNvSpPr/>
          <p:nvPr/>
        </p:nvSpPr>
        <p:spPr>
          <a:xfrm>
            <a:off x="6096000" y="4262090"/>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2B8"/>
                </a:solidFill>
                <a:latin typeface="JetBrains Mono" pitchFamily="49" charset="0"/>
                <a:ea typeface="JetBrains Mono" pitchFamily="49" charset="-122"/>
                <a:cs typeface="JetBrains Mono" pitchFamily="49" charset="-120"/>
              </a:rPr>
              <a:t>Feb 2026</a:t>
            </a:r>
            <a:endParaRPr lang="en-US" sz="1200" dirty="0"/>
          </a:p>
        </p:txBody>
      </p:sp>
      <p:sp>
        <p:nvSpPr>
          <p:cNvPr id="30" name="Text 28"/>
          <p:cNvSpPr/>
          <p:nvPr/>
        </p:nvSpPr>
        <p:spPr>
          <a:xfrm>
            <a:off x="6096000" y="4551611"/>
            <a:ext cx="256387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B2F45"/>
                </a:solidFill>
                <a:latin typeface="DM Sans" pitchFamily="34" charset="0"/>
                <a:ea typeface="DM Sans" pitchFamily="34" charset="-122"/>
                <a:cs typeface="DM Sans" pitchFamily="34" charset="-120"/>
              </a:rPr>
              <a:t>Harness engineering</a:t>
            </a:r>
            <a:endParaRPr lang="en-US" sz="1400" dirty="0"/>
          </a:p>
        </p:txBody>
      </p:sp>
      <p:sp>
        <p:nvSpPr>
          <p:cNvPr id="31" name="Shape 29"/>
          <p:cNvSpPr/>
          <p:nvPr/>
        </p:nvSpPr>
        <p:spPr>
          <a:xfrm>
            <a:off x="8737600" y="3995390"/>
            <a:ext cx="2641600" cy="0"/>
          </a:xfrm>
          <a:prstGeom prst="line">
            <a:avLst/>
          </a:prstGeom>
          <a:noFill/>
          <a:ln w="25400">
            <a:solidFill>
              <a:srgbClr val="C9CFF3"/>
            </a:solidFill>
            <a:prstDash val="solid"/>
          </a:ln>
        </p:spPr>
      </p:sp>
      <p:sp>
        <p:nvSpPr>
          <p:cNvPr id="32" name="Shape 30"/>
          <p:cNvSpPr/>
          <p:nvPr/>
        </p:nvSpPr>
        <p:spPr>
          <a:xfrm>
            <a:off x="8737600" y="3906490"/>
            <a:ext cx="177800" cy="177800"/>
          </a:xfrm>
          <a:prstGeom prst="roundRect">
            <a:avLst>
              <a:gd name="adj" fmla="val 50000"/>
            </a:avLst>
          </a:prstGeom>
          <a:solidFill>
            <a:srgbClr val="5A5ED6"/>
          </a:solidFill>
          <a:ln/>
        </p:spPr>
      </p:sp>
      <p:sp>
        <p:nvSpPr>
          <p:cNvPr id="33" name="Text 31"/>
          <p:cNvSpPr/>
          <p:nvPr/>
        </p:nvSpPr>
        <p:spPr>
          <a:xfrm>
            <a:off x="8737600" y="4262090"/>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2B8"/>
                </a:solidFill>
                <a:latin typeface="JetBrains Mono" pitchFamily="49" charset="0"/>
                <a:ea typeface="JetBrains Mono" pitchFamily="49" charset="-122"/>
                <a:cs typeface="JetBrains Mono" pitchFamily="49" charset="-120"/>
              </a:rPr>
              <a:t>Mar 2026</a:t>
            </a:r>
            <a:endParaRPr lang="en-US" sz="1200" dirty="0"/>
          </a:p>
        </p:txBody>
      </p:sp>
      <p:sp>
        <p:nvSpPr>
          <p:cNvPr id="34" name="Text 32"/>
          <p:cNvSpPr/>
          <p:nvPr/>
        </p:nvSpPr>
        <p:spPr>
          <a:xfrm>
            <a:off x="8737600" y="4551611"/>
            <a:ext cx="256387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B2F45"/>
                </a:solidFill>
                <a:latin typeface="DM Sans" pitchFamily="34" charset="0"/>
                <a:ea typeface="DM Sans" pitchFamily="34" charset="-122"/>
                <a:cs typeface="DM Sans" pitchFamily="34" charset="-120"/>
              </a:rPr>
              <a:t>Agent = Model + Harness</a:t>
            </a:r>
            <a:endParaRPr lang="en-US" sz="1400" dirty="0"/>
          </a:p>
        </p:txBody>
      </p:sp>
      <p:sp>
        <p:nvSpPr>
          <p:cNvPr id="35" name="Text 33"/>
          <p:cNvSpPr/>
          <p:nvPr/>
        </p:nvSpPr>
        <p:spPr>
          <a:xfrm>
            <a:off x="812800" y="6238280"/>
            <a:ext cx="4853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Spacing not to scale · dates and sources in speaker notes</a:t>
            </a:r>
            <a:endParaRPr lang="en-US" sz="1200" dirty="0"/>
          </a:p>
        </p:txBody>
      </p:sp>
      <p:sp>
        <p:nvSpPr>
          <p:cNvPr id="36" name="Text 34"/>
          <p:cNvSpPr/>
          <p:nvPr/>
        </p:nvSpPr>
        <p:spPr>
          <a:xfrm>
            <a:off x="11176595" y="6238280"/>
            <a:ext cx="20260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OpenAI: zero lines written by hand</a:t>
            </a:r>
            <a:endParaRPr lang="en-US" sz="3200" dirty="0"/>
          </a:p>
        </p:txBody>
      </p:sp>
      <p:sp>
        <p:nvSpPr>
          <p:cNvPr id="3" name="Shape 1"/>
          <p:cNvSpPr/>
          <p:nvPr/>
        </p:nvSpPr>
        <p:spPr>
          <a:xfrm>
            <a:off x="815975" y="2545110"/>
            <a:ext cx="3380284" cy="1703040"/>
          </a:xfrm>
          <a:prstGeom prst="roundRect">
            <a:avLst>
              <a:gd name="adj" fmla="val 8762"/>
            </a:avLst>
          </a:prstGeom>
          <a:solidFill>
            <a:srgbClr val="FCFCFE"/>
          </a:solidFill>
          <a:ln w="6350">
            <a:solidFill>
              <a:srgbClr val="E1E4F2"/>
            </a:solidFill>
            <a:prstDash val="solid"/>
          </a:ln>
        </p:spPr>
      </p:sp>
      <p:sp>
        <p:nvSpPr>
          <p:cNvPr id="4" name="Text 2"/>
          <p:cNvSpPr/>
          <p:nvPr/>
        </p:nvSpPr>
        <p:spPr>
          <a:xfrm>
            <a:off x="1123950" y="2853085"/>
            <a:ext cx="2847264" cy="787400"/>
          </a:xfrm>
          <a:prstGeom prst="rect">
            <a:avLst/>
          </a:prstGeom>
          <a:noFill/>
          <a:ln/>
        </p:spPr>
        <p:txBody>
          <a:bodyPr wrap="square" lIns="0" tIns="0" rIns="0" bIns="0" rtlCol="0" anchor="t">
            <a:normAutofit/>
          </a:bodyPr>
          <a:lstStyle/>
          <a:p>
            <a:pPr algn="l" indent="0" marL="0">
              <a:lnSpc>
                <a:spcPts val="6000"/>
              </a:lnSpc>
              <a:buNone/>
            </a:pPr>
            <a:r>
              <a:rPr lang="en-US" sz="6000" b="1" spc="-100" kern="0" dirty="0">
                <a:solidFill>
                  <a:srgbClr val="6C70E0"/>
                </a:solidFill>
                <a:latin typeface="DM Sans" pitchFamily="34" charset="0"/>
                <a:ea typeface="DM Sans" pitchFamily="34" charset="-122"/>
                <a:cs typeface="DM Sans" pitchFamily="34" charset="-120"/>
              </a:rPr>
              <a:t>~1M</a:t>
            </a:r>
            <a:endParaRPr lang="en-US" sz="6000" dirty="0"/>
          </a:p>
        </p:txBody>
      </p:sp>
      <p:sp>
        <p:nvSpPr>
          <p:cNvPr id="5" name="Text 3"/>
          <p:cNvSpPr/>
          <p:nvPr/>
        </p:nvSpPr>
        <p:spPr>
          <a:xfrm>
            <a:off x="1123950" y="3691285"/>
            <a:ext cx="284726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lines of code in five months</a:t>
            </a:r>
            <a:endParaRPr lang="en-US" sz="1400" dirty="0"/>
          </a:p>
        </p:txBody>
      </p:sp>
      <p:sp>
        <p:nvSpPr>
          <p:cNvPr id="6" name="Shape 4"/>
          <p:cNvSpPr/>
          <p:nvPr/>
        </p:nvSpPr>
        <p:spPr>
          <a:xfrm>
            <a:off x="4405809" y="2545110"/>
            <a:ext cx="3380333" cy="1703040"/>
          </a:xfrm>
          <a:prstGeom prst="roundRect">
            <a:avLst>
              <a:gd name="adj" fmla="val 8762"/>
            </a:avLst>
          </a:prstGeom>
          <a:solidFill>
            <a:srgbClr val="FCFCFE"/>
          </a:solidFill>
          <a:ln w="6350">
            <a:solidFill>
              <a:srgbClr val="E1E4F2"/>
            </a:solidFill>
            <a:prstDash val="solid"/>
          </a:ln>
        </p:spPr>
      </p:sp>
      <p:sp>
        <p:nvSpPr>
          <p:cNvPr id="7" name="Text 5"/>
          <p:cNvSpPr/>
          <p:nvPr/>
        </p:nvSpPr>
        <p:spPr>
          <a:xfrm>
            <a:off x="4713784" y="2853085"/>
            <a:ext cx="2847315" cy="787400"/>
          </a:xfrm>
          <a:prstGeom prst="rect">
            <a:avLst/>
          </a:prstGeom>
          <a:noFill/>
          <a:ln/>
        </p:spPr>
        <p:txBody>
          <a:bodyPr wrap="square" lIns="0" tIns="0" rIns="0" bIns="0" rtlCol="0" anchor="t">
            <a:normAutofit/>
          </a:bodyPr>
          <a:lstStyle/>
          <a:p>
            <a:pPr algn="l" indent="0" marL="0">
              <a:lnSpc>
                <a:spcPts val="6000"/>
              </a:lnSpc>
              <a:buNone/>
            </a:pPr>
            <a:r>
              <a:rPr lang="en-US" sz="6000" b="1" spc="-100" kern="0" dirty="0">
                <a:solidFill>
                  <a:srgbClr val="6C70E0"/>
                </a:solidFill>
                <a:latin typeface="DM Sans" pitchFamily="34" charset="0"/>
                <a:ea typeface="DM Sans" pitchFamily="34" charset="-122"/>
                <a:cs typeface="DM Sans" pitchFamily="34" charset="-120"/>
              </a:rPr>
              <a:t>~1,500</a:t>
            </a:r>
            <a:endParaRPr lang="en-US" sz="6000" dirty="0"/>
          </a:p>
        </p:txBody>
      </p:sp>
      <p:sp>
        <p:nvSpPr>
          <p:cNvPr id="8" name="Text 6"/>
          <p:cNvSpPr/>
          <p:nvPr/>
        </p:nvSpPr>
        <p:spPr>
          <a:xfrm>
            <a:off x="4713784" y="3691285"/>
            <a:ext cx="284731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merged pull requests</a:t>
            </a:r>
            <a:endParaRPr lang="en-US" sz="1400" dirty="0"/>
          </a:p>
        </p:txBody>
      </p:sp>
      <p:sp>
        <p:nvSpPr>
          <p:cNvPr id="9" name="Shape 7"/>
          <p:cNvSpPr/>
          <p:nvPr/>
        </p:nvSpPr>
        <p:spPr>
          <a:xfrm>
            <a:off x="7995692" y="2545110"/>
            <a:ext cx="3380333" cy="1703040"/>
          </a:xfrm>
          <a:prstGeom prst="roundRect">
            <a:avLst>
              <a:gd name="adj" fmla="val 8762"/>
            </a:avLst>
          </a:prstGeom>
          <a:solidFill>
            <a:srgbClr val="FCFCFE"/>
          </a:solidFill>
          <a:ln w="6350">
            <a:solidFill>
              <a:srgbClr val="E1E4F2"/>
            </a:solidFill>
            <a:prstDash val="solid"/>
          </a:ln>
        </p:spPr>
      </p:sp>
      <p:sp>
        <p:nvSpPr>
          <p:cNvPr id="10" name="Text 8"/>
          <p:cNvSpPr/>
          <p:nvPr/>
        </p:nvSpPr>
        <p:spPr>
          <a:xfrm>
            <a:off x="8303667" y="2853085"/>
            <a:ext cx="2847315" cy="787400"/>
          </a:xfrm>
          <a:prstGeom prst="rect">
            <a:avLst/>
          </a:prstGeom>
          <a:noFill/>
          <a:ln/>
        </p:spPr>
        <p:txBody>
          <a:bodyPr wrap="square" lIns="0" tIns="0" rIns="0" bIns="0" rtlCol="0" anchor="t">
            <a:normAutofit/>
          </a:bodyPr>
          <a:lstStyle/>
          <a:p>
            <a:pPr algn="l" indent="0" marL="0">
              <a:lnSpc>
                <a:spcPts val="6000"/>
              </a:lnSpc>
              <a:buNone/>
            </a:pPr>
            <a:r>
              <a:rPr lang="en-US" sz="6000" b="1" spc="-100" kern="0" dirty="0">
                <a:solidFill>
                  <a:srgbClr val="6C70E0"/>
                </a:solidFill>
                <a:latin typeface="DM Sans" pitchFamily="34" charset="0"/>
                <a:ea typeface="DM Sans" pitchFamily="34" charset="-122"/>
                <a:cs typeface="DM Sans" pitchFamily="34" charset="-120"/>
              </a:rPr>
              <a:t>3.5</a:t>
            </a:r>
            <a:endParaRPr lang="en-US" sz="6000" dirty="0"/>
          </a:p>
        </p:txBody>
      </p:sp>
      <p:sp>
        <p:nvSpPr>
          <p:cNvPr id="11" name="Text 9"/>
          <p:cNvSpPr/>
          <p:nvPr/>
        </p:nvSpPr>
        <p:spPr>
          <a:xfrm>
            <a:off x="8303667" y="3691285"/>
            <a:ext cx="284731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PRs per engineer per day</a:t>
            </a:r>
            <a:endParaRPr lang="en-US" sz="1400" dirty="0"/>
          </a:p>
        </p:txBody>
      </p:sp>
      <p:sp>
        <p:nvSpPr>
          <p:cNvPr id="12" name="Text 10"/>
          <p:cNvSpPr/>
          <p:nvPr/>
        </p:nvSpPr>
        <p:spPr>
          <a:xfrm>
            <a:off x="812800" y="4606925"/>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2B2F45"/>
                </a:solidFill>
                <a:latin typeface="DM Sans" pitchFamily="34" charset="0"/>
                <a:ea typeface="DM Sans" pitchFamily="34" charset="-122"/>
                <a:cs typeface="DM Sans" pitchFamily="34" charset="-120"/>
              </a:rPr>
              <a:t>“Humans steer. Agents execute.”</a:t>
            </a:r>
            <a:endParaRPr lang="en-US" sz="1800" dirty="0"/>
          </a:p>
        </p:txBody>
      </p:sp>
      <p:sp>
        <p:nvSpPr>
          <p:cNvPr id="13" name="Text 11"/>
          <p:cNvSpPr/>
          <p:nvPr/>
        </p:nvSpPr>
        <p:spPr>
          <a:xfrm>
            <a:off x="812800" y="6238280"/>
            <a:ext cx="55650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Source: Ryan Lopopolo, OpenAI, “Harness engineering” (Feb 2026)</a:t>
            </a:r>
            <a:endParaRPr lang="en-US" sz="1200" dirty="0"/>
          </a:p>
        </p:txBody>
      </p:sp>
      <p:sp>
        <p:nvSpPr>
          <p:cNvPr id="14" name="Text 12"/>
          <p:cNvSpPr/>
          <p:nvPr/>
        </p:nvSpPr>
        <p:spPr>
          <a:xfrm>
            <a:off x="11233299" y="6238280"/>
            <a:ext cx="14590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Separate the builder from the judge</a:t>
            </a:r>
            <a:endParaRPr lang="en-US" sz="3200" dirty="0"/>
          </a:p>
        </p:txBody>
      </p:sp>
      <p:sp>
        <p:nvSpPr>
          <p:cNvPr id="3" name="Shape 1"/>
          <p:cNvSpPr/>
          <p:nvPr/>
        </p:nvSpPr>
        <p:spPr>
          <a:xfrm>
            <a:off x="815975" y="2643535"/>
            <a:ext cx="3062784" cy="783580"/>
          </a:xfrm>
          <a:prstGeom prst="roundRect">
            <a:avLst>
              <a:gd name="adj" fmla="val 19044"/>
            </a:avLst>
          </a:prstGeom>
          <a:solidFill>
            <a:srgbClr val="FCFCFE"/>
          </a:solidFill>
          <a:ln w="6350">
            <a:solidFill>
              <a:srgbClr val="E1E4F2"/>
            </a:solidFill>
            <a:prstDash val="solid"/>
          </a:ln>
        </p:spPr>
      </p:sp>
      <p:pic>
        <p:nvPicPr>
          <p:cNvPr id="4" name="Image 0" descr="Lightbulb">    </p:cNvPr>
          <p:cNvPicPr>
            <a:picLocks noChangeAspect="1"/>
          </p:cNvPicPr>
          <p:nvPr/>
        </p:nvPicPr>
        <p:blipFill>
          <a:blip r:embed="rId1"/>
          <a:srcRect l="0" r="0" t="0" b="0"/>
          <a:stretch/>
        </p:blipFill>
        <p:spPr>
          <a:xfrm>
            <a:off x="1719808" y="2882900"/>
            <a:ext cx="304800" cy="304800"/>
          </a:xfrm>
          <a:prstGeom prst="rect">
            <a:avLst/>
          </a:prstGeom>
        </p:spPr>
      </p:pic>
      <p:sp>
        <p:nvSpPr>
          <p:cNvPr id="5" name="Text 2"/>
          <p:cNvSpPr/>
          <p:nvPr/>
        </p:nvSpPr>
        <p:spPr>
          <a:xfrm>
            <a:off x="2126208" y="2875310"/>
            <a:ext cx="1018461"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2F45"/>
                </a:solidFill>
                <a:latin typeface="DM Sans" pitchFamily="34" charset="0"/>
                <a:ea typeface="DM Sans" pitchFamily="34" charset="-122"/>
                <a:cs typeface="DM Sans" pitchFamily="34" charset="-120"/>
              </a:rPr>
              <a:t>Planner</a:t>
            </a:r>
            <a:endParaRPr lang="en-US" sz="1800" dirty="0"/>
          </a:p>
        </p:txBody>
      </p:sp>
      <p:pic>
        <p:nvPicPr>
          <p:cNvPr id="6" name="Image 1" descr="arrow-right">    </p:cNvPr>
          <p:cNvPicPr>
            <a:picLocks noChangeAspect="1"/>
          </p:cNvPicPr>
          <p:nvPr/>
        </p:nvPicPr>
        <p:blipFill>
          <a:blip r:embed="rId2"/>
          <a:srcRect l="0" r="0" t="0" b="0"/>
          <a:stretch/>
        </p:blipFill>
        <p:spPr>
          <a:xfrm>
            <a:off x="4034334" y="2959100"/>
            <a:ext cx="304800" cy="152400"/>
          </a:xfrm>
          <a:prstGeom prst="rect">
            <a:avLst/>
          </a:prstGeom>
        </p:spPr>
      </p:pic>
      <p:sp>
        <p:nvSpPr>
          <p:cNvPr id="7" name="Shape 3"/>
          <p:cNvSpPr/>
          <p:nvPr/>
        </p:nvSpPr>
        <p:spPr>
          <a:xfrm>
            <a:off x="4494709" y="2643535"/>
            <a:ext cx="3062833" cy="783580"/>
          </a:xfrm>
          <a:prstGeom prst="roundRect">
            <a:avLst>
              <a:gd name="adj" fmla="val 19044"/>
            </a:avLst>
          </a:prstGeom>
          <a:solidFill>
            <a:srgbClr val="FCFCFE"/>
          </a:solidFill>
          <a:ln w="6350">
            <a:solidFill>
              <a:srgbClr val="E1E4F2"/>
            </a:solidFill>
            <a:prstDash val="solid"/>
          </a:ln>
        </p:spPr>
      </p:sp>
      <p:pic>
        <p:nvPicPr>
          <p:cNvPr id="8" name="Image 2" descr="Code">    </p:cNvPr>
          <p:cNvPicPr>
            <a:picLocks noChangeAspect="1"/>
          </p:cNvPicPr>
          <p:nvPr/>
        </p:nvPicPr>
        <p:blipFill>
          <a:blip r:embed="rId3"/>
          <a:srcRect l="0" r="0" t="0" b="0"/>
          <a:stretch/>
        </p:blipFill>
        <p:spPr>
          <a:xfrm>
            <a:off x="5248275" y="2882900"/>
            <a:ext cx="304800" cy="304800"/>
          </a:xfrm>
          <a:prstGeom prst="rect">
            <a:avLst/>
          </a:prstGeom>
        </p:spPr>
      </p:pic>
      <p:sp>
        <p:nvSpPr>
          <p:cNvPr id="9" name="Text 4"/>
          <p:cNvSpPr/>
          <p:nvPr/>
        </p:nvSpPr>
        <p:spPr>
          <a:xfrm>
            <a:off x="5654675" y="2875310"/>
            <a:ext cx="1379101"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2F45"/>
                </a:solidFill>
                <a:latin typeface="DM Sans" pitchFamily="34" charset="0"/>
                <a:ea typeface="DM Sans" pitchFamily="34" charset="-122"/>
                <a:cs typeface="DM Sans" pitchFamily="34" charset="-120"/>
              </a:rPr>
              <a:t>Generator</a:t>
            </a:r>
            <a:endParaRPr lang="en-US" sz="1800" dirty="0"/>
          </a:p>
        </p:txBody>
      </p:sp>
      <p:pic>
        <p:nvPicPr>
          <p:cNvPr id="10" name="Image 3" descr="connector">    </p:cNvPr>
          <p:cNvPicPr>
            <a:picLocks noChangeAspect="1"/>
          </p:cNvPicPr>
          <p:nvPr/>
        </p:nvPicPr>
        <p:blipFill>
          <a:blip r:embed="rId4"/>
          <a:srcRect l="0" r="0" t="0" b="0"/>
          <a:stretch/>
        </p:blipFill>
        <p:spPr>
          <a:xfrm>
            <a:off x="7713117" y="2997200"/>
            <a:ext cx="457200" cy="76200"/>
          </a:xfrm>
          <a:prstGeom prst="rect">
            <a:avLst/>
          </a:prstGeom>
        </p:spPr>
      </p:pic>
      <p:sp>
        <p:nvSpPr>
          <p:cNvPr id="11" name="Shape 5"/>
          <p:cNvSpPr/>
          <p:nvPr/>
        </p:nvSpPr>
        <p:spPr>
          <a:xfrm>
            <a:off x="8322717" y="2640360"/>
            <a:ext cx="3056483" cy="789930"/>
          </a:xfrm>
          <a:prstGeom prst="roundRect">
            <a:avLst>
              <a:gd name="adj" fmla="val 19293"/>
            </a:avLst>
          </a:prstGeom>
          <a:solidFill>
            <a:srgbClr val="ECEDF1"/>
          </a:solidFill>
          <a:ln/>
        </p:spPr>
      </p:sp>
      <p:pic>
        <p:nvPicPr>
          <p:cNvPr id="12" name="Image 4" descr="Search">    </p:cNvPr>
          <p:cNvPicPr>
            <a:picLocks noChangeAspect="1"/>
          </p:cNvPicPr>
          <p:nvPr/>
        </p:nvPicPr>
        <p:blipFill>
          <a:blip r:embed="rId5"/>
          <a:srcRect l="0" r="0" t="0" b="0"/>
          <a:stretch/>
        </p:blipFill>
        <p:spPr>
          <a:xfrm>
            <a:off x="9121180" y="2882900"/>
            <a:ext cx="304800" cy="304800"/>
          </a:xfrm>
          <a:prstGeom prst="rect">
            <a:avLst/>
          </a:prstGeom>
        </p:spPr>
      </p:pic>
      <p:sp>
        <p:nvSpPr>
          <p:cNvPr id="13" name="Text 6"/>
          <p:cNvSpPr/>
          <p:nvPr/>
        </p:nvSpPr>
        <p:spPr>
          <a:xfrm>
            <a:off x="9527580" y="2875310"/>
            <a:ext cx="1263789"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4A4F63"/>
                </a:solidFill>
                <a:latin typeface="DM Sans" pitchFamily="34" charset="0"/>
                <a:ea typeface="DM Sans" pitchFamily="34" charset="-122"/>
                <a:cs typeface="DM Sans" pitchFamily="34" charset="-120"/>
              </a:rPr>
              <a:t>Evaluator</a:t>
            </a:r>
            <a:endParaRPr lang="en-US" sz="1800" dirty="0"/>
          </a:p>
        </p:txBody>
      </p:sp>
      <p:sp>
        <p:nvSpPr>
          <p:cNvPr id="14" name="Shape 7"/>
          <p:cNvSpPr/>
          <p:nvPr/>
        </p:nvSpPr>
        <p:spPr>
          <a:xfrm>
            <a:off x="812800" y="3785890"/>
            <a:ext cx="5181600" cy="1031180"/>
          </a:xfrm>
          <a:prstGeom prst="roundRect">
            <a:avLst>
              <a:gd name="adj" fmla="val 14779"/>
            </a:avLst>
          </a:prstGeom>
          <a:solidFill>
            <a:srgbClr val="ECEDF3"/>
          </a:solidFill>
          <a:ln/>
        </p:spPr>
      </p:sp>
      <p:pic>
        <p:nvPicPr>
          <p:cNvPr id="15" name="Image 5" descr="Warning">    </p:cNvPr>
          <p:cNvPicPr>
            <a:picLocks noChangeAspect="1"/>
          </p:cNvPicPr>
          <p:nvPr/>
        </p:nvPicPr>
        <p:blipFill>
          <a:blip r:embed="rId6"/>
          <a:srcRect l="0" r="0" t="0" b="0"/>
          <a:stretch/>
        </p:blipFill>
        <p:spPr>
          <a:xfrm>
            <a:off x="1066800" y="4098280"/>
            <a:ext cx="406400" cy="406400"/>
          </a:xfrm>
          <a:prstGeom prst="rect">
            <a:avLst/>
          </a:prstGeom>
        </p:spPr>
      </p:pic>
      <p:sp>
        <p:nvSpPr>
          <p:cNvPr id="16" name="Text 8"/>
          <p:cNvSpPr/>
          <p:nvPr/>
        </p:nvSpPr>
        <p:spPr>
          <a:xfrm>
            <a:off x="1625600" y="4039890"/>
            <a:ext cx="21786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Solo agent</a:t>
            </a:r>
            <a:endParaRPr lang="en-US" sz="1400" dirty="0"/>
          </a:p>
        </p:txBody>
      </p:sp>
      <p:sp>
        <p:nvSpPr>
          <p:cNvPr id="17" name="Text 9"/>
          <p:cNvSpPr/>
          <p:nvPr/>
        </p:nvSpPr>
        <p:spPr>
          <a:xfrm>
            <a:off x="1625600" y="4314180"/>
            <a:ext cx="253817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20 min · $9 · game broken</a:t>
            </a:r>
            <a:endParaRPr lang="en-US" sz="1400" dirty="0"/>
          </a:p>
        </p:txBody>
      </p:sp>
      <p:sp>
        <p:nvSpPr>
          <p:cNvPr id="18" name="Shape 10"/>
          <p:cNvSpPr/>
          <p:nvPr/>
        </p:nvSpPr>
        <p:spPr>
          <a:xfrm>
            <a:off x="6197600" y="3785890"/>
            <a:ext cx="5181600" cy="1031180"/>
          </a:xfrm>
          <a:prstGeom prst="roundRect">
            <a:avLst>
              <a:gd name="adj" fmla="val 14779"/>
            </a:avLst>
          </a:prstGeom>
          <a:solidFill>
            <a:srgbClr val="CFD6F6"/>
          </a:solidFill>
          <a:ln/>
        </p:spPr>
      </p:sp>
      <p:pic>
        <p:nvPicPr>
          <p:cNvPr id="19" name="Image 6" descr="CheckCircle">    </p:cNvPr>
          <p:cNvPicPr>
            <a:picLocks noChangeAspect="1"/>
          </p:cNvPicPr>
          <p:nvPr/>
        </p:nvPicPr>
        <p:blipFill>
          <a:blip r:embed="rId7"/>
          <a:srcRect l="0" r="0" t="0" b="0"/>
          <a:stretch/>
        </p:blipFill>
        <p:spPr>
          <a:xfrm>
            <a:off x="6451600" y="4098280"/>
            <a:ext cx="406400" cy="406400"/>
          </a:xfrm>
          <a:prstGeom prst="rect">
            <a:avLst/>
          </a:prstGeom>
        </p:spPr>
      </p:pic>
      <p:sp>
        <p:nvSpPr>
          <p:cNvPr id="20" name="Text 11"/>
          <p:cNvSpPr/>
          <p:nvPr/>
        </p:nvSpPr>
        <p:spPr>
          <a:xfrm>
            <a:off x="7010400" y="4039890"/>
            <a:ext cx="222218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Full harness</a:t>
            </a:r>
            <a:endParaRPr lang="en-US" sz="1400" dirty="0"/>
          </a:p>
        </p:txBody>
      </p:sp>
      <p:sp>
        <p:nvSpPr>
          <p:cNvPr id="21" name="Text 12"/>
          <p:cNvSpPr/>
          <p:nvPr/>
        </p:nvSpPr>
        <p:spPr>
          <a:xfrm>
            <a:off x="7010400" y="4314180"/>
            <a:ext cx="258895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6 h · $200 · game playable</a:t>
            </a:r>
            <a:endParaRPr lang="en-US" sz="1400" dirty="0"/>
          </a:p>
        </p:txBody>
      </p:sp>
      <p:sp>
        <p:nvSpPr>
          <p:cNvPr id="22" name="Text 13"/>
          <p:cNvSpPr/>
          <p:nvPr/>
        </p:nvSpPr>
        <p:spPr>
          <a:xfrm>
            <a:off x="812800" y="6238280"/>
            <a:ext cx="8636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Source: Anthropic engineering, “Harness design for long-running application development” (Mar 2026)</a:t>
            </a:r>
            <a:endParaRPr lang="en-US" sz="1200" dirty="0"/>
          </a:p>
        </p:txBody>
      </p:sp>
      <p:sp>
        <p:nvSpPr>
          <p:cNvPr id="23" name="Text 14"/>
          <p:cNvSpPr/>
          <p:nvPr/>
        </p:nvSpPr>
        <p:spPr>
          <a:xfrm>
            <a:off x="11193066" y="6238280"/>
            <a:ext cx="18613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Guides and sensors</a:t>
            </a:r>
            <a:endParaRPr lang="en-US" sz="3200" dirty="0"/>
          </a:p>
        </p:txBody>
      </p:sp>
      <p:sp>
        <p:nvSpPr>
          <p:cNvPr id="3" name="Text 1"/>
          <p:cNvSpPr/>
          <p:nvPr/>
        </p:nvSpPr>
        <p:spPr>
          <a:xfrm>
            <a:off x="2438400" y="2433985"/>
            <a:ext cx="455218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Deterministic</a:t>
            </a:r>
            <a:endParaRPr lang="en-US" sz="1400" dirty="0"/>
          </a:p>
        </p:txBody>
      </p:sp>
      <p:sp>
        <p:nvSpPr>
          <p:cNvPr id="4" name="Text 2"/>
          <p:cNvSpPr/>
          <p:nvPr/>
        </p:nvSpPr>
        <p:spPr>
          <a:xfrm>
            <a:off x="6959600" y="2433985"/>
            <a:ext cx="455218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AI-based</a:t>
            </a:r>
            <a:endParaRPr lang="en-US" sz="1400" dirty="0"/>
          </a:p>
        </p:txBody>
      </p:sp>
      <p:sp>
        <p:nvSpPr>
          <p:cNvPr id="5" name="Text 3"/>
          <p:cNvSpPr/>
          <p:nvPr/>
        </p:nvSpPr>
        <p:spPr>
          <a:xfrm>
            <a:off x="812800" y="2898775"/>
            <a:ext cx="1574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E42A0"/>
                </a:solidFill>
                <a:latin typeface="DM Sans" pitchFamily="34" charset="0"/>
                <a:ea typeface="DM Sans" pitchFamily="34" charset="-122"/>
                <a:cs typeface="DM Sans" pitchFamily="34" charset="-120"/>
              </a:rPr>
              <a:t>Guides</a:t>
            </a:r>
            <a:endParaRPr lang="en-US" sz="1800" dirty="0"/>
          </a:p>
        </p:txBody>
      </p:sp>
      <p:sp>
        <p:nvSpPr>
          <p:cNvPr id="6" name="Text 4"/>
          <p:cNvSpPr/>
          <p:nvPr/>
        </p:nvSpPr>
        <p:spPr>
          <a:xfrm>
            <a:off x="812800" y="3218805"/>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before acting</a:t>
            </a:r>
            <a:endParaRPr lang="en-US" sz="1200" dirty="0"/>
          </a:p>
        </p:txBody>
      </p:sp>
      <p:sp>
        <p:nvSpPr>
          <p:cNvPr id="7" name="Shape 5"/>
          <p:cNvSpPr/>
          <p:nvPr/>
        </p:nvSpPr>
        <p:spPr>
          <a:xfrm>
            <a:off x="2438400" y="2784475"/>
            <a:ext cx="4419600" cy="762000"/>
          </a:xfrm>
          <a:prstGeom prst="roundRect">
            <a:avLst>
              <a:gd name="adj" fmla="val 20000"/>
            </a:avLst>
          </a:prstGeom>
          <a:solidFill>
            <a:srgbClr val="CFD6F6"/>
          </a:solidFill>
          <a:ln/>
        </p:spPr>
      </p:sp>
      <p:pic>
        <p:nvPicPr>
          <p:cNvPr id="8" name="Image 0" descr="Code">    </p:cNvPr>
          <p:cNvPicPr>
            <a:picLocks noChangeAspect="1"/>
          </p:cNvPicPr>
          <p:nvPr/>
        </p:nvPicPr>
        <p:blipFill>
          <a:blip r:embed="rId1"/>
          <a:srcRect l="0" r="0" t="0" b="0"/>
          <a:stretch/>
        </p:blipFill>
        <p:spPr>
          <a:xfrm>
            <a:off x="2667000" y="3013075"/>
            <a:ext cx="304800" cy="304800"/>
          </a:xfrm>
          <a:prstGeom prst="rect">
            <a:avLst/>
          </a:prstGeom>
        </p:spPr>
      </p:pic>
      <p:sp>
        <p:nvSpPr>
          <p:cNvPr id="9" name="Text 6"/>
          <p:cNvSpPr/>
          <p:nvPr/>
        </p:nvSpPr>
        <p:spPr>
          <a:xfrm>
            <a:off x="3098800" y="3041005"/>
            <a:ext cx="18526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Scripts, codemods</a:t>
            </a:r>
            <a:endParaRPr lang="en-US" sz="1400" dirty="0"/>
          </a:p>
        </p:txBody>
      </p:sp>
      <p:sp>
        <p:nvSpPr>
          <p:cNvPr id="10" name="Shape 7"/>
          <p:cNvSpPr/>
          <p:nvPr/>
        </p:nvSpPr>
        <p:spPr>
          <a:xfrm>
            <a:off x="6959600" y="2784475"/>
            <a:ext cx="4419600" cy="762000"/>
          </a:xfrm>
          <a:prstGeom prst="roundRect">
            <a:avLst>
              <a:gd name="adj" fmla="val 20000"/>
            </a:avLst>
          </a:prstGeom>
          <a:solidFill>
            <a:srgbClr val="CFD6F6"/>
          </a:solidFill>
          <a:ln/>
        </p:spPr>
      </p:sp>
      <p:pic>
        <p:nvPicPr>
          <p:cNvPr id="11" name="Image 1" descr="Book">    </p:cNvPr>
          <p:cNvPicPr>
            <a:picLocks noChangeAspect="1"/>
          </p:cNvPicPr>
          <p:nvPr/>
        </p:nvPicPr>
        <p:blipFill>
          <a:blip r:embed="rId2"/>
          <a:srcRect l="0" r="0" t="0" b="0"/>
          <a:stretch/>
        </p:blipFill>
        <p:spPr>
          <a:xfrm>
            <a:off x="7188200" y="3013075"/>
            <a:ext cx="304800" cy="304800"/>
          </a:xfrm>
          <a:prstGeom prst="rect">
            <a:avLst/>
          </a:prstGeom>
        </p:spPr>
      </p:pic>
      <p:sp>
        <p:nvSpPr>
          <p:cNvPr id="12" name="Text 8"/>
          <p:cNvSpPr/>
          <p:nvPr/>
        </p:nvSpPr>
        <p:spPr>
          <a:xfrm>
            <a:off x="7620000" y="3041005"/>
            <a:ext cx="17325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AGENTS.md, skills</a:t>
            </a:r>
            <a:endParaRPr lang="en-US" sz="1400" dirty="0"/>
          </a:p>
        </p:txBody>
      </p:sp>
      <p:sp>
        <p:nvSpPr>
          <p:cNvPr id="13" name="Text 9"/>
          <p:cNvSpPr/>
          <p:nvPr/>
        </p:nvSpPr>
        <p:spPr>
          <a:xfrm>
            <a:off x="812800" y="3762375"/>
            <a:ext cx="1574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4A4F63"/>
                </a:solidFill>
                <a:latin typeface="DM Sans" pitchFamily="34" charset="0"/>
                <a:ea typeface="DM Sans" pitchFamily="34" charset="-122"/>
                <a:cs typeface="DM Sans" pitchFamily="34" charset="-120"/>
              </a:rPr>
              <a:t>Sensors</a:t>
            </a:r>
            <a:endParaRPr lang="en-US" sz="1800" dirty="0"/>
          </a:p>
        </p:txBody>
      </p:sp>
      <p:sp>
        <p:nvSpPr>
          <p:cNvPr id="14" name="Text 10"/>
          <p:cNvSpPr/>
          <p:nvPr/>
        </p:nvSpPr>
        <p:spPr>
          <a:xfrm>
            <a:off x="812800" y="4082405"/>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after acting</a:t>
            </a:r>
            <a:endParaRPr lang="en-US" sz="1200" dirty="0"/>
          </a:p>
        </p:txBody>
      </p:sp>
      <p:sp>
        <p:nvSpPr>
          <p:cNvPr id="15" name="Shape 11"/>
          <p:cNvSpPr/>
          <p:nvPr/>
        </p:nvSpPr>
        <p:spPr>
          <a:xfrm>
            <a:off x="2438400" y="3648075"/>
            <a:ext cx="4419600" cy="762000"/>
          </a:xfrm>
          <a:prstGeom prst="roundRect">
            <a:avLst>
              <a:gd name="adj" fmla="val 20000"/>
            </a:avLst>
          </a:prstGeom>
          <a:solidFill>
            <a:srgbClr val="ECEDF1"/>
          </a:solidFill>
          <a:ln/>
        </p:spPr>
      </p:sp>
      <p:pic>
        <p:nvPicPr>
          <p:cNvPr id="16" name="Image 2" descr="CheckCircle">    </p:cNvPr>
          <p:cNvPicPr>
            <a:picLocks noChangeAspect="1"/>
          </p:cNvPicPr>
          <p:nvPr/>
        </p:nvPicPr>
        <p:blipFill>
          <a:blip r:embed="rId3"/>
          <a:srcRect l="0" r="0" t="0" b="0"/>
          <a:stretch/>
        </p:blipFill>
        <p:spPr>
          <a:xfrm>
            <a:off x="2667000" y="3876675"/>
            <a:ext cx="304800" cy="304800"/>
          </a:xfrm>
          <a:prstGeom prst="rect">
            <a:avLst/>
          </a:prstGeom>
        </p:spPr>
      </p:pic>
      <p:sp>
        <p:nvSpPr>
          <p:cNvPr id="17" name="Text 12"/>
          <p:cNvSpPr/>
          <p:nvPr/>
        </p:nvSpPr>
        <p:spPr>
          <a:xfrm>
            <a:off x="3098800" y="3904605"/>
            <a:ext cx="121961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Tests, linters</a:t>
            </a:r>
            <a:endParaRPr lang="en-US" sz="1400" dirty="0"/>
          </a:p>
        </p:txBody>
      </p:sp>
      <p:sp>
        <p:nvSpPr>
          <p:cNvPr id="18" name="Shape 13"/>
          <p:cNvSpPr/>
          <p:nvPr/>
        </p:nvSpPr>
        <p:spPr>
          <a:xfrm>
            <a:off x="6959600" y="3648075"/>
            <a:ext cx="4419600" cy="762000"/>
          </a:xfrm>
          <a:prstGeom prst="roundRect">
            <a:avLst>
              <a:gd name="adj" fmla="val 20000"/>
            </a:avLst>
          </a:prstGeom>
          <a:solidFill>
            <a:srgbClr val="ECEDF1"/>
          </a:solidFill>
          <a:ln/>
        </p:spPr>
      </p:sp>
      <p:pic>
        <p:nvPicPr>
          <p:cNvPr id="19" name="Image 3" descr="Users">    </p:cNvPr>
          <p:cNvPicPr>
            <a:picLocks noChangeAspect="1"/>
          </p:cNvPicPr>
          <p:nvPr/>
        </p:nvPicPr>
        <p:blipFill>
          <a:blip r:embed="rId4"/>
          <a:srcRect l="0" r="0" t="0" b="0"/>
          <a:stretch/>
        </p:blipFill>
        <p:spPr>
          <a:xfrm>
            <a:off x="7188200" y="3876675"/>
            <a:ext cx="304800" cy="304800"/>
          </a:xfrm>
          <a:prstGeom prst="rect">
            <a:avLst/>
          </a:prstGeom>
        </p:spPr>
      </p:pic>
      <p:sp>
        <p:nvSpPr>
          <p:cNvPr id="20" name="Text 14"/>
          <p:cNvSpPr/>
          <p:nvPr/>
        </p:nvSpPr>
        <p:spPr>
          <a:xfrm>
            <a:off x="7620000" y="3904605"/>
            <a:ext cx="140267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Review agents</a:t>
            </a:r>
            <a:endParaRPr lang="en-US" sz="1400" dirty="0"/>
          </a:p>
        </p:txBody>
      </p:sp>
      <p:sp>
        <p:nvSpPr>
          <p:cNvPr id="21" name="Text 15"/>
          <p:cNvSpPr/>
          <p:nvPr/>
        </p:nvSpPr>
        <p:spPr>
          <a:xfrm>
            <a:off x="812800" y="4714875"/>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2B2F45"/>
                </a:solidFill>
                <a:latin typeface="DM Sans" pitchFamily="34" charset="0"/>
                <a:ea typeface="DM Sans" pitchFamily="34" charset="-122"/>
                <a:cs typeface="DM Sans" pitchFamily="34" charset="-120"/>
              </a:rPr>
              <a:t>When a mistake repeats, add a guide or a sensor.</a:t>
            </a:r>
            <a:endParaRPr lang="en-US" sz="1800" dirty="0"/>
          </a:p>
        </p:txBody>
      </p:sp>
      <p:sp>
        <p:nvSpPr>
          <p:cNvPr id="22" name="Text 16"/>
          <p:cNvSpPr/>
          <p:nvPr/>
        </p:nvSpPr>
        <p:spPr>
          <a:xfrm>
            <a:off x="812800" y="6238280"/>
            <a:ext cx="8820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Source: Birgitta Böckeler, martinfowler.com (Apr 2026) · her original overview diagram is linked on slide 17</a:t>
            </a:r>
            <a:endParaRPr lang="en-US" sz="1200" dirty="0"/>
          </a:p>
        </p:txBody>
      </p:sp>
      <p:sp>
        <p:nvSpPr>
          <p:cNvPr id="23" name="Text 17"/>
          <p:cNvSpPr/>
          <p:nvPr/>
        </p:nvSpPr>
        <p:spPr>
          <a:xfrm>
            <a:off x="11190734" y="6238280"/>
            <a:ext cx="18846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Five habits that keep recurring</a:t>
            </a:r>
            <a:endParaRPr lang="en-US" sz="3200" dirty="0"/>
          </a:p>
        </p:txBody>
      </p:sp>
      <p:sp>
        <p:nvSpPr>
          <p:cNvPr id="3" name="Shape 1"/>
          <p:cNvSpPr/>
          <p:nvPr/>
        </p:nvSpPr>
        <p:spPr>
          <a:xfrm>
            <a:off x="815975" y="2859385"/>
            <a:ext cx="1984970" cy="1738610"/>
          </a:xfrm>
          <a:prstGeom prst="roundRect">
            <a:avLst>
              <a:gd name="adj" fmla="val 8583"/>
            </a:avLst>
          </a:prstGeom>
          <a:solidFill>
            <a:srgbClr val="FCFCFE"/>
          </a:solidFill>
          <a:ln w="6350">
            <a:solidFill>
              <a:srgbClr val="E1E4F2"/>
            </a:solidFill>
            <a:prstDash val="solid"/>
          </a:ln>
        </p:spPr>
      </p:sp>
      <p:sp>
        <p:nvSpPr>
          <p:cNvPr id="4" name="Shape 2"/>
          <p:cNvSpPr/>
          <p:nvPr/>
        </p:nvSpPr>
        <p:spPr>
          <a:xfrm>
            <a:off x="1022350" y="3116560"/>
            <a:ext cx="609600" cy="609600"/>
          </a:xfrm>
          <a:prstGeom prst="roundRect">
            <a:avLst>
              <a:gd name="adj" fmla="val 25000"/>
            </a:avLst>
          </a:prstGeom>
          <a:solidFill>
            <a:srgbClr val="E6E4FA"/>
          </a:solidFill>
          <a:ln/>
        </p:spPr>
      </p:sp>
      <p:pic>
        <p:nvPicPr>
          <p:cNvPr id="5" name="Image 0" descr="Book">    </p:cNvPr>
          <p:cNvPicPr>
            <a:picLocks noChangeAspect="1"/>
          </p:cNvPicPr>
          <p:nvPr/>
        </p:nvPicPr>
        <p:blipFill>
          <a:blip r:embed="rId1"/>
          <a:srcRect l="0" r="0" t="0" b="0"/>
          <a:stretch/>
        </p:blipFill>
        <p:spPr>
          <a:xfrm>
            <a:off x="1149350" y="3243560"/>
            <a:ext cx="355600" cy="355600"/>
          </a:xfrm>
          <a:prstGeom prst="rect">
            <a:avLst/>
          </a:prstGeom>
        </p:spPr>
      </p:pic>
      <p:sp>
        <p:nvSpPr>
          <p:cNvPr id="6" name="Text 3"/>
          <p:cNvSpPr/>
          <p:nvPr/>
        </p:nvSpPr>
        <p:spPr>
          <a:xfrm>
            <a:off x="1022350" y="3878560"/>
            <a:ext cx="162302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B2F45"/>
                </a:solidFill>
                <a:latin typeface="DM Sans" pitchFamily="34" charset="0"/>
                <a:ea typeface="DM Sans" pitchFamily="34" charset="-122"/>
                <a:cs typeface="DM Sans" pitchFamily="34" charset="-120"/>
              </a:rPr>
              <a:t>A map, not a manual</a:t>
            </a:r>
            <a:endParaRPr lang="en-US" sz="1400" dirty="0"/>
          </a:p>
        </p:txBody>
      </p:sp>
      <p:sp>
        <p:nvSpPr>
          <p:cNvPr id="7" name="Shape 4"/>
          <p:cNvSpPr/>
          <p:nvPr/>
        </p:nvSpPr>
        <p:spPr>
          <a:xfrm>
            <a:off x="2959695" y="2859385"/>
            <a:ext cx="1985020" cy="1738610"/>
          </a:xfrm>
          <a:prstGeom prst="roundRect">
            <a:avLst>
              <a:gd name="adj" fmla="val 8583"/>
            </a:avLst>
          </a:prstGeom>
          <a:solidFill>
            <a:srgbClr val="FCFCFE"/>
          </a:solidFill>
          <a:ln w="6350">
            <a:solidFill>
              <a:srgbClr val="E1E4F2"/>
            </a:solidFill>
            <a:prstDash val="solid"/>
          </a:ln>
        </p:spPr>
      </p:sp>
      <p:sp>
        <p:nvSpPr>
          <p:cNvPr id="8" name="Shape 5"/>
          <p:cNvSpPr/>
          <p:nvPr/>
        </p:nvSpPr>
        <p:spPr>
          <a:xfrm>
            <a:off x="3166070" y="3116560"/>
            <a:ext cx="609600" cy="609600"/>
          </a:xfrm>
          <a:prstGeom prst="roundRect">
            <a:avLst>
              <a:gd name="adj" fmla="val 25000"/>
            </a:avLst>
          </a:prstGeom>
          <a:solidFill>
            <a:srgbClr val="E6E4FA"/>
          </a:solidFill>
          <a:ln/>
        </p:spPr>
      </p:sp>
      <p:pic>
        <p:nvPicPr>
          <p:cNvPr id="9" name="Image 1" descr="Lock">    </p:cNvPr>
          <p:cNvPicPr>
            <a:picLocks noChangeAspect="1"/>
          </p:cNvPicPr>
          <p:nvPr/>
        </p:nvPicPr>
        <p:blipFill>
          <a:blip r:embed="rId2"/>
          <a:srcRect l="0" r="0" t="0" b="0"/>
          <a:stretch/>
        </p:blipFill>
        <p:spPr>
          <a:xfrm>
            <a:off x="3293070" y="3243560"/>
            <a:ext cx="355600" cy="355600"/>
          </a:xfrm>
          <a:prstGeom prst="rect">
            <a:avLst/>
          </a:prstGeom>
        </p:spPr>
      </p:pic>
      <p:sp>
        <p:nvSpPr>
          <p:cNvPr id="10" name="Text 6"/>
          <p:cNvSpPr/>
          <p:nvPr/>
        </p:nvSpPr>
        <p:spPr>
          <a:xfrm>
            <a:off x="3166070" y="3878560"/>
            <a:ext cx="16230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B2F45"/>
                </a:solidFill>
                <a:latin typeface="DM Sans" pitchFamily="34" charset="0"/>
                <a:ea typeface="DM Sans" pitchFamily="34" charset="-122"/>
                <a:cs typeface="DM Sans" pitchFamily="34" charset="-120"/>
              </a:rPr>
              <a:t>Enforce with code, not prose</a:t>
            </a:r>
            <a:endParaRPr lang="en-US" sz="1400" dirty="0"/>
          </a:p>
        </p:txBody>
      </p:sp>
      <p:sp>
        <p:nvSpPr>
          <p:cNvPr id="11" name="Shape 7"/>
          <p:cNvSpPr/>
          <p:nvPr/>
        </p:nvSpPr>
        <p:spPr>
          <a:xfrm>
            <a:off x="5103465" y="2859385"/>
            <a:ext cx="1985020" cy="1738610"/>
          </a:xfrm>
          <a:prstGeom prst="roundRect">
            <a:avLst>
              <a:gd name="adj" fmla="val 8583"/>
            </a:avLst>
          </a:prstGeom>
          <a:solidFill>
            <a:srgbClr val="FCFCFE"/>
          </a:solidFill>
          <a:ln w="6350">
            <a:solidFill>
              <a:srgbClr val="E1E4F2"/>
            </a:solidFill>
            <a:prstDash val="solid"/>
          </a:ln>
        </p:spPr>
      </p:sp>
      <p:sp>
        <p:nvSpPr>
          <p:cNvPr id="12" name="Shape 8"/>
          <p:cNvSpPr/>
          <p:nvPr/>
        </p:nvSpPr>
        <p:spPr>
          <a:xfrm>
            <a:off x="5309840" y="3116560"/>
            <a:ext cx="609600" cy="609600"/>
          </a:xfrm>
          <a:prstGeom prst="roundRect">
            <a:avLst>
              <a:gd name="adj" fmla="val 25000"/>
            </a:avLst>
          </a:prstGeom>
          <a:solidFill>
            <a:srgbClr val="E6E4FA"/>
          </a:solidFill>
          <a:ln/>
        </p:spPr>
      </p:sp>
      <p:pic>
        <p:nvPicPr>
          <p:cNvPr id="13" name="Image 2" descr="Lightning">    </p:cNvPr>
          <p:cNvPicPr>
            <a:picLocks noChangeAspect="1"/>
          </p:cNvPicPr>
          <p:nvPr/>
        </p:nvPicPr>
        <p:blipFill>
          <a:blip r:embed="rId3"/>
          <a:srcRect l="0" r="0" t="0" b="0"/>
          <a:stretch/>
        </p:blipFill>
        <p:spPr>
          <a:xfrm>
            <a:off x="5436840" y="3243560"/>
            <a:ext cx="355600" cy="355600"/>
          </a:xfrm>
          <a:prstGeom prst="rect">
            <a:avLst/>
          </a:prstGeom>
        </p:spPr>
      </p:pic>
      <p:sp>
        <p:nvSpPr>
          <p:cNvPr id="14" name="Text 9"/>
          <p:cNvSpPr/>
          <p:nvPr/>
        </p:nvSpPr>
        <p:spPr>
          <a:xfrm>
            <a:off x="5309840" y="3878560"/>
            <a:ext cx="16230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B2F45"/>
                </a:solidFill>
                <a:latin typeface="DM Sans" pitchFamily="34" charset="0"/>
                <a:ea typeface="DM Sans" pitchFamily="34" charset="-122"/>
                <a:cs typeface="DM Sans" pitchFamily="34" charset="-120"/>
              </a:rPr>
              <a:t>Fast checks on every change</a:t>
            </a:r>
            <a:endParaRPr lang="en-US" sz="1400" dirty="0"/>
          </a:p>
        </p:txBody>
      </p:sp>
      <p:sp>
        <p:nvSpPr>
          <p:cNvPr id="15" name="Shape 10"/>
          <p:cNvSpPr/>
          <p:nvPr/>
        </p:nvSpPr>
        <p:spPr>
          <a:xfrm>
            <a:off x="7247235" y="2859385"/>
            <a:ext cx="1985020" cy="1738610"/>
          </a:xfrm>
          <a:prstGeom prst="roundRect">
            <a:avLst>
              <a:gd name="adj" fmla="val 8583"/>
            </a:avLst>
          </a:prstGeom>
          <a:solidFill>
            <a:srgbClr val="FCFCFE"/>
          </a:solidFill>
          <a:ln w="6350">
            <a:solidFill>
              <a:srgbClr val="E1E4F2"/>
            </a:solidFill>
            <a:prstDash val="solid"/>
          </a:ln>
        </p:spPr>
      </p:sp>
      <p:sp>
        <p:nvSpPr>
          <p:cNvPr id="16" name="Shape 11"/>
          <p:cNvSpPr/>
          <p:nvPr/>
        </p:nvSpPr>
        <p:spPr>
          <a:xfrm>
            <a:off x="7453610" y="3116560"/>
            <a:ext cx="609600" cy="609600"/>
          </a:xfrm>
          <a:prstGeom prst="roundRect">
            <a:avLst>
              <a:gd name="adj" fmla="val 25000"/>
            </a:avLst>
          </a:prstGeom>
          <a:solidFill>
            <a:srgbClr val="E6E4FA"/>
          </a:solidFill>
          <a:ln/>
        </p:spPr>
      </p:sp>
      <p:pic>
        <p:nvPicPr>
          <p:cNvPr id="17" name="Image 3" descr="Database">    </p:cNvPr>
          <p:cNvPicPr>
            <a:picLocks noChangeAspect="1"/>
          </p:cNvPicPr>
          <p:nvPr/>
        </p:nvPicPr>
        <p:blipFill>
          <a:blip r:embed="rId4"/>
          <a:srcRect l="0" r="0" t="0" b="0"/>
          <a:stretch/>
        </p:blipFill>
        <p:spPr>
          <a:xfrm>
            <a:off x="7580610" y="3243560"/>
            <a:ext cx="355600" cy="355600"/>
          </a:xfrm>
          <a:prstGeom prst="rect">
            <a:avLst/>
          </a:prstGeom>
        </p:spPr>
      </p:pic>
      <p:sp>
        <p:nvSpPr>
          <p:cNvPr id="18" name="Text 12"/>
          <p:cNvSpPr/>
          <p:nvPr/>
        </p:nvSpPr>
        <p:spPr>
          <a:xfrm>
            <a:off x="7453610" y="3878560"/>
            <a:ext cx="162307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B2F45"/>
                </a:solidFill>
                <a:latin typeface="DM Sans" pitchFamily="34" charset="0"/>
                <a:ea typeface="DM Sans" pitchFamily="34" charset="-122"/>
                <a:cs typeface="DM Sans" pitchFamily="34" charset="-120"/>
              </a:rPr>
              <a:t>State in files and git</a:t>
            </a:r>
            <a:endParaRPr lang="en-US" sz="1400" dirty="0"/>
          </a:p>
        </p:txBody>
      </p:sp>
      <p:sp>
        <p:nvSpPr>
          <p:cNvPr id="19" name="Shape 13"/>
          <p:cNvSpPr/>
          <p:nvPr/>
        </p:nvSpPr>
        <p:spPr>
          <a:xfrm>
            <a:off x="9391005" y="2859385"/>
            <a:ext cx="1985020" cy="1738610"/>
          </a:xfrm>
          <a:prstGeom prst="roundRect">
            <a:avLst>
              <a:gd name="adj" fmla="val 8583"/>
            </a:avLst>
          </a:prstGeom>
          <a:solidFill>
            <a:srgbClr val="FCFCFE"/>
          </a:solidFill>
          <a:ln w="6350">
            <a:solidFill>
              <a:srgbClr val="E1E4F2"/>
            </a:solidFill>
            <a:prstDash val="solid"/>
          </a:ln>
        </p:spPr>
      </p:sp>
      <p:sp>
        <p:nvSpPr>
          <p:cNvPr id="20" name="Shape 14"/>
          <p:cNvSpPr/>
          <p:nvPr/>
        </p:nvSpPr>
        <p:spPr>
          <a:xfrm>
            <a:off x="9597380" y="3116560"/>
            <a:ext cx="609600" cy="609600"/>
          </a:xfrm>
          <a:prstGeom prst="roundRect">
            <a:avLst>
              <a:gd name="adj" fmla="val 25000"/>
            </a:avLst>
          </a:prstGeom>
          <a:solidFill>
            <a:srgbClr val="E6E4FA"/>
          </a:solidFill>
          <a:ln/>
        </p:spPr>
      </p:sp>
      <p:pic>
        <p:nvPicPr>
          <p:cNvPr id="21" name="Image 4" descr="Wrench">    </p:cNvPr>
          <p:cNvPicPr>
            <a:picLocks noChangeAspect="1"/>
          </p:cNvPicPr>
          <p:nvPr/>
        </p:nvPicPr>
        <p:blipFill>
          <a:blip r:embed="rId5"/>
          <a:srcRect l="0" r="0" t="0" b="0"/>
          <a:stretch/>
        </p:blipFill>
        <p:spPr>
          <a:xfrm>
            <a:off x="9724380" y="3243560"/>
            <a:ext cx="355600" cy="355600"/>
          </a:xfrm>
          <a:prstGeom prst="rect">
            <a:avLst/>
          </a:prstGeom>
        </p:spPr>
      </p:pic>
      <p:sp>
        <p:nvSpPr>
          <p:cNvPr id="22" name="Text 15"/>
          <p:cNvSpPr/>
          <p:nvPr/>
        </p:nvSpPr>
        <p:spPr>
          <a:xfrm>
            <a:off x="9597380" y="3878560"/>
            <a:ext cx="162307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B2F45"/>
                </a:solidFill>
                <a:latin typeface="DM Sans" pitchFamily="34" charset="0"/>
                <a:ea typeface="DM Sans" pitchFamily="34" charset="-122"/>
                <a:cs typeface="DM Sans" pitchFamily="34" charset="-120"/>
              </a:rPr>
              <a:t>Build to delete</a:t>
            </a:r>
            <a:endParaRPr lang="en-US" sz="1400" dirty="0"/>
          </a:p>
        </p:txBody>
      </p:sp>
      <p:sp>
        <p:nvSpPr>
          <p:cNvPr id="23" name="Text 16"/>
          <p:cNvSpPr/>
          <p:nvPr/>
        </p:nvSpPr>
        <p:spPr>
          <a:xfrm>
            <a:off x="812800" y="6238280"/>
            <a:ext cx="68635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Evidence for each in the speaker notes · OpenAI, Marmelab, LangChain, Anthropic</a:t>
            </a:r>
            <a:endParaRPr lang="en-US" sz="1200" dirty="0"/>
          </a:p>
        </p:txBody>
      </p:sp>
      <p:sp>
        <p:nvSpPr>
          <p:cNvPr id="24" name="Text 17"/>
          <p:cNvSpPr/>
          <p:nvPr/>
        </p:nvSpPr>
        <p:spPr>
          <a:xfrm>
            <a:off x="11188303" y="6238280"/>
            <a:ext cx="19089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0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Will better models eat the harness?</a:t>
            </a:r>
            <a:endParaRPr lang="en-US" sz="3200" dirty="0"/>
          </a:p>
        </p:txBody>
      </p:sp>
      <p:sp>
        <p:nvSpPr>
          <p:cNvPr id="3" name="Shape 1"/>
          <p:cNvSpPr/>
          <p:nvPr/>
        </p:nvSpPr>
        <p:spPr>
          <a:xfrm>
            <a:off x="812800" y="2510830"/>
            <a:ext cx="5181600" cy="1833761"/>
          </a:xfrm>
          <a:prstGeom prst="roundRect">
            <a:avLst>
              <a:gd name="adj" fmla="val 8311"/>
            </a:avLst>
          </a:prstGeom>
          <a:solidFill>
            <a:srgbClr val="FCFCFE"/>
          </a:solidFill>
          <a:ln/>
        </p:spPr>
      </p:sp>
      <p:sp>
        <p:nvSpPr>
          <p:cNvPr id="4" name="Text 2"/>
          <p:cNvSpPr/>
          <p:nvPr/>
        </p:nvSpPr>
        <p:spPr>
          <a:xfrm>
            <a:off x="1117600" y="2815630"/>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E52B8"/>
                </a:solidFill>
                <a:latin typeface="JetBrains Mono" pitchFamily="49" charset="0"/>
                <a:ea typeface="JetBrains Mono" pitchFamily="49" charset="-122"/>
                <a:cs typeface="JetBrains Mono" pitchFamily="49" charset="-120"/>
              </a:rPr>
              <a:t>YES, IT GETS ABSORBED</a:t>
            </a:r>
            <a:endParaRPr lang="en-US" sz="1200" dirty="0"/>
          </a:p>
        </p:txBody>
      </p:sp>
      <p:sp>
        <p:nvSpPr>
          <p:cNvPr id="5" name="Text 3"/>
          <p:cNvSpPr/>
          <p:nvPr/>
        </p:nvSpPr>
        <p:spPr>
          <a:xfrm>
            <a:off x="1117600" y="3130550"/>
            <a:ext cx="4876800"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B2F45"/>
                </a:solidFill>
                <a:latin typeface="DM Sans" pitchFamily="34" charset="0"/>
                <a:ea typeface="DM Sans" pitchFamily="34" charset="-122"/>
                <a:cs typeface="DM Sans" pitchFamily="34" charset="-120"/>
              </a:rPr>
              <a:t>Scaffolds get replaced as models improve.</a:t>
            </a:r>
            <a:endParaRPr lang="en-US" sz="1800" dirty="0"/>
          </a:p>
        </p:txBody>
      </p:sp>
      <p:sp>
        <p:nvSpPr>
          <p:cNvPr id="6" name="Text 4"/>
          <p:cNvSpPr/>
          <p:nvPr/>
        </p:nvSpPr>
        <p:spPr>
          <a:xfrm>
            <a:off x="1117600" y="352931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Noam Brown, via Latent Space</a:t>
            </a:r>
            <a:endParaRPr lang="en-US" sz="1200" dirty="0"/>
          </a:p>
        </p:txBody>
      </p:sp>
      <p:sp>
        <p:nvSpPr>
          <p:cNvPr id="7" name="Shape 5"/>
          <p:cNvSpPr/>
          <p:nvPr/>
        </p:nvSpPr>
        <p:spPr>
          <a:xfrm>
            <a:off x="6197600" y="2510830"/>
            <a:ext cx="5181600" cy="1833761"/>
          </a:xfrm>
          <a:prstGeom prst="roundRect">
            <a:avLst>
              <a:gd name="adj" fmla="val 8311"/>
            </a:avLst>
          </a:prstGeom>
          <a:solidFill>
            <a:srgbClr val="FCFCFE"/>
          </a:solidFill>
          <a:ln/>
        </p:spPr>
      </p:sp>
      <p:sp>
        <p:nvSpPr>
          <p:cNvPr id="8" name="Text 6"/>
          <p:cNvSpPr/>
          <p:nvPr/>
        </p:nvSpPr>
        <p:spPr>
          <a:xfrm>
            <a:off x="6502400" y="2815630"/>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4F63"/>
                </a:solidFill>
                <a:latin typeface="JetBrains Mono" pitchFamily="49" charset="0"/>
                <a:ea typeface="JetBrains Mono" pitchFamily="49" charset="-122"/>
                <a:cs typeface="JetBrains Mono" pitchFamily="49" charset="-120"/>
              </a:rPr>
              <a:t>NO, IT KEEPS MOVING</a:t>
            </a:r>
            <a:endParaRPr lang="en-US" sz="1200" dirty="0"/>
          </a:p>
        </p:txBody>
      </p:sp>
      <p:sp>
        <p:nvSpPr>
          <p:cNvPr id="9" name="Text 7"/>
          <p:cNvSpPr/>
          <p:nvPr/>
        </p:nvSpPr>
        <p:spPr>
          <a:xfrm>
            <a:off x="6502400" y="3130550"/>
            <a:ext cx="4709160"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B2F45"/>
                </a:solidFill>
                <a:latin typeface="DM Sans" pitchFamily="34" charset="0"/>
                <a:ea typeface="DM Sans" pitchFamily="34" charset="-122"/>
                <a:cs typeface="DM Sans" pitchFamily="34" charset="-120"/>
              </a:rPr>
              <a:t>Useful harnesses change shape rather than shrink.</a:t>
            </a:r>
            <a:endParaRPr lang="en-US" sz="1800" dirty="0"/>
          </a:p>
        </p:txBody>
      </p:sp>
      <p:sp>
        <p:nvSpPr>
          <p:cNvPr id="10" name="Text 8"/>
          <p:cNvSpPr/>
          <p:nvPr/>
        </p:nvSpPr>
        <p:spPr>
          <a:xfrm>
            <a:off x="6502400" y="382647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Anthropic</a:t>
            </a:r>
            <a:endParaRPr lang="en-US" sz="1200" dirty="0"/>
          </a:p>
        </p:txBody>
      </p:sp>
      <p:sp>
        <p:nvSpPr>
          <p:cNvPr id="11" name="Text 9"/>
          <p:cNvSpPr/>
          <p:nvPr/>
        </p:nvSpPr>
        <p:spPr>
          <a:xfrm>
            <a:off x="812800" y="4649391"/>
            <a:ext cx="10883392"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B2F45"/>
                </a:solidFill>
                <a:latin typeface="DM Sans" pitchFamily="34" charset="0"/>
                <a:ea typeface="DM Sans" pitchFamily="34" charset="-122"/>
                <a:cs typeface="DM Sans" pitchFamily="34" charset="-120"/>
              </a:rPr>
              <a:t>So far, each model generation reshapes the harness rather than removing it.</a:t>
            </a:r>
            <a:endParaRPr lang="en-US" sz="1800" dirty="0"/>
          </a:p>
        </p:txBody>
      </p:sp>
      <p:sp>
        <p:nvSpPr>
          <p:cNvPr id="12" name="Text 10"/>
          <p:cNvSpPr/>
          <p:nvPr/>
        </p:nvSpPr>
        <p:spPr>
          <a:xfrm>
            <a:off x="812800" y="6238280"/>
            <a:ext cx="48108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Sources: Latent Space (Mar 2026); Anthropic (Mar 2026)</a:t>
            </a:r>
            <a:endParaRPr lang="en-US" sz="1200" dirty="0"/>
          </a:p>
        </p:txBody>
      </p:sp>
      <p:sp>
        <p:nvSpPr>
          <p:cNvPr id="13" name="Text 11"/>
          <p:cNvSpPr/>
          <p:nvPr/>
        </p:nvSpPr>
        <p:spPr>
          <a:xfrm>
            <a:off x="11187857" y="6238280"/>
            <a:ext cx="19134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Lots of instructions, little enforcement</a:t>
            </a:r>
            <a:endParaRPr lang="en-US" sz="3200" dirty="0"/>
          </a:p>
        </p:txBody>
      </p:sp>
      <p:sp>
        <p:nvSpPr>
          <p:cNvPr id="3" name="Text 1"/>
          <p:cNvSpPr/>
          <p:nvPr/>
        </p:nvSpPr>
        <p:spPr>
          <a:xfrm>
            <a:off x="812800" y="2372469"/>
            <a:ext cx="36626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Ship an agent instruction file</a:t>
            </a:r>
            <a:endParaRPr lang="en-US" sz="1400" dirty="0"/>
          </a:p>
        </p:txBody>
      </p:sp>
      <p:sp>
        <p:nvSpPr>
          <p:cNvPr id="4" name="Text 2"/>
          <p:cNvSpPr/>
          <p:nvPr/>
        </p:nvSpPr>
        <p:spPr>
          <a:xfrm>
            <a:off x="812800" y="2646759"/>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of 145 large open-source projects</a:t>
            </a:r>
            <a:endParaRPr lang="en-US" sz="1200" dirty="0"/>
          </a:p>
        </p:txBody>
      </p:sp>
      <p:sp>
        <p:nvSpPr>
          <p:cNvPr id="5" name="Shape 3"/>
          <p:cNvSpPr/>
          <p:nvPr/>
        </p:nvSpPr>
        <p:spPr>
          <a:xfrm>
            <a:off x="4572000" y="2476550"/>
            <a:ext cx="5715000" cy="279400"/>
          </a:xfrm>
          <a:prstGeom prst="roundRect">
            <a:avLst>
              <a:gd name="adj" fmla="val 27273"/>
            </a:avLst>
          </a:prstGeom>
          <a:solidFill>
            <a:srgbClr val="E1E4F2"/>
          </a:solidFill>
          <a:ln/>
        </p:spPr>
      </p:sp>
      <p:sp>
        <p:nvSpPr>
          <p:cNvPr id="6" name="Shape 4"/>
          <p:cNvSpPr/>
          <p:nvPr/>
        </p:nvSpPr>
        <p:spPr>
          <a:xfrm>
            <a:off x="4572000" y="2476550"/>
            <a:ext cx="3600450" cy="279400"/>
          </a:xfrm>
          <a:prstGeom prst="roundRect">
            <a:avLst>
              <a:gd name="adj" fmla="val 27273"/>
            </a:avLst>
          </a:prstGeom>
          <a:solidFill>
            <a:srgbClr val="6C70E0"/>
          </a:solidFill>
          <a:ln/>
        </p:spPr>
      </p:sp>
      <p:sp>
        <p:nvSpPr>
          <p:cNvPr id="7" name="Text 5"/>
          <p:cNvSpPr/>
          <p:nvPr/>
        </p:nvSpPr>
        <p:spPr>
          <a:xfrm>
            <a:off x="10490200" y="2456259"/>
            <a:ext cx="58495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4E52B8"/>
                </a:solidFill>
                <a:latin typeface="DM Sans" pitchFamily="34" charset="0"/>
                <a:ea typeface="DM Sans" pitchFamily="34" charset="-122"/>
                <a:cs typeface="DM Sans" pitchFamily="34" charset="-120"/>
              </a:rPr>
              <a:t>63%</a:t>
            </a:r>
            <a:endParaRPr lang="en-US" sz="1800" dirty="0"/>
          </a:p>
        </p:txBody>
      </p:sp>
      <p:sp>
        <p:nvSpPr>
          <p:cNvPr id="8" name="Text 6"/>
          <p:cNvSpPr/>
          <p:nvPr/>
        </p:nvSpPr>
        <p:spPr>
          <a:xfrm>
            <a:off x="812800" y="3114080"/>
            <a:ext cx="36626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Declare a subagent</a:t>
            </a:r>
            <a:endParaRPr lang="en-US" sz="1400" dirty="0"/>
          </a:p>
        </p:txBody>
      </p:sp>
      <p:sp>
        <p:nvSpPr>
          <p:cNvPr id="9" name="Text 7"/>
          <p:cNvSpPr/>
          <p:nvPr/>
        </p:nvSpPr>
        <p:spPr>
          <a:xfrm>
            <a:off x="812800" y="3388370"/>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of the same 145 projects</a:t>
            </a:r>
            <a:endParaRPr lang="en-US" sz="1200" dirty="0"/>
          </a:p>
        </p:txBody>
      </p:sp>
      <p:sp>
        <p:nvSpPr>
          <p:cNvPr id="10" name="Shape 8"/>
          <p:cNvSpPr/>
          <p:nvPr/>
        </p:nvSpPr>
        <p:spPr>
          <a:xfrm>
            <a:off x="4572000" y="3218160"/>
            <a:ext cx="5715000" cy="279400"/>
          </a:xfrm>
          <a:prstGeom prst="roundRect">
            <a:avLst>
              <a:gd name="adj" fmla="val 27273"/>
            </a:avLst>
          </a:prstGeom>
          <a:solidFill>
            <a:srgbClr val="E1E4F2"/>
          </a:solidFill>
          <a:ln/>
        </p:spPr>
      </p:sp>
      <p:sp>
        <p:nvSpPr>
          <p:cNvPr id="11" name="Shape 9"/>
          <p:cNvSpPr/>
          <p:nvPr/>
        </p:nvSpPr>
        <p:spPr>
          <a:xfrm>
            <a:off x="4572000" y="3218160"/>
            <a:ext cx="158750" cy="279400"/>
          </a:xfrm>
          <a:prstGeom prst="roundRect">
            <a:avLst>
              <a:gd name="adj" fmla="val 48000"/>
            </a:avLst>
          </a:prstGeom>
          <a:solidFill>
            <a:srgbClr val="6C70E0"/>
          </a:solidFill>
          <a:ln/>
        </p:spPr>
      </p:sp>
      <p:sp>
        <p:nvSpPr>
          <p:cNvPr id="12" name="Text 10"/>
          <p:cNvSpPr/>
          <p:nvPr/>
        </p:nvSpPr>
        <p:spPr>
          <a:xfrm>
            <a:off x="10490200" y="3197870"/>
            <a:ext cx="411063"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4E52B8"/>
                </a:solidFill>
                <a:latin typeface="DM Sans" pitchFamily="34" charset="0"/>
                <a:ea typeface="DM Sans" pitchFamily="34" charset="-122"/>
                <a:cs typeface="DM Sans" pitchFamily="34" charset="-120"/>
              </a:rPr>
              <a:t>3%</a:t>
            </a:r>
            <a:endParaRPr lang="en-US" sz="1800" dirty="0"/>
          </a:p>
        </p:txBody>
      </p:sp>
      <p:sp>
        <p:nvSpPr>
          <p:cNvPr id="13" name="Text 11"/>
          <p:cNvSpPr/>
          <p:nvPr/>
        </p:nvSpPr>
        <p:spPr>
          <a:xfrm>
            <a:off x="812800" y="3855690"/>
            <a:ext cx="36626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Commit a deny rule</a:t>
            </a:r>
            <a:endParaRPr lang="en-US" sz="1400" dirty="0"/>
          </a:p>
        </p:txBody>
      </p:sp>
      <p:sp>
        <p:nvSpPr>
          <p:cNvPr id="14" name="Text 12"/>
          <p:cNvSpPr/>
          <p:nvPr/>
        </p:nvSpPr>
        <p:spPr>
          <a:xfrm>
            <a:off x="812800" y="4129980"/>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of 391 repositories</a:t>
            </a:r>
            <a:endParaRPr lang="en-US" sz="1200" dirty="0"/>
          </a:p>
        </p:txBody>
      </p:sp>
      <p:sp>
        <p:nvSpPr>
          <p:cNvPr id="15" name="Shape 13"/>
          <p:cNvSpPr/>
          <p:nvPr/>
        </p:nvSpPr>
        <p:spPr>
          <a:xfrm>
            <a:off x="4572000" y="3959771"/>
            <a:ext cx="5715000" cy="279400"/>
          </a:xfrm>
          <a:prstGeom prst="roundRect">
            <a:avLst>
              <a:gd name="adj" fmla="val 27273"/>
            </a:avLst>
          </a:prstGeom>
          <a:solidFill>
            <a:srgbClr val="E1E4F2"/>
          </a:solidFill>
          <a:ln/>
        </p:spPr>
      </p:sp>
      <p:sp>
        <p:nvSpPr>
          <p:cNvPr id="16" name="Shape 14"/>
          <p:cNvSpPr/>
          <p:nvPr/>
        </p:nvSpPr>
        <p:spPr>
          <a:xfrm>
            <a:off x="4572000" y="3959771"/>
            <a:ext cx="177800" cy="279400"/>
          </a:xfrm>
          <a:prstGeom prst="roundRect">
            <a:avLst>
              <a:gd name="adj" fmla="val 42857"/>
            </a:avLst>
          </a:prstGeom>
          <a:solidFill>
            <a:srgbClr val="6C70E0"/>
          </a:solidFill>
          <a:ln/>
        </p:spPr>
      </p:sp>
      <p:sp>
        <p:nvSpPr>
          <p:cNvPr id="17" name="Text 15"/>
          <p:cNvSpPr/>
          <p:nvPr/>
        </p:nvSpPr>
        <p:spPr>
          <a:xfrm>
            <a:off x="10490200" y="3939480"/>
            <a:ext cx="411063"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4E52B8"/>
                </a:solidFill>
                <a:latin typeface="DM Sans" pitchFamily="34" charset="0"/>
                <a:ea typeface="DM Sans" pitchFamily="34" charset="-122"/>
                <a:cs typeface="DM Sans" pitchFamily="34" charset="-120"/>
              </a:rPr>
              <a:t>3%</a:t>
            </a:r>
            <a:endParaRPr lang="en-US" sz="1800" dirty="0"/>
          </a:p>
        </p:txBody>
      </p:sp>
      <p:sp>
        <p:nvSpPr>
          <p:cNvPr id="18" name="Text 16"/>
          <p:cNvSpPr/>
          <p:nvPr/>
        </p:nvSpPr>
        <p:spPr>
          <a:xfrm>
            <a:off x="812800" y="4597301"/>
            <a:ext cx="36626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Have any tests or evals</a:t>
            </a:r>
            <a:endParaRPr lang="en-US" sz="1400" dirty="0"/>
          </a:p>
        </p:txBody>
      </p:sp>
      <p:sp>
        <p:nvSpPr>
          <p:cNvPr id="19" name="Text 17"/>
          <p:cNvSpPr/>
          <p:nvPr/>
        </p:nvSpPr>
        <p:spPr>
          <a:xfrm>
            <a:off x="812800" y="4871591"/>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of 97 testable harnesses</a:t>
            </a:r>
            <a:endParaRPr lang="en-US" sz="1200" dirty="0"/>
          </a:p>
        </p:txBody>
      </p:sp>
      <p:sp>
        <p:nvSpPr>
          <p:cNvPr id="20" name="Shape 18"/>
          <p:cNvSpPr/>
          <p:nvPr/>
        </p:nvSpPr>
        <p:spPr>
          <a:xfrm>
            <a:off x="4572000" y="4701381"/>
            <a:ext cx="5715000" cy="279400"/>
          </a:xfrm>
          <a:prstGeom prst="roundRect">
            <a:avLst>
              <a:gd name="adj" fmla="val 27273"/>
            </a:avLst>
          </a:prstGeom>
          <a:solidFill>
            <a:srgbClr val="E1E4F2"/>
          </a:solidFill>
          <a:ln/>
        </p:spPr>
      </p:sp>
      <p:sp>
        <p:nvSpPr>
          <p:cNvPr id="21" name="Shape 19"/>
          <p:cNvSpPr/>
          <p:nvPr/>
        </p:nvSpPr>
        <p:spPr>
          <a:xfrm>
            <a:off x="4572000" y="4701381"/>
            <a:ext cx="2286000" cy="279400"/>
          </a:xfrm>
          <a:prstGeom prst="roundRect">
            <a:avLst>
              <a:gd name="adj" fmla="val 27273"/>
            </a:avLst>
          </a:prstGeom>
          <a:solidFill>
            <a:srgbClr val="6C70E0"/>
          </a:solidFill>
          <a:ln/>
        </p:spPr>
      </p:sp>
      <p:sp>
        <p:nvSpPr>
          <p:cNvPr id="22" name="Text 20"/>
          <p:cNvSpPr/>
          <p:nvPr/>
        </p:nvSpPr>
        <p:spPr>
          <a:xfrm>
            <a:off x="10490200" y="4681091"/>
            <a:ext cx="619006"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4E52B8"/>
                </a:solidFill>
                <a:latin typeface="DM Sans" pitchFamily="34" charset="0"/>
                <a:ea typeface="DM Sans" pitchFamily="34" charset="-122"/>
                <a:cs typeface="DM Sans" pitchFamily="34" charset="-120"/>
              </a:rPr>
              <a:t>40%</a:t>
            </a:r>
            <a:endParaRPr lang="en-US" sz="1800" dirty="0"/>
          </a:p>
        </p:txBody>
      </p:sp>
      <p:sp>
        <p:nvSpPr>
          <p:cNvPr id="23" name="Text 21"/>
          <p:cNvSpPr/>
          <p:nvPr/>
        </p:nvSpPr>
        <p:spPr>
          <a:xfrm>
            <a:off x="812800" y="6238280"/>
            <a:ext cx="79712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Source: Marmelab audit of 246 harness repos and 145 large open-source projects (Sept 2026)</a:t>
            </a:r>
            <a:endParaRPr lang="en-US" sz="1200" dirty="0"/>
          </a:p>
        </p:txBody>
      </p:sp>
      <p:sp>
        <p:nvSpPr>
          <p:cNvPr id="24" name="Text 22"/>
          <p:cNvSpPr/>
          <p:nvPr/>
        </p:nvSpPr>
        <p:spPr>
          <a:xfrm>
            <a:off x="11185128" y="6238280"/>
            <a:ext cx="19407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Original visuals worth showing</a:t>
            </a:r>
            <a:endParaRPr lang="en-US" sz="3200" dirty="0"/>
          </a:p>
        </p:txBody>
      </p:sp>
      <p:sp>
        <p:nvSpPr>
          <p:cNvPr id="3" name="Shape 1"/>
          <p:cNvSpPr/>
          <p:nvPr/>
        </p:nvSpPr>
        <p:spPr>
          <a:xfrm>
            <a:off x="815975" y="1999754"/>
            <a:ext cx="5200650" cy="1291481"/>
          </a:xfrm>
          <a:prstGeom prst="roundRect">
            <a:avLst>
              <a:gd name="adj" fmla="val 11555"/>
            </a:avLst>
          </a:prstGeom>
          <a:solidFill>
            <a:srgbClr val="FCFCFE"/>
          </a:solidFill>
          <a:ln w="6350">
            <a:solidFill>
              <a:srgbClr val="E1E4F2"/>
            </a:solidFill>
            <a:prstDash val="solid"/>
          </a:ln>
        </p:spPr>
      </p:sp>
      <p:pic>
        <p:nvPicPr>
          <p:cNvPr id="4" name="Image 0" descr="Link">    </p:cNvPr>
          <p:cNvPicPr>
            <a:picLocks noChangeAspect="1"/>
          </p:cNvPicPr>
          <p:nvPr/>
        </p:nvPicPr>
        <p:blipFill>
          <a:blip r:embed="rId1"/>
          <a:srcRect l="0" r="0" t="0" b="0"/>
          <a:stretch/>
        </p:blipFill>
        <p:spPr>
          <a:xfrm>
            <a:off x="1073150" y="2256929"/>
            <a:ext cx="304800" cy="304800"/>
          </a:xfrm>
          <a:prstGeom prst="rect">
            <a:avLst/>
          </a:prstGeom>
        </p:spPr>
      </p:pic>
      <p:sp>
        <p:nvSpPr>
          <p:cNvPr id="5" name="Text 2"/>
          <p:cNvSpPr/>
          <p:nvPr/>
        </p:nvSpPr>
        <p:spPr>
          <a:xfrm>
            <a:off x="1530350" y="2256929"/>
            <a:ext cx="435597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Guides and sensors overview</a:t>
            </a:r>
            <a:endParaRPr lang="en-US" sz="1400" dirty="0"/>
          </a:p>
        </p:txBody>
      </p:sp>
      <p:sp>
        <p:nvSpPr>
          <p:cNvPr id="6" name="Text 3"/>
          <p:cNvSpPr/>
          <p:nvPr/>
        </p:nvSpPr>
        <p:spPr>
          <a:xfrm>
            <a:off x="1530350" y="2556619"/>
            <a:ext cx="43559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Birgitta Böckeler, martinfowler.com, Apr 2026</a:t>
            </a:r>
            <a:endParaRPr lang="en-US" sz="1200" dirty="0"/>
          </a:p>
        </p:txBody>
      </p:sp>
      <p:sp>
        <p:nvSpPr>
          <p:cNvPr id="7" name="Text 4"/>
          <p:cNvSpPr/>
          <p:nvPr/>
        </p:nvSpPr>
        <p:spPr>
          <a:xfrm>
            <a:off x="1530350" y="2820739"/>
            <a:ext cx="435597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45"/>
                </a:solidFill>
                <a:latin typeface="DM Sans" pitchFamily="34" charset="0"/>
                <a:ea typeface="DM Sans" pitchFamily="34" charset="-122"/>
                <a:cs typeface="DM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 the article</a:t>
            </a:r>
            <a:endParaRPr lang="en-US" sz="1200" dirty="0"/>
          </a:p>
        </p:txBody>
      </p:sp>
      <p:sp>
        <p:nvSpPr>
          <p:cNvPr id="8" name="Shape 5"/>
          <p:cNvSpPr/>
          <p:nvPr/>
        </p:nvSpPr>
        <p:spPr>
          <a:xfrm>
            <a:off x="6175375" y="1999754"/>
            <a:ext cx="5200650" cy="1291481"/>
          </a:xfrm>
          <a:prstGeom prst="roundRect">
            <a:avLst>
              <a:gd name="adj" fmla="val 11555"/>
            </a:avLst>
          </a:prstGeom>
          <a:solidFill>
            <a:srgbClr val="FCFCFE"/>
          </a:solidFill>
          <a:ln w="6350">
            <a:solidFill>
              <a:srgbClr val="E1E4F2"/>
            </a:solidFill>
            <a:prstDash val="solid"/>
          </a:ln>
        </p:spPr>
      </p:sp>
      <p:pic>
        <p:nvPicPr>
          <p:cNvPr id="9" name="Image 1" descr="Link">    </p:cNvPr>
          <p:cNvPicPr>
            <a:picLocks noChangeAspect="1"/>
          </p:cNvPicPr>
          <p:nvPr/>
        </p:nvPicPr>
        <p:blipFill>
          <a:blip r:embed="rId3"/>
          <a:srcRect l="0" r="0" t="0" b="0"/>
          <a:stretch/>
        </p:blipFill>
        <p:spPr>
          <a:xfrm>
            <a:off x="6432550" y="2256929"/>
            <a:ext cx="304800" cy="304800"/>
          </a:xfrm>
          <a:prstGeom prst="rect">
            <a:avLst/>
          </a:prstGeom>
        </p:spPr>
      </p:pic>
      <p:sp>
        <p:nvSpPr>
          <p:cNvPr id="10" name="Text 6"/>
          <p:cNvSpPr/>
          <p:nvPr/>
        </p:nvSpPr>
        <p:spPr>
          <a:xfrm>
            <a:off x="6889750" y="2256929"/>
            <a:ext cx="435597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Horse-and-tack metaphor, Fig. 1</a:t>
            </a:r>
            <a:endParaRPr lang="en-US" sz="1400" dirty="0"/>
          </a:p>
        </p:txBody>
      </p:sp>
      <p:sp>
        <p:nvSpPr>
          <p:cNvPr id="11" name="Text 7"/>
          <p:cNvSpPr/>
          <p:nvPr/>
        </p:nvSpPr>
        <p:spPr>
          <a:xfrm>
            <a:off x="6889750" y="2556619"/>
            <a:ext cx="43559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Sanderson de Macedo, arXiv 2606.10106, Jun 2026</a:t>
            </a:r>
            <a:endParaRPr lang="en-US" sz="1200" dirty="0"/>
          </a:p>
        </p:txBody>
      </p:sp>
      <p:sp>
        <p:nvSpPr>
          <p:cNvPr id="12" name="Text 8"/>
          <p:cNvSpPr/>
          <p:nvPr/>
        </p:nvSpPr>
        <p:spPr>
          <a:xfrm>
            <a:off x="6889750" y="2820739"/>
            <a:ext cx="435597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45"/>
                </a:solidFill>
                <a:latin typeface="DM Sans" pitchFamily="34" charset="0"/>
                <a:ea typeface="DM Sans" pitchFamily="34" charset="-122"/>
                <a:cs typeface="DM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Open the paper</a:t>
            </a:r>
            <a:endParaRPr lang="en-US" sz="1200" dirty="0"/>
          </a:p>
        </p:txBody>
      </p:sp>
      <p:sp>
        <p:nvSpPr>
          <p:cNvPr id="13" name="Shape 9"/>
          <p:cNvSpPr/>
          <p:nvPr/>
        </p:nvSpPr>
        <p:spPr>
          <a:xfrm>
            <a:off x="815975" y="3449985"/>
            <a:ext cx="5200650" cy="1504801"/>
          </a:xfrm>
          <a:prstGeom prst="roundRect">
            <a:avLst>
              <a:gd name="adj" fmla="val 9917"/>
            </a:avLst>
          </a:prstGeom>
          <a:solidFill>
            <a:srgbClr val="FCFCFE"/>
          </a:solidFill>
          <a:ln w="6350">
            <a:solidFill>
              <a:srgbClr val="E1E4F2"/>
            </a:solidFill>
            <a:prstDash val="solid"/>
          </a:ln>
        </p:spPr>
      </p:sp>
      <p:pic>
        <p:nvPicPr>
          <p:cNvPr id="14" name="Image 2" descr="Link">    </p:cNvPr>
          <p:cNvPicPr>
            <a:picLocks noChangeAspect="1"/>
          </p:cNvPicPr>
          <p:nvPr/>
        </p:nvPicPr>
        <p:blipFill>
          <a:blip r:embed="rId5"/>
          <a:srcRect l="0" r="0" t="0" b="0"/>
          <a:stretch/>
        </p:blipFill>
        <p:spPr>
          <a:xfrm>
            <a:off x="1073150" y="3707160"/>
            <a:ext cx="304800" cy="304800"/>
          </a:xfrm>
          <a:prstGeom prst="rect">
            <a:avLst/>
          </a:prstGeom>
        </p:spPr>
      </p:pic>
      <p:sp>
        <p:nvSpPr>
          <p:cNvPr id="15" name="Text 10"/>
          <p:cNvSpPr/>
          <p:nvPr/>
        </p:nvSpPr>
        <p:spPr>
          <a:xfrm>
            <a:off x="1530350" y="3707160"/>
            <a:ext cx="435597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Anatomy of an agent harness, Fig. 3</a:t>
            </a:r>
            <a:endParaRPr lang="en-US" sz="1400" dirty="0"/>
          </a:p>
        </p:txBody>
      </p:sp>
      <p:sp>
        <p:nvSpPr>
          <p:cNvPr id="16" name="Text 11"/>
          <p:cNvSpPr/>
          <p:nvPr/>
        </p:nvSpPr>
        <p:spPr>
          <a:xfrm>
            <a:off x="1530350" y="4006850"/>
            <a:ext cx="43559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Sanderson de Macedo, arXiv 2606.10106, Jun 2026</a:t>
            </a:r>
            <a:endParaRPr lang="en-US" sz="1200" dirty="0"/>
          </a:p>
        </p:txBody>
      </p:sp>
      <p:sp>
        <p:nvSpPr>
          <p:cNvPr id="17" name="Text 12"/>
          <p:cNvSpPr/>
          <p:nvPr/>
        </p:nvSpPr>
        <p:spPr>
          <a:xfrm>
            <a:off x="1530350" y="4270970"/>
            <a:ext cx="435597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45"/>
                </a:solidFill>
                <a:latin typeface="DM Sans" pitchFamily="34" charset="0"/>
                <a:ea typeface="DM Sans" pitchFamily="34" charset="-122"/>
                <a:cs typeface="DM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Open the paper</a:t>
            </a:r>
            <a:endParaRPr lang="en-US" sz="1200" dirty="0"/>
          </a:p>
        </p:txBody>
      </p:sp>
      <p:sp>
        <p:nvSpPr>
          <p:cNvPr id="18" name="Shape 13"/>
          <p:cNvSpPr/>
          <p:nvPr/>
        </p:nvSpPr>
        <p:spPr>
          <a:xfrm>
            <a:off x="6175375" y="3449985"/>
            <a:ext cx="5200650" cy="1504801"/>
          </a:xfrm>
          <a:prstGeom prst="roundRect">
            <a:avLst>
              <a:gd name="adj" fmla="val 9917"/>
            </a:avLst>
          </a:prstGeom>
          <a:solidFill>
            <a:srgbClr val="FCFCFE"/>
          </a:solidFill>
          <a:ln w="6350">
            <a:solidFill>
              <a:srgbClr val="E1E4F2"/>
            </a:solidFill>
            <a:prstDash val="solid"/>
          </a:ln>
        </p:spPr>
      </p:sp>
      <p:pic>
        <p:nvPicPr>
          <p:cNvPr id="19" name="Image 3" descr="Link">    </p:cNvPr>
          <p:cNvPicPr>
            <a:picLocks noChangeAspect="1"/>
          </p:cNvPicPr>
          <p:nvPr/>
        </p:nvPicPr>
        <p:blipFill>
          <a:blip r:embed="rId7"/>
          <a:srcRect l="0" r="0" t="0" b="0"/>
          <a:stretch/>
        </p:blipFill>
        <p:spPr>
          <a:xfrm>
            <a:off x="6432550" y="3707160"/>
            <a:ext cx="304800" cy="304800"/>
          </a:xfrm>
          <a:prstGeom prst="rect">
            <a:avLst/>
          </a:prstGeom>
        </p:spPr>
      </p:pic>
      <p:sp>
        <p:nvSpPr>
          <p:cNvPr id="20" name="Text 14"/>
          <p:cNvSpPr/>
          <p:nvPr/>
        </p:nvSpPr>
        <p:spPr>
          <a:xfrm>
            <a:off x="6889750" y="3707160"/>
            <a:ext cx="435597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F45"/>
                </a:solidFill>
                <a:latin typeface="DM Sans" pitchFamily="34" charset="0"/>
                <a:ea typeface="DM Sans" pitchFamily="34" charset="-122"/>
                <a:cs typeface="DM Sans" pitchFamily="34" charset="-120"/>
              </a:rPr>
              <a:t>The browser Cursor's agents built</a:t>
            </a:r>
            <a:endParaRPr lang="en-US" sz="1400" dirty="0"/>
          </a:p>
        </p:txBody>
      </p:sp>
      <p:sp>
        <p:nvSpPr>
          <p:cNvPr id="21" name="Text 15"/>
          <p:cNvSpPr/>
          <p:nvPr/>
        </p:nvSpPr>
        <p:spPr>
          <a:xfrm>
            <a:off x="6889750" y="4006850"/>
            <a:ext cx="435597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Cursor, “Scaling long-running autonomous coding”, Jan 2026</a:t>
            </a:r>
            <a:endParaRPr lang="en-US" sz="1200" dirty="0"/>
          </a:p>
        </p:txBody>
      </p:sp>
      <p:sp>
        <p:nvSpPr>
          <p:cNvPr id="22" name="Text 16"/>
          <p:cNvSpPr/>
          <p:nvPr/>
        </p:nvSpPr>
        <p:spPr>
          <a:xfrm>
            <a:off x="6889750" y="4484291"/>
            <a:ext cx="435597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45"/>
                </a:solidFill>
                <a:latin typeface="DM Sans" pitchFamily="34" charset="0"/>
                <a:ea typeface="DM Sans" pitchFamily="34" charset="-122"/>
                <a:cs typeface="DM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Open the post</a:t>
            </a:r>
            <a:endParaRPr lang="en-US" sz="1200" dirty="0"/>
          </a:p>
        </p:txBody>
      </p:sp>
      <p:sp>
        <p:nvSpPr>
          <p:cNvPr id="23" name="Text 17"/>
          <p:cNvSpPr/>
          <p:nvPr/>
        </p:nvSpPr>
        <p:spPr>
          <a:xfrm>
            <a:off x="812800" y="521196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46983"/>
                </a:solidFill>
                <a:latin typeface="DM Sans" pitchFamily="34" charset="0"/>
                <a:ea typeface="DM Sans" pitchFamily="34" charset="-122"/>
                <a:cs typeface="DM Sans" pitchFamily="34" charset="-120"/>
              </a:rPr>
              <a:t>These figures belong to their authors: link to them, or credit the author and check permission before reusing a screenshot.</a:t>
            </a:r>
            <a:endParaRPr lang="en-US" sz="1400" dirty="0"/>
          </a:p>
        </p:txBody>
      </p:sp>
      <p:sp>
        <p:nvSpPr>
          <p:cNvPr id="24" name="Text 18"/>
          <p:cNvSpPr/>
          <p:nvPr/>
        </p:nvSpPr>
        <p:spPr>
          <a:xfrm>
            <a:off x="812800" y="6238280"/>
            <a:ext cx="44588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All four checked against the original pages, Oct 2026</a:t>
            </a:r>
            <a:endParaRPr lang="en-US" sz="1200" dirty="0"/>
          </a:p>
        </p:txBody>
      </p:sp>
      <p:sp>
        <p:nvSpPr>
          <p:cNvPr id="25" name="Text 19"/>
          <p:cNvSpPr/>
          <p:nvPr/>
        </p:nvSpPr>
        <p:spPr>
          <a:xfrm>
            <a:off x="11199465" y="6238280"/>
            <a:ext cx="17973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Do we need to understand harnesses?</a:t>
            </a:r>
            <a:endParaRPr lang="en-US" sz="3200" dirty="0"/>
          </a:p>
        </p:txBody>
      </p:sp>
      <p:sp>
        <p:nvSpPr>
          <p:cNvPr id="3" name="Text 1"/>
          <p:cNvSpPr/>
          <p:nvPr/>
        </p:nvSpPr>
        <p:spPr>
          <a:xfrm>
            <a:off x="812800" y="1945729"/>
            <a:ext cx="10883392"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3E42A0"/>
                </a:solidFill>
                <a:latin typeface="DM Sans" pitchFamily="34" charset="0"/>
                <a:ea typeface="DM Sans" pitchFamily="34" charset="-122"/>
                <a:cs typeface="DM Sans" pitchFamily="34" charset="-120"/>
              </a:rPr>
              <a:t>Yes, enough to steer one. Not to build one from scratch.</a:t>
            </a:r>
            <a:endParaRPr lang="en-US" sz="1800" dirty="0"/>
          </a:p>
        </p:txBody>
      </p:sp>
      <p:sp>
        <p:nvSpPr>
          <p:cNvPr id="4" name="Text 2"/>
          <p:cNvSpPr/>
          <p:nvPr/>
        </p:nvSpPr>
        <p:spPr>
          <a:xfrm>
            <a:off x="812800" y="229368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46983"/>
                </a:solidFill>
                <a:latin typeface="DM Sans" pitchFamily="34" charset="0"/>
                <a:ea typeface="DM Sans" pitchFamily="34" charset="-122"/>
                <a:cs typeface="DM Sans" pitchFamily="34" charset="-120"/>
              </a:rPr>
              <a:t>“Humans steer. Agents execute.”</a:t>
            </a:r>
            <a:r>
              <a:rPr lang="en-US" sz="1200" dirty="0">
                <a:solidFill>
                  <a:srgbClr val="646983"/>
                </a:solidFill>
                <a:latin typeface="DM Sans" pitchFamily="34" charset="0"/>
                <a:ea typeface="DM Sans" pitchFamily="34" charset="-122"/>
                <a:cs typeface="DM Sans" pitchFamily="34" charset="-120"/>
              </a:rPr>
              <a:t> · Ryan Lopopolo, OpenAI</a:t>
            </a:r>
            <a:endParaRPr lang="en-US" sz="1200" dirty="0"/>
          </a:p>
        </p:txBody>
      </p:sp>
      <p:sp>
        <p:nvSpPr>
          <p:cNvPr id="5" name="Shape 3"/>
          <p:cNvSpPr/>
          <p:nvPr/>
        </p:nvSpPr>
        <p:spPr>
          <a:xfrm>
            <a:off x="815975" y="2814985"/>
            <a:ext cx="3380284" cy="2693491"/>
          </a:xfrm>
          <a:prstGeom prst="roundRect">
            <a:avLst>
              <a:gd name="adj" fmla="val 5540"/>
            </a:avLst>
          </a:prstGeom>
          <a:solidFill>
            <a:srgbClr val="FCFCFE"/>
          </a:solidFill>
          <a:ln w="6350">
            <a:solidFill>
              <a:srgbClr val="E1E4F2"/>
            </a:solidFill>
            <a:prstDash val="solid"/>
          </a:ln>
        </p:spPr>
      </p:sp>
      <p:pic>
        <p:nvPicPr>
          <p:cNvPr id="6" name="Image 0" descr="Chart">    </p:cNvPr>
          <p:cNvPicPr>
            <a:picLocks noChangeAspect="1"/>
          </p:cNvPicPr>
          <p:nvPr/>
        </p:nvPicPr>
        <p:blipFill>
          <a:blip r:embed="rId1"/>
          <a:srcRect l="0" r="0" t="0" b="0"/>
          <a:stretch/>
        </p:blipFill>
        <p:spPr>
          <a:xfrm>
            <a:off x="1123950" y="3122960"/>
            <a:ext cx="355600" cy="355600"/>
          </a:xfrm>
          <a:prstGeom prst="rect">
            <a:avLst/>
          </a:prstGeom>
        </p:spPr>
      </p:pic>
      <p:sp>
        <p:nvSpPr>
          <p:cNvPr id="7" name="Text 4"/>
          <p:cNvSpPr/>
          <p:nvPr/>
        </p:nvSpPr>
        <p:spPr>
          <a:xfrm>
            <a:off x="1123950" y="3580160"/>
            <a:ext cx="2847264"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B2F45"/>
                </a:solidFill>
                <a:latin typeface="DM Sans" pitchFamily="34" charset="0"/>
                <a:ea typeface="DM Sans" pitchFamily="34" charset="-122"/>
                <a:cs typeface="DM Sans" pitchFamily="34" charset="-120"/>
              </a:rPr>
              <a:t>It changes results as much as the model</a:t>
            </a:r>
            <a:endParaRPr lang="en-US" sz="1400" dirty="0"/>
          </a:p>
        </p:txBody>
      </p:sp>
      <p:sp>
        <p:nvSpPr>
          <p:cNvPr id="8" name="Text 5"/>
          <p:cNvSpPr/>
          <p:nvPr/>
        </p:nvSpPr>
        <p:spPr>
          <a:xfrm>
            <a:off x="1123950" y="4245620"/>
            <a:ext cx="284726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2F45"/>
                </a:solidFill>
                <a:latin typeface="DM Sans" pitchFamily="34" charset="0"/>
                <a:ea typeface="DM Sans" pitchFamily="34" charset="-122"/>
                <a:cs typeface="DM Sans" pitchFamily="34" charset="-120"/>
              </a:rPr>
              <a:t>Same model, only the harness changed: 52.8% to 66.5% on Terminal-Bench 2.0</a:t>
            </a:r>
            <a:endParaRPr lang="en-US" sz="1200" dirty="0"/>
          </a:p>
        </p:txBody>
      </p:sp>
      <p:sp>
        <p:nvSpPr>
          <p:cNvPr id="9" name="Text 6"/>
          <p:cNvSpPr/>
          <p:nvPr/>
        </p:nvSpPr>
        <p:spPr>
          <a:xfrm>
            <a:off x="1123950" y="4987181"/>
            <a:ext cx="28472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LangChain, Feb 2026</a:t>
            </a:r>
            <a:endParaRPr lang="en-US" sz="1200" dirty="0"/>
          </a:p>
        </p:txBody>
      </p:sp>
      <p:sp>
        <p:nvSpPr>
          <p:cNvPr id="10" name="Shape 7"/>
          <p:cNvSpPr/>
          <p:nvPr/>
        </p:nvSpPr>
        <p:spPr>
          <a:xfrm>
            <a:off x="4405809" y="2814985"/>
            <a:ext cx="3380333" cy="2693491"/>
          </a:xfrm>
          <a:prstGeom prst="roundRect">
            <a:avLst>
              <a:gd name="adj" fmla="val 5540"/>
            </a:avLst>
          </a:prstGeom>
          <a:solidFill>
            <a:srgbClr val="FCFCFE"/>
          </a:solidFill>
          <a:ln w="6350">
            <a:solidFill>
              <a:srgbClr val="E1E4F2"/>
            </a:solidFill>
            <a:prstDash val="solid"/>
          </a:ln>
        </p:spPr>
      </p:sp>
      <p:pic>
        <p:nvPicPr>
          <p:cNvPr id="11" name="Image 1" descr="Wrench">    </p:cNvPr>
          <p:cNvPicPr>
            <a:picLocks noChangeAspect="1"/>
          </p:cNvPicPr>
          <p:nvPr/>
        </p:nvPicPr>
        <p:blipFill>
          <a:blip r:embed="rId2"/>
          <a:srcRect l="0" r="0" t="0" b="0"/>
          <a:stretch/>
        </p:blipFill>
        <p:spPr>
          <a:xfrm>
            <a:off x="4713784" y="3122960"/>
            <a:ext cx="355600" cy="355600"/>
          </a:xfrm>
          <a:prstGeom prst="rect">
            <a:avLst/>
          </a:prstGeom>
        </p:spPr>
      </p:pic>
      <p:sp>
        <p:nvSpPr>
          <p:cNvPr id="12" name="Text 8"/>
          <p:cNvSpPr/>
          <p:nvPr/>
        </p:nvSpPr>
        <p:spPr>
          <a:xfrm>
            <a:off x="4713784" y="3580160"/>
            <a:ext cx="284731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B2F45"/>
                </a:solidFill>
                <a:latin typeface="DM Sans" pitchFamily="34" charset="0"/>
                <a:ea typeface="DM Sans" pitchFamily="34" charset="-122"/>
                <a:cs typeface="DM Sans" pitchFamily="34" charset="-120"/>
              </a:rPr>
              <a:t>You already have one</a:t>
            </a:r>
            <a:endParaRPr lang="en-US" sz="1400" dirty="0"/>
          </a:p>
        </p:txBody>
      </p:sp>
      <p:sp>
        <p:nvSpPr>
          <p:cNvPr id="13" name="Text 9"/>
          <p:cNvSpPr/>
          <p:nvPr/>
        </p:nvSpPr>
        <p:spPr>
          <a:xfrm>
            <a:off x="4713784" y="4458940"/>
            <a:ext cx="2847315" cy="452041"/>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2B2F45"/>
                </a:solidFill>
                <a:latin typeface="DM Sans" pitchFamily="34" charset="0"/>
                <a:ea typeface="DM Sans" pitchFamily="34" charset="-122"/>
                <a:cs typeface="DM Sans" pitchFamily="34" charset="-120"/>
              </a:rPr>
              <a:t>“If you're not the model, you're the harness.”</a:t>
            </a:r>
            <a:endParaRPr lang="en-US" sz="1200" dirty="0"/>
          </a:p>
        </p:txBody>
      </p:sp>
      <p:sp>
        <p:nvSpPr>
          <p:cNvPr id="14" name="Text 10"/>
          <p:cNvSpPr/>
          <p:nvPr/>
        </p:nvSpPr>
        <p:spPr>
          <a:xfrm>
            <a:off x="4713784" y="4987181"/>
            <a:ext cx="28473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Vivek Trivedy, LangChain, Mar 2026</a:t>
            </a:r>
            <a:endParaRPr lang="en-US" sz="1200" dirty="0"/>
          </a:p>
        </p:txBody>
      </p:sp>
      <p:sp>
        <p:nvSpPr>
          <p:cNvPr id="15" name="Shape 11"/>
          <p:cNvSpPr/>
          <p:nvPr/>
        </p:nvSpPr>
        <p:spPr>
          <a:xfrm>
            <a:off x="7995692" y="2814985"/>
            <a:ext cx="3380333" cy="2693491"/>
          </a:xfrm>
          <a:prstGeom prst="roundRect">
            <a:avLst>
              <a:gd name="adj" fmla="val 5540"/>
            </a:avLst>
          </a:prstGeom>
          <a:solidFill>
            <a:srgbClr val="FCFCFE"/>
          </a:solidFill>
          <a:ln w="6350">
            <a:solidFill>
              <a:srgbClr val="E1E4F2"/>
            </a:solidFill>
            <a:prstDash val="solid"/>
          </a:ln>
        </p:spPr>
      </p:sp>
      <p:pic>
        <p:nvPicPr>
          <p:cNvPr id="16" name="Image 2" descr="Search">    </p:cNvPr>
          <p:cNvPicPr>
            <a:picLocks noChangeAspect="1"/>
          </p:cNvPicPr>
          <p:nvPr/>
        </p:nvPicPr>
        <p:blipFill>
          <a:blip r:embed="rId3"/>
          <a:srcRect l="0" r="0" t="0" b="0"/>
          <a:stretch/>
        </p:blipFill>
        <p:spPr>
          <a:xfrm>
            <a:off x="8303667" y="3122960"/>
            <a:ext cx="355600" cy="355600"/>
          </a:xfrm>
          <a:prstGeom prst="rect">
            <a:avLst/>
          </a:prstGeom>
        </p:spPr>
      </p:pic>
      <p:sp>
        <p:nvSpPr>
          <p:cNvPr id="17" name="Text 12"/>
          <p:cNvSpPr/>
          <p:nvPr/>
        </p:nvSpPr>
        <p:spPr>
          <a:xfrm>
            <a:off x="8303667" y="3580160"/>
            <a:ext cx="284731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B2F45"/>
                </a:solidFill>
                <a:latin typeface="DM Sans" pitchFamily="34" charset="0"/>
                <a:ea typeface="DM Sans" pitchFamily="34" charset="-122"/>
                <a:cs typeface="DM Sans" pitchFamily="34" charset="-120"/>
              </a:rPr>
              <a:t>It tells you what to fix</a:t>
            </a:r>
            <a:endParaRPr lang="en-US" sz="1400" dirty="0"/>
          </a:p>
        </p:txBody>
      </p:sp>
      <p:sp>
        <p:nvSpPr>
          <p:cNvPr id="18" name="Text 13"/>
          <p:cNvSpPr/>
          <p:nvPr/>
        </p:nvSpPr>
        <p:spPr>
          <a:xfrm>
            <a:off x="8303667" y="4245620"/>
            <a:ext cx="2847315" cy="665361"/>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2B2F45"/>
                </a:solidFill>
                <a:latin typeface="DM Sans" pitchFamily="34" charset="0"/>
                <a:ea typeface="DM Sans" pitchFamily="34" charset="-122"/>
                <a:cs typeface="DM Sans" pitchFamily="34" charset="-120"/>
              </a:rPr>
              <a:t>“…engineer a solution such that the agent never makes that mistake again.”</a:t>
            </a:r>
            <a:endParaRPr lang="en-US" sz="1200" dirty="0"/>
          </a:p>
        </p:txBody>
      </p:sp>
      <p:sp>
        <p:nvSpPr>
          <p:cNvPr id="19" name="Text 14"/>
          <p:cNvSpPr/>
          <p:nvPr/>
        </p:nvSpPr>
        <p:spPr>
          <a:xfrm>
            <a:off x="8303667" y="4987181"/>
            <a:ext cx="28473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Mitchell Hashimoto, Feb 2026</a:t>
            </a:r>
            <a:endParaRPr lang="en-US" sz="1200" dirty="0"/>
          </a:p>
        </p:txBody>
      </p:sp>
      <p:sp>
        <p:nvSpPr>
          <p:cNvPr id="20" name="Text 15"/>
          <p:cNvSpPr/>
          <p:nvPr/>
        </p:nvSpPr>
        <p:spPr>
          <a:xfrm>
            <a:off x="812800" y="6238280"/>
            <a:ext cx="89445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Sources: OpenAI, “Harness engineering” (Feb 2026); LangChain (Feb, Mar 2026); mitchellh.com (Feb 2026)</a:t>
            </a:r>
            <a:endParaRPr lang="en-US" sz="1200" dirty="0"/>
          </a:p>
        </p:txBody>
      </p:sp>
      <p:sp>
        <p:nvSpPr>
          <p:cNvPr id="21" name="Text 16"/>
          <p:cNvSpPr/>
          <p:nvPr/>
        </p:nvSpPr>
        <p:spPr>
          <a:xfrm>
            <a:off x="11188154" y="6238280"/>
            <a:ext cx="19104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Do we need to build our own setup?</a:t>
            </a:r>
            <a:endParaRPr lang="en-US" sz="3200" dirty="0"/>
          </a:p>
        </p:txBody>
      </p:sp>
      <p:sp>
        <p:nvSpPr>
          <p:cNvPr id="3" name="Text 1"/>
          <p:cNvSpPr/>
          <p:nvPr/>
        </p:nvSpPr>
        <p:spPr>
          <a:xfrm>
            <a:off x="812800" y="1971179"/>
            <a:ext cx="10883392"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3E42A0"/>
                </a:solidFill>
                <a:latin typeface="DM Sans" pitchFamily="34" charset="0"/>
                <a:ea typeface="DM Sans" pitchFamily="34" charset="-122"/>
                <a:cs typeface="DM Sans" pitchFamily="34" charset="-120"/>
              </a:rPr>
              <a:t>Not from scratch. Start with your tool's harness and add a thin layer.</a:t>
            </a:r>
            <a:endParaRPr lang="en-US" sz="1800" dirty="0"/>
          </a:p>
        </p:txBody>
      </p:sp>
      <p:sp>
        <p:nvSpPr>
          <p:cNvPr id="4" name="Shape 2"/>
          <p:cNvSpPr/>
          <p:nvPr/>
        </p:nvSpPr>
        <p:spPr>
          <a:xfrm>
            <a:off x="812800" y="2522339"/>
            <a:ext cx="3103017" cy="2212132"/>
          </a:xfrm>
          <a:prstGeom prst="roundRect">
            <a:avLst>
              <a:gd name="adj" fmla="val 6889"/>
            </a:avLst>
          </a:prstGeom>
          <a:solidFill>
            <a:srgbClr val="ECEDF1"/>
          </a:solidFill>
          <a:ln/>
        </p:spPr>
      </p:sp>
      <p:sp>
        <p:nvSpPr>
          <p:cNvPr id="5" name="Text 3"/>
          <p:cNvSpPr/>
          <p:nvPr/>
        </p:nvSpPr>
        <p:spPr>
          <a:xfrm>
            <a:off x="1066800" y="2776339"/>
            <a:ext cx="267286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4F63"/>
                </a:solidFill>
                <a:latin typeface="JetBrains Mono" pitchFamily="49" charset="0"/>
                <a:ea typeface="JetBrains Mono" pitchFamily="49" charset="-122"/>
                <a:cs typeface="JetBrains Mono" pitchFamily="49" charset="-120"/>
              </a:rPr>
              <a:t>STEP 1</a:t>
            </a:r>
            <a:endParaRPr lang="en-US" sz="1200" dirty="0"/>
          </a:p>
        </p:txBody>
      </p:sp>
      <p:sp>
        <p:nvSpPr>
          <p:cNvPr id="6" name="Text 4"/>
          <p:cNvSpPr/>
          <p:nvPr/>
        </p:nvSpPr>
        <p:spPr>
          <a:xfrm>
            <a:off x="1066800" y="3065859"/>
            <a:ext cx="2672867"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2F45"/>
                </a:solidFill>
                <a:latin typeface="DM Sans" pitchFamily="34" charset="0"/>
                <a:ea typeface="DM Sans" pitchFamily="34" charset="-122"/>
                <a:cs typeface="DM Sans" pitchFamily="34" charset="-120"/>
              </a:rPr>
              <a:t>Use it as is</a:t>
            </a:r>
            <a:endParaRPr lang="en-US" sz="1800" dirty="0"/>
          </a:p>
        </p:txBody>
      </p:sp>
      <p:sp>
        <p:nvSpPr>
          <p:cNvPr id="7" name="Text 5"/>
          <p:cNvSpPr/>
          <p:nvPr/>
        </p:nvSpPr>
        <p:spPr>
          <a:xfrm>
            <a:off x="1066800" y="3764310"/>
            <a:ext cx="267286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2F45"/>
                </a:solidFill>
                <a:latin typeface="DM Sans" pitchFamily="34" charset="0"/>
                <a:ea typeface="DM Sans" pitchFamily="34" charset="-122"/>
                <a:cs typeface="DM Sans" pitchFamily="34" charset="-120"/>
              </a:rPr>
              <a:t>Vendors ship the inner harness; users build the outer one around it</a:t>
            </a:r>
            <a:endParaRPr lang="en-US" sz="1200" dirty="0"/>
          </a:p>
        </p:txBody>
      </p:sp>
      <p:sp>
        <p:nvSpPr>
          <p:cNvPr id="8" name="Text 6"/>
          <p:cNvSpPr/>
          <p:nvPr/>
        </p:nvSpPr>
        <p:spPr>
          <a:xfrm>
            <a:off x="1066800" y="4267150"/>
            <a:ext cx="26728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270"/>
                </a:solidFill>
                <a:latin typeface="DM Sans" pitchFamily="34" charset="0"/>
                <a:ea typeface="DM Sans" pitchFamily="34" charset="-122"/>
                <a:cs typeface="DM Sans" pitchFamily="34" charset="-120"/>
              </a:rPr>
              <a:t>Birgitta Böckeler, Apr 2026</a:t>
            </a:r>
            <a:endParaRPr lang="en-US" sz="1200" dirty="0"/>
          </a:p>
        </p:txBody>
      </p:sp>
      <p:pic>
        <p:nvPicPr>
          <p:cNvPr id="9" name="Image 0" descr="arrow-right">    </p:cNvPr>
          <p:cNvPicPr>
            <a:picLocks noChangeAspect="1"/>
          </p:cNvPicPr>
          <p:nvPr/>
        </p:nvPicPr>
        <p:blipFill>
          <a:blip r:embed="rId1"/>
          <a:srcRect l="0" r="0" t="0" b="0"/>
          <a:stretch/>
        </p:blipFill>
        <p:spPr>
          <a:xfrm>
            <a:off x="4068217" y="3552180"/>
            <a:ext cx="304800" cy="152400"/>
          </a:xfrm>
          <a:prstGeom prst="rect">
            <a:avLst/>
          </a:prstGeom>
        </p:spPr>
      </p:pic>
      <p:sp>
        <p:nvSpPr>
          <p:cNvPr id="10" name="Shape 7"/>
          <p:cNvSpPr/>
          <p:nvPr/>
        </p:nvSpPr>
        <p:spPr>
          <a:xfrm>
            <a:off x="4531767" y="2528689"/>
            <a:ext cx="3115766" cy="2199432"/>
          </a:xfrm>
          <a:prstGeom prst="roundRect">
            <a:avLst>
              <a:gd name="adj" fmla="val 6640"/>
            </a:avLst>
          </a:prstGeom>
          <a:solidFill>
            <a:srgbClr val="CFD6F6"/>
          </a:solidFill>
          <a:ln w="12700">
            <a:solidFill>
              <a:srgbClr val="5A5ED6"/>
            </a:solidFill>
            <a:prstDash val="solid"/>
          </a:ln>
        </p:spPr>
      </p:sp>
      <p:sp>
        <p:nvSpPr>
          <p:cNvPr id="11" name="Text 8"/>
          <p:cNvSpPr/>
          <p:nvPr/>
        </p:nvSpPr>
        <p:spPr>
          <a:xfrm>
            <a:off x="4792117" y="2789039"/>
            <a:ext cx="267291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E42A0"/>
                </a:solidFill>
                <a:latin typeface="JetBrains Mono" pitchFamily="49" charset="0"/>
                <a:ea typeface="JetBrains Mono" pitchFamily="49" charset="-122"/>
                <a:cs typeface="JetBrains Mono" pitchFamily="49" charset="-120"/>
              </a:rPr>
              <a:t>STEP 2 · START HERE</a:t>
            </a:r>
            <a:endParaRPr lang="en-US" sz="1200" dirty="0"/>
          </a:p>
        </p:txBody>
      </p:sp>
      <p:sp>
        <p:nvSpPr>
          <p:cNvPr id="12" name="Text 9"/>
          <p:cNvSpPr/>
          <p:nvPr/>
        </p:nvSpPr>
        <p:spPr>
          <a:xfrm>
            <a:off x="4792117" y="3078559"/>
            <a:ext cx="267291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2F45"/>
                </a:solidFill>
                <a:latin typeface="DM Sans" pitchFamily="34" charset="0"/>
                <a:ea typeface="DM Sans" pitchFamily="34" charset="-122"/>
                <a:cs typeface="DM Sans" pitchFamily="34" charset="-120"/>
              </a:rPr>
              <a:t>Add a thin layer</a:t>
            </a:r>
            <a:endParaRPr lang="en-US" sz="1800" dirty="0"/>
          </a:p>
        </p:txBody>
      </p:sp>
      <p:sp>
        <p:nvSpPr>
          <p:cNvPr id="13" name="Text 10"/>
          <p:cNvSpPr/>
          <p:nvPr/>
        </p:nvSpPr>
        <p:spPr>
          <a:xfrm>
            <a:off x="4792117" y="3751610"/>
            <a:ext cx="2672918" cy="452041"/>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2B2F45"/>
                </a:solidFill>
                <a:latin typeface="DM Sans" pitchFamily="34" charset="0"/>
                <a:ea typeface="DM Sans" pitchFamily="34" charset="-122"/>
                <a:cs typeface="DM Sans" pitchFamily="34" charset="-120"/>
              </a:rPr>
              <a:t>“The best agents might be the ones with the fewest tools.”</a:t>
            </a:r>
            <a:endParaRPr lang="en-US" sz="1200" dirty="0"/>
          </a:p>
        </p:txBody>
      </p:sp>
      <p:sp>
        <p:nvSpPr>
          <p:cNvPr id="14" name="Text 11"/>
          <p:cNvSpPr/>
          <p:nvPr/>
        </p:nvSpPr>
        <p:spPr>
          <a:xfrm>
            <a:off x="4792117" y="4254450"/>
            <a:ext cx="2672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270"/>
                </a:solidFill>
                <a:latin typeface="DM Sans" pitchFamily="34" charset="0"/>
                <a:ea typeface="DM Sans" pitchFamily="34" charset="-122"/>
                <a:cs typeface="DM Sans" pitchFamily="34" charset="-120"/>
              </a:rPr>
              <a:t>Andrew Qu, Vercel, Dec 2025</a:t>
            </a:r>
            <a:endParaRPr lang="en-US" sz="1200" dirty="0"/>
          </a:p>
        </p:txBody>
      </p:sp>
      <p:pic>
        <p:nvPicPr>
          <p:cNvPr id="15" name="Image 1" descr="arrow-right">    </p:cNvPr>
          <p:cNvPicPr>
            <a:picLocks noChangeAspect="1"/>
          </p:cNvPicPr>
          <p:nvPr/>
        </p:nvPicPr>
        <p:blipFill>
          <a:blip r:embed="rId2"/>
          <a:srcRect l="0" r="0" t="0" b="0"/>
          <a:stretch/>
        </p:blipFill>
        <p:spPr>
          <a:xfrm>
            <a:off x="7806283" y="3552180"/>
            <a:ext cx="304800" cy="152400"/>
          </a:xfrm>
          <a:prstGeom prst="rect">
            <a:avLst/>
          </a:prstGeom>
        </p:spPr>
      </p:pic>
      <p:sp>
        <p:nvSpPr>
          <p:cNvPr id="16" name="Shape 12"/>
          <p:cNvSpPr/>
          <p:nvPr/>
        </p:nvSpPr>
        <p:spPr>
          <a:xfrm>
            <a:off x="8266658" y="2525514"/>
            <a:ext cx="3109367" cy="2205782"/>
          </a:xfrm>
          <a:prstGeom prst="roundRect">
            <a:avLst>
              <a:gd name="adj" fmla="val 6765"/>
            </a:avLst>
          </a:prstGeom>
          <a:solidFill>
            <a:srgbClr val="FCFCFE"/>
          </a:solidFill>
          <a:ln w="6350">
            <a:solidFill>
              <a:srgbClr val="E1E4F2"/>
            </a:solidFill>
            <a:prstDash val="solid"/>
          </a:ln>
        </p:spPr>
      </p:sp>
      <p:sp>
        <p:nvSpPr>
          <p:cNvPr id="17" name="Text 13"/>
          <p:cNvSpPr/>
          <p:nvPr/>
        </p:nvSpPr>
        <p:spPr>
          <a:xfrm>
            <a:off x="8523833" y="2782689"/>
            <a:ext cx="267286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4F63"/>
                </a:solidFill>
                <a:latin typeface="JetBrains Mono" pitchFamily="49" charset="0"/>
                <a:ea typeface="JetBrains Mono" pitchFamily="49" charset="-122"/>
                <a:cs typeface="JetBrains Mono" pitchFamily="49" charset="-120"/>
              </a:rPr>
              <a:t>STEP 3 · IF NEEDED</a:t>
            </a:r>
            <a:endParaRPr lang="en-US" sz="1200" dirty="0"/>
          </a:p>
        </p:txBody>
      </p:sp>
      <p:sp>
        <p:nvSpPr>
          <p:cNvPr id="18" name="Text 14"/>
          <p:cNvSpPr/>
          <p:nvPr/>
        </p:nvSpPr>
        <p:spPr>
          <a:xfrm>
            <a:off x="8523833" y="3072209"/>
            <a:ext cx="2672867"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2F45"/>
                </a:solidFill>
                <a:latin typeface="DM Sans" pitchFamily="34" charset="0"/>
                <a:ea typeface="DM Sans" pitchFamily="34" charset="-122"/>
                <a:cs typeface="DM Sans" pitchFamily="34" charset="-120"/>
              </a:rPr>
              <a:t>Build your own</a:t>
            </a:r>
            <a:endParaRPr lang="en-US" sz="1800" dirty="0"/>
          </a:p>
        </p:txBody>
      </p:sp>
      <p:sp>
        <p:nvSpPr>
          <p:cNvPr id="19" name="Text 15"/>
          <p:cNvSpPr/>
          <p:nvPr/>
        </p:nvSpPr>
        <p:spPr>
          <a:xfrm>
            <a:off x="8523833" y="3544639"/>
            <a:ext cx="267286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2F45"/>
                </a:solidFill>
                <a:latin typeface="DM Sans" pitchFamily="34" charset="0"/>
                <a:ea typeface="DM Sans" pitchFamily="34" charset="-122"/>
                <a:cs typeface="DM Sans" pitchFamily="34" charset="-120"/>
              </a:rPr>
              <a:t>OpenAI: ~1M agent-written lines. Anthropic: 6-hour, $200 runs.</a:t>
            </a:r>
            <a:endParaRPr lang="en-US" sz="1200" dirty="0"/>
          </a:p>
        </p:txBody>
      </p:sp>
      <p:sp>
        <p:nvSpPr>
          <p:cNvPr id="20" name="Text 16"/>
          <p:cNvSpPr/>
          <p:nvPr/>
        </p:nvSpPr>
        <p:spPr>
          <a:xfrm>
            <a:off x="8523833" y="4047480"/>
            <a:ext cx="267286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OpenAI, Feb 2026; Anthropic, Mar 2026</a:t>
            </a:r>
            <a:endParaRPr lang="en-US" sz="1200" dirty="0"/>
          </a:p>
        </p:txBody>
      </p:sp>
      <p:sp>
        <p:nvSpPr>
          <p:cNvPr id="21" name="Text 17"/>
          <p:cNvSpPr/>
          <p:nvPr/>
        </p:nvSpPr>
        <p:spPr>
          <a:xfrm>
            <a:off x="812800" y="4988471"/>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F45"/>
                </a:solidFill>
                <a:latin typeface="DM Sans" pitchFamily="34" charset="0"/>
                <a:ea typeface="DM Sans" pitchFamily="34" charset="-122"/>
                <a:cs typeface="DM Sans" pitchFamily="34" charset="-120"/>
              </a:rPr>
              <a:t>Grow it one fix at a time. Each piece </a:t>
            </a:r>
            <a:r>
              <a:rPr lang="en-US" sz="1400" i="1" dirty="0">
                <a:solidFill>
                  <a:srgbClr val="2B2F45"/>
                </a:solidFill>
                <a:latin typeface="DM Sans" pitchFamily="34" charset="0"/>
                <a:ea typeface="DM Sans" pitchFamily="34" charset="-122"/>
                <a:cs typeface="DM Sans" pitchFamily="34" charset="-120"/>
              </a:rPr>
              <a:t>“encodes an assumption about what the model can't do on its own”</a:t>
            </a:r>
            <a:r>
              <a:rPr lang="en-US" sz="1400" dirty="0">
                <a:solidFill>
                  <a:srgbClr val="2B2F45"/>
                </a:solidFill>
                <a:latin typeface="DM Sans" pitchFamily="34" charset="0"/>
                <a:ea typeface="DM Sans" pitchFamily="34" charset="-122"/>
                <a:cs typeface="DM Sans" pitchFamily="34" charset="-120"/>
              </a:rPr>
              <a:t>: add it when needed, delete it when not. </a:t>
            </a:r>
            <a:r>
              <a:rPr lang="en-US" sz="1400" dirty="0">
                <a:solidFill>
                  <a:srgbClr val="646983"/>
                </a:solidFill>
                <a:latin typeface="DM Sans" pitchFamily="34" charset="0"/>
                <a:ea typeface="DM Sans" pitchFamily="34" charset="-122"/>
                <a:cs typeface="DM Sans" pitchFamily="34" charset="-120"/>
              </a:rPr>
              <a:t>· Prithvi Rajasekaran, Anthropic</a:t>
            </a:r>
            <a:endParaRPr lang="en-US" sz="1400" dirty="0"/>
          </a:p>
        </p:txBody>
      </p:sp>
      <p:sp>
        <p:nvSpPr>
          <p:cNvPr id="22" name="Text 18"/>
          <p:cNvSpPr/>
          <p:nvPr/>
        </p:nvSpPr>
        <p:spPr>
          <a:xfrm>
            <a:off x="812800" y="6238280"/>
            <a:ext cx="847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983"/>
                </a:solidFill>
                <a:latin typeface="DM Sans" pitchFamily="34" charset="0"/>
                <a:ea typeface="DM Sans" pitchFamily="34" charset="-122"/>
                <a:cs typeface="DM Sans" pitchFamily="34" charset="-120"/>
              </a:rPr>
              <a:t>Sources: martinfowler.com (Apr 2026); Vercel (Dec 2025); OpenAI (Feb 2026); Anthropic (Mar 2026)</a:t>
            </a:r>
            <a:endParaRPr lang="en-US" sz="1200" dirty="0"/>
          </a:p>
        </p:txBody>
      </p:sp>
      <p:sp>
        <p:nvSpPr>
          <p:cNvPr id="23" name="Text 19"/>
          <p:cNvSpPr/>
          <p:nvPr/>
        </p:nvSpPr>
        <p:spPr>
          <a:xfrm>
            <a:off x="11185128" y="6238280"/>
            <a:ext cx="19407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983"/>
                </a:solidFill>
                <a:latin typeface="DM Sans" pitchFamily="34" charset="0"/>
                <a:ea typeface="DM Sans" pitchFamily="34" charset="-122"/>
                <a:cs typeface="DM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CE6FB"/>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DCE6FB"/>
              </a:gs>
              <a:gs pos="55000">
                <a:srgbClr val="E9E2FA"/>
              </a:gs>
              <a:gs pos="100000">
                <a:srgbClr val="EFE4F7"/>
              </a:gs>
            </a:gsLst>
            <a:lin ang="2700000" scaled="0"/>
          </a:gradFill>
          <a:ln/>
        </p:spPr>
      </p:sp>
      <p:sp>
        <p:nvSpPr>
          <p:cNvPr id="3" name="Text 1"/>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2B2F45"/>
                </a:solidFill>
                <a:latin typeface="DM Sans" pitchFamily="34" charset="0"/>
                <a:ea typeface="DM Sans" pitchFamily="34" charset="-122"/>
                <a:cs typeface="DM Sans" pitchFamily="34" charset="-120"/>
              </a:rPr>
              <a:t>Start your harness this week</a:t>
            </a:r>
            <a:endParaRPr lang="en-US" sz="3200" dirty="0"/>
          </a:p>
        </p:txBody>
      </p:sp>
      <p:sp>
        <p:nvSpPr>
          <p:cNvPr id="4" name="Shape 2"/>
          <p:cNvSpPr/>
          <p:nvPr/>
        </p:nvSpPr>
        <p:spPr>
          <a:xfrm>
            <a:off x="812800" y="1615430"/>
            <a:ext cx="2527300" cy="1478260"/>
          </a:xfrm>
          <a:prstGeom prst="roundRect">
            <a:avLst>
              <a:gd name="adj" fmla="val 10309"/>
            </a:avLst>
          </a:prstGeom>
          <a:solidFill>
            <a:srgbClr val="FFFFFF">
              <a:alpha val="60000"/>
            </a:srgbClr>
          </a:solidFill>
          <a:ln/>
        </p:spPr>
      </p:sp>
      <p:pic>
        <p:nvPicPr>
          <p:cNvPr id="5" name="Image 0" descr="Search">    </p:cNvPr>
          <p:cNvPicPr>
            <a:picLocks noChangeAspect="1"/>
          </p:cNvPicPr>
          <p:nvPr/>
        </p:nvPicPr>
        <p:blipFill>
          <a:blip r:embed="rId1"/>
          <a:srcRect l="0" r="0" t="0" b="0"/>
          <a:stretch/>
        </p:blipFill>
        <p:spPr>
          <a:xfrm>
            <a:off x="1066800" y="1869430"/>
            <a:ext cx="355600" cy="355600"/>
          </a:xfrm>
          <a:prstGeom prst="rect">
            <a:avLst/>
          </a:prstGeom>
        </p:spPr>
      </p:pic>
      <p:sp>
        <p:nvSpPr>
          <p:cNvPr id="6" name="Text 3"/>
          <p:cNvSpPr/>
          <p:nvPr/>
        </p:nvSpPr>
        <p:spPr>
          <a:xfrm>
            <a:off x="1066800" y="2377430"/>
            <a:ext cx="2079879"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B2F45"/>
                </a:solidFill>
                <a:latin typeface="DM Sans" pitchFamily="34" charset="0"/>
                <a:ea typeface="DM Sans" pitchFamily="34" charset="-122"/>
                <a:cs typeface="DM Sans" pitchFamily="34" charset="-120"/>
              </a:rPr>
              <a:t>Log every mistake you fix by hand</a:t>
            </a:r>
            <a:endParaRPr lang="en-US" sz="1400" dirty="0"/>
          </a:p>
        </p:txBody>
      </p:sp>
      <p:sp>
        <p:nvSpPr>
          <p:cNvPr id="7" name="Shape 4"/>
          <p:cNvSpPr/>
          <p:nvPr/>
        </p:nvSpPr>
        <p:spPr>
          <a:xfrm>
            <a:off x="3492500" y="1615430"/>
            <a:ext cx="2527300" cy="1478260"/>
          </a:xfrm>
          <a:prstGeom prst="roundRect">
            <a:avLst>
              <a:gd name="adj" fmla="val 10309"/>
            </a:avLst>
          </a:prstGeom>
          <a:solidFill>
            <a:srgbClr val="FFFFFF">
              <a:alpha val="60000"/>
            </a:srgbClr>
          </a:solidFill>
          <a:ln/>
        </p:spPr>
      </p:sp>
      <p:pic>
        <p:nvPicPr>
          <p:cNvPr id="8" name="Image 1" descr="Wrench">    </p:cNvPr>
          <p:cNvPicPr>
            <a:picLocks noChangeAspect="1"/>
          </p:cNvPicPr>
          <p:nvPr/>
        </p:nvPicPr>
        <p:blipFill>
          <a:blip r:embed="rId2"/>
          <a:srcRect l="0" r="0" t="0" b="0"/>
          <a:stretch/>
        </p:blipFill>
        <p:spPr>
          <a:xfrm>
            <a:off x="3746500" y="1869430"/>
            <a:ext cx="355600" cy="355600"/>
          </a:xfrm>
          <a:prstGeom prst="rect">
            <a:avLst/>
          </a:prstGeom>
        </p:spPr>
      </p:pic>
      <p:sp>
        <p:nvSpPr>
          <p:cNvPr id="9" name="Text 5"/>
          <p:cNvSpPr/>
          <p:nvPr/>
        </p:nvSpPr>
        <p:spPr>
          <a:xfrm>
            <a:off x="3746500" y="2377430"/>
            <a:ext cx="2079879"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B2F45"/>
                </a:solidFill>
                <a:latin typeface="DM Sans" pitchFamily="34" charset="0"/>
                <a:ea typeface="DM Sans" pitchFamily="34" charset="-122"/>
                <a:cs typeface="DM Sans" pitchFamily="34" charset="-120"/>
              </a:rPr>
              <a:t>Turn repeats into guides or sensors</a:t>
            </a:r>
            <a:endParaRPr lang="en-US" sz="1400" dirty="0"/>
          </a:p>
        </p:txBody>
      </p:sp>
      <p:sp>
        <p:nvSpPr>
          <p:cNvPr id="10" name="Shape 6"/>
          <p:cNvSpPr/>
          <p:nvPr/>
        </p:nvSpPr>
        <p:spPr>
          <a:xfrm>
            <a:off x="6172200" y="1615430"/>
            <a:ext cx="2527300" cy="1478260"/>
          </a:xfrm>
          <a:prstGeom prst="roundRect">
            <a:avLst>
              <a:gd name="adj" fmla="val 10309"/>
            </a:avLst>
          </a:prstGeom>
          <a:solidFill>
            <a:srgbClr val="FFFFFF">
              <a:alpha val="60000"/>
            </a:srgbClr>
          </a:solidFill>
          <a:ln/>
        </p:spPr>
      </p:sp>
      <p:pic>
        <p:nvPicPr>
          <p:cNvPr id="11" name="Image 2" descr="Book">    </p:cNvPr>
          <p:cNvPicPr>
            <a:picLocks noChangeAspect="1"/>
          </p:cNvPicPr>
          <p:nvPr/>
        </p:nvPicPr>
        <p:blipFill>
          <a:blip r:embed="rId3"/>
          <a:srcRect l="0" r="0" t="0" b="0"/>
          <a:stretch/>
        </p:blipFill>
        <p:spPr>
          <a:xfrm>
            <a:off x="6426200" y="1869430"/>
            <a:ext cx="355600" cy="355600"/>
          </a:xfrm>
          <a:prstGeom prst="rect">
            <a:avLst/>
          </a:prstGeom>
        </p:spPr>
      </p:pic>
      <p:sp>
        <p:nvSpPr>
          <p:cNvPr id="12" name="Text 7"/>
          <p:cNvSpPr/>
          <p:nvPr/>
        </p:nvSpPr>
        <p:spPr>
          <a:xfrm>
            <a:off x="6426200" y="2377430"/>
            <a:ext cx="22733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B2F45"/>
                </a:solidFill>
                <a:latin typeface="DM Sans" pitchFamily="34" charset="0"/>
                <a:ea typeface="DM Sans" pitchFamily="34" charset="-122"/>
                <a:cs typeface="DM Sans" pitchFamily="34" charset="-120"/>
              </a:rPr>
              <a:t>Keep AGENTS.md short</a:t>
            </a:r>
            <a:endParaRPr lang="en-US" sz="1400" dirty="0"/>
          </a:p>
        </p:txBody>
      </p:sp>
      <p:sp>
        <p:nvSpPr>
          <p:cNvPr id="13" name="Shape 8"/>
          <p:cNvSpPr/>
          <p:nvPr/>
        </p:nvSpPr>
        <p:spPr>
          <a:xfrm>
            <a:off x="8851900" y="1615430"/>
            <a:ext cx="2527300" cy="1478260"/>
          </a:xfrm>
          <a:prstGeom prst="roundRect">
            <a:avLst>
              <a:gd name="adj" fmla="val 10309"/>
            </a:avLst>
          </a:prstGeom>
          <a:solidFill>
            <a:srgbClr val="FFFFFF">
              <a:alpha val="60000"/>
            </a:srgbClr>
          </a:solidFill>
          <a:ln/>
        </p:spPr>
      </p:sp>
      <p:pic>
        <p:nvPicPr>
          <p:cNvPr id="14" name="Image 3" descr="Verified">    </p:cNvPr>
          <p:cNvPicPr>
            <a:picLocks noChangeAspect="1"/>
          </p:cNvPicPr>
          <p:nvPr/>
        </p:nvPicPr>
        <p:blipFill>
          <a:blip r:embed="rId4"/>
          <a:srcRect l="0" r="0" t="0" b="0"/>
          <a:stretch/>
        </p:blipFill>
        <p:spPr>
          <a:xfrm>
            <a:off x="9105900" y="1869430"/>
            <a:ext cx="355600" cy="355600"/>
          </a:xfrm>
          <a:prstGeom prst="rect">
            <a:avLst/>
          </a:prstGeom>
        </p:spPr>
      </p:pic>
      <p:sp>
        <p:nvSpPr>
          <p:cNvPr id="15" name="Text 9"/>
          <p:cNvSpPr/>
          <p:nvPr/>
        </p:nvSpPr>
        <p:spPr>
          <a:xfrm>
            <a:off x="9105900" y="2377430"/>
            <a:ext cx="2079879"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B2F45"/>
                </a:solidFill>
                <a:latin typeface="DM Sans" pitchFamily="34" charset="0"/>
                <a:ea typeface="DM Sans" pitchFamily="34" charset="-122"/>
                <a:cs typeface="DM Sans" pitchFamily="34" charset="-120"/>
              </a:rPr>
              <a:t>Re-test at every model upgrade</a:t>
            </a:r>
            <a:endParaRPr lang="en-US" sz="1400" dirty="0"/>
          </a:p>
        </p:txBody>
      </p:sp>
      <p:sp>
        <p:nvSpPr>
          <p:cNvPr id="16" name="Text 10"/>
          <p:cNvSpPr/>
          <p:nvPr/>
        </p:nvSpPr>
        <p:spPr>
          <a:xfrm>
            <a:off x="812800" y="574804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B2F45"/>
                </a:solidFill>
                <a:latin typeface="DM Sans" pitchFamily="34" charset="0"/>
                <a:ea typeface="DM Sans" pitchFamily="34" charset="-122"/>
                <a:cs typeface="DM Sans" pitchFamily="34" charset="-120"/>
              </a:rPr>
              <a:t>Agent = Model + Harness. You build the harness.</a:t>
            </a:r>
            <a:endParaRPr lang="en-US" sz="1800" dirty="0"/>
          </a:p>
        </p:txBody>
      </p:sp>
    </p:spTree>
  </p:cSld>
  <p:clrMapOvr>
    <a:masterClrMapping/>
  </p:clrMapOvr>
</p:sld>
</file>

<file path=ppt/theme/theme1.xml><?xml version="1.0" encoding="utf-8"?>
<a:theme xmlns:a="http://schemas.openxmlformats.org/drawingml/2006/main" name="Harness Engineering: From Prompts to Systems">
  <a:themeElements>
    <a:clrScheme name="Harness Engineering: From Prompts to Systems">
      <a:dk1>
        <a:srgbClr val="2B2F45"/>
      </a:dk1>
      <a:lt1>
        <a:srgbClr val="F5F6FB"/>
      </a:lt1>
      <a:dk2>
        <a:srgbClr val="5E6173"/>
      </a:dk2>
      <a:lt2>
        <a:srgbClr val="E1E2E9"/>
      </a:lt2>
      <a:accent1>
        <a:srgbClr val="4E52B8"/>
      </a:accent1>
      <a:accent2>
        <a:srgbClr val="5A5ED6"/>
      </a:accent2>
      <a:accent3>
        <a:srgbClr val="6C70E0"/>
      </a:accent3>
      <a:accent4>
        <a:srgbClr val="3E42A0"/>
      </a:accent4>
      <a:accent5>
        <a:srgbClr val="CFD6F6"/>
      </a:accent5>
      <a:accent6>
        <a:srgbClr val="C9CFF3"/>
      </a:accent6>
      <a:hlink>
        <a:srgbClr val="0563C1"/>
      </a:hlink>
      <a:folHlink>
        <a:srgbClr val="954F72"/>
      </a:folHlink>
    </a:clrScheme>
    <a:fontScheme name="Harness Engineering: From Prompts to System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Harness Engineering: From Prompts to Systems</dc:title>
  <dc:subject/>
  <dc:creator/>
  <cp:lastModifiedBy/>
  <cp:revision>1</cp:revision>
  <dcterms:created xsi:type="dcterms:W3CDTF">2026-10-11T13:51:17Z</dcterms:created>
  <dcterms:modified xsi:type="dcterms:W3CDTF">2026-10-11T13:51:17Z</dcterms:modified>
</cp:coreProperties>
</file>