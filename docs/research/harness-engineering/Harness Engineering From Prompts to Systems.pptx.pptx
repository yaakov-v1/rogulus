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JetBrains Mono" charset="1" panose="02010509020102050004"/>
      <p:regular r:id="rId26"/>
    </p:embeddedFont>
    <p:embeddedFont>
      <p:font typeface="DM Sans Bold" charset="1" panose="00000000000000000000"/>
      <p:regular r:id="rId27"/>
    </p:embeddedFont>
    <p:embeddedFont>
      <p:font typeface="DM Sans" charset="1" panose="00000000000000000000"/>
      <p:regular r:id="rId28"/>
    </p:embeddedFont>
    <p:embeddedFont>
      <p:font typeface="DM Sans Italics" charset="1" panose="00000000000000000000"/>
      <p:regular r:id="rId29"/>
    </p:embeddedFont>
    <p:embeddedFont>
      <p:font typeface="Canva Sans Italics" charset="1" panose="020B0503030501040103"/>
      <p:regular r:id="rId37"/>
    </p:embeddedFont>
    <p:embeddedFont>
      <p:font typeface="Canva Sans Bold" charset="1" panose="020B0803030501040103"/>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fonts/font37.fntdata" Type="http://schemas.openxmlformats.org/officeDocument/2006/relationships/font"/><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Harness engineering is the practice of building everything around an AI model, such as tools, context, feedback loops and constraints, so an agent does reliable work. Plan: why it matters, what a harness is, how the idea developed from 2022 to 2026, the evidence, how teams apply it, and the open debates. Fill in the presenter name and event before presenting.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OpenAI's harness engineering report says single Codex runs regularly work on one task for upwards of six hours, often while the humans sleep, and calls human time and attention the one truly scarce resource. Cursor (Wilson Lin, Jan 2026): hundreds of concurrent agents wrote over 1M lines across 1,000 files in close to a week while building a web browser. Anthropic (Nicholas Carlini, 5 Feb 2026): 16 agents, nearly 2,000 Claude Code sessions and about $20,000 produced a 100,000-line Rust C compiler that builds Linux 6.9 on x86, ARM and RISC-V. Sources: openai.com/index/harness-engineering; cursor.com/blog/scaling-agents; anthropic.com/engineering/building-c-compiler.</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where we're going today. First, a quick look at why this matters at all: the same model can do a lot better or a lot worse depending on what you wrap around it. Then we'll pin down what a harness actually is, what's inside one, and which parts you control versus which parts your tool vendor controls. After that, a short history, from the prompt tricks of 2022 to the term "harness engineering" showing up this February. Then the evidence, mainly two case studies from OpenAI and Anthropic. Then the practical part: how teams actually build a harness. And we'll finish with the big open question, whether better models make all of this unnecessary, plus where teams are today. Then we'll close with two questions you're probably already asking: do we need to understand this, and do we need to build our own setup? And I'll leave you with a few things to try this week.</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LangChain kept GPT-5.2-Codex fixed and changed only its harness (system prompt, tools and middleware such as a pre-completion checklist and loop detection). Its coding agent went from 52.8% to 66.5% on Terminal-Bench 2.0, from outside the top 30 to the top 5. A separate comparison by Composio ran the same model, provider and tools through 8 harnesses on 25 tasks; success ranged from 68% to 88%. Sources: langchain.com/blog/improving-deep-agents-with-harness-engineering (17 Feb 2026); marmelab.com/blog/2026/09/24/the-state-of-ai-harness-engineering-2026.html (citing Composio).</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formula comes from Vivek Trivedy at LangChain (10 Mar 2026): a harness is every piece of code, configuration and execution logic that isn't the model, including system prompts, tools, skills and MCP servers, a filesystem, sandbox and browser, orchestration, and hooks or middleware. The practice of harness engineering was named by Mitchell Hashimoto on 5 Feb 2026: whenever an agent makes a mistake, engineer a fix so it never makes that mistake again, either as a line in AGENTS.md or as a programmed tool. Six days later OpenAI used the term in a major report and it went mainstream. Sources: langchain.com/blog/the-anatomy-of-an-agent-harness; mitchellh.com/writing/my-ai-adoption-journey.</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2022 to 2023, prompts and loops: ReAct (Oct 2022) defined the reason, act, observe loop; AutoGPT (30 Mar 2023) and BabyAGI (early Apr 2023) were the first viral autonomous loops; OpenAI added function calling on 13 Jun 2023. 2024, agent interfaces: Devin launched 12 Mar 2024; SWE-agent (May 2024) showed a purpose-built agent-computer interface lifted SWE-bench to 12.5%; Anthropic released MCP on 25 Nov 2024. 2025, coding agents: Claude Code preview 24 Feb 2025; Codex CLI 16 Apr and Codex cloud 16 May 2025; AGENTS.md in Aug 2025; Agent Skills 16 Oct 2025; Anthropic's long-running harness 26 Nov 2025. 2026, harness engineering: Hashimoto 5 Feb, OpenAI 11 Feb, Böckeler's memo 17 Feb and full article 2 Apr, LangChain's anatomy 10 Mar, automated harness research such as Meta-Harness from Mar 2026. The italic line in each band is the term people used at the time.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Prompt engineering optimized the wording of a single request and went mainstream with ChatGPT in 2022 and 2023. Context engineering curates everything the model sees on each turn: Cognition's Walden Yan used the term on 12 Jun 2025, then Tobi Lütke and Andrej Karpathy popularized it later that month, and Anthropic published a guide in Sept 2025. Harness engineering covers the whole system around the model, including the loop, tools, environment, feedback and constraints; it was named in Feb 2026. Most writers treat these as nested layers, as drawn here, but Birgitta Böckeler treats user-side harness engineering as a specific form of context engineering, so the boundary is still debated.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 it left to right as one cycle. Guides steer the model before it acts. The model acts with tools inside the environment. Sensors check the result, and their feedback goes straight back to the model so it can fix and retry; that loop is the agent loop. Everything in the white box is the harness. Sources: Sanderson de Macedo (arXiv 2606.10106, Jun 2026) defines a harness by four parts: an agent loop, a tool interface, context management and control mechanisms. Birgitta Böckeler (martinfowler.com, Apr 2026) splits the controls into guides (before) and sensors (after). LangChain (Mar 2026) lists the components: prompts, tools, skills, MCP servers, sandbox, orchestration and hooks.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map, not a manual: OpenAI replaced one big AGENTS.md with a roughly 100-line table of contents pointing into a docs/ folder. Enforce with code, not prose: a study of 481 public CLAUDE.md files (arXiv 2608.23550, as summarized by Marmelab, Sept 2026) found only 4.4% of written security rules were backed by an actual control. Fast checks on every change: LangChain's pre-completion checklist makes the agent run a verification pass before it may stop. State in files and git: Anthropic's long-running harness (Nov 2025) uses a feature list, a progress file and git commits so each new context can resume. Build to delete: Anthropic (Mar 2026) says every harness component encodes an assumption about what the model can't do, so re-test and remove pieces as models improve.</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skeptic case: Noam Brown, quoted by Latent Space (5 Mar 2026), argued that just as reasoning models replaced the scaffolding built around earlier models, today's scaffolds will be replaced as models become more capable. Vercel (22 Dec 2025) likewise advised building for the model you'll have in six months. The counter case: Anthropic (24 Mar 2026) found that the space of interesting harness combinations moves rather than shrinks, and that better models leave room for harnesses that do more than the model can alone. Evidence: Opus 4.5 removed the need for context resets and Opus 4.6 made sprints unnecessary, but the planner and evaluator still added value. Related: Cognition argued against multi-agent systems in Jun 2025, then reported multi-agent deployments working in practice in Apr 2026.</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Marmelab (François Zaninotto, 24 Sept 2026) audited 246 harness repositories and read 57 publications, with a counter-test of 145 large open-source projects. 63% of those 145 ship an agent instruction file, but only 4 (about 3%) declare a subagent. Only 12 of 391 repositories (about 3%) commit a single deny rule. Of 97 harnesses big enough to test, 60% have neither a test nor an eval, so only 40% have any. AGENTS.md is winning: 189 repos have one at the root versus 155 with CLAUDE.md. About a quarter of commits touching a harness are explicitly AI-signed. Note each bar has a different base, shown under its label. Source: marmelab.com/blog/2026/09/24/the-state-of-ai-harness-engineering-2026.html.</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Second question: do we have to build our own setup to keep up? Not from scratch, and here's what the people who've done it say. Step one, use your tool as it comes. Birgitta Böckeler at Thoughtworks describes it as two layers: the vendor ships the inner harness inside Claude Code, Codex or Cursor, and we users build the outer one around our own codebase. Step two is where I'd start, and it's small: a short AGENTS.md, your existing tests and linters wired in as checks, and a few skills. Keep it lean. Vercel removed most of their agent's tools and it got better; as Andrew Qu wrote, "the best agents might be the ones with the fewest tools." Step three, a full harness of your own, is what OpenAI and Anthropic did for an agent-built product with about a million lines, and for unattended six-hour, two-hundred-dollar runs. Most of us won't need that. Finally, grow it one fix at a time. Prithvi Rajasekaran at Anthropic points out that every harness piece "encodes an assumption about what the model can't do on its own," so add pieces when the agent keeps failing, and remove them when a new model no longer needs them. Sources: martinfowler.com/articles/harness-engineering.html; vercel.com/blog/we-removed-80-percent-of-our-agents-tools; openai.com/index/harness-engineering; anthropic.com/engineering/harness-design-long-running-apps.</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two questions I'd expect from this room. First: do we actually need to understand any of this? I'd say yes, but only enough to steer it. The OpenAI team that built a million lines with agents summed up their job in four words: "Humans steer. Agents execute." Three reasons it's worth knowing. One, the harness moves results about as much as picking a better model. LangChain kept the same model and went from 52.8 to 66.5 percent on Terminal-Bench 2.0 just by changing the harness. Two, you already have one. Vivek Trivedy at LangChain put it simply: "If you're not the model, you're the harness." Every AGENTS.md line you write is harness. Three, it tells you what to fix. Mitchell Hashimoto's rule is that whenever an agent makes a mistake, you "engineer a solution such that the agent never makes that mistake again." Sources: openai.com/index/harness-engineering; langchain.com/blog/improving-deep-agents-with-harness-engineering; langchain.com/blog/the-anatomy-of-an-agent-harness; mitchellh.com/writing/my-ai-adoption-journey.</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 this slide as a pointer during Q&amp;A or as a backup. Böckeler's article opens with an overview diagram of a coding-agent harness: guides on one side (principles, rules, reference docs, how-tos, language servers, CLIs, scripts, codemods) and sensors on the other (review agents, static analysis, logs, browser). De Macedo's paper has five figures; Fig. 1 shows the model as a horse and the harness as the tack that channels its power, and Fig. 3 maps the components around the model (tool registry, context manager, memory, agent loop, verifier, retry, observability, guardrails, deterministic handlers). Cursor's post includes a screenshot of the web browser its agents built from scratch. If you want any of these on a slide, take the screenshot yourself, add a credit line and check the author's reuse terms.</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on actions the audience can take this week. The first two are Hashimoto's habit and Böckeler's steering loop: every time you correct an agent, ask whether a guide (an instruction, a skill, a doc) or a sensor (a test, a linter, a hook) would have caught it, and add one. Keeping AGENTS.md short is OpenAI's lesson: a map that points into deeper docs. Re-testing at every model upgrade is Anthropic's: every component encodes an assumption about the model, so strip what is no longer load-bearing. Invite questions.</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on actions the audience can take this week. The first two are Hashimoto's habit and Böckeler's steering loop: every time you correct an agent, ask whether a guide (an instruction, a skill, a doc) or a sensor (a test, a linter, a hook) would have caught it, and add one. Keeping AGENTS.md short is OpenAI's lesson: a map that points into deeper docs. Re-testing at every model upgrade is Anthropic's: every component encodes an assumption about the model, so strip what is no longer load-bearing. Invite questions.</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https://arxiv.org/abs/2606.10106"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5.png" Type="http://schemas.openxmlformats.org/officeDocument/2006/relationships/image"/><Relationship Id="rId4" Target="https://martinfowler.com/articles/harness-engineering.html" TargetMode="External" Type="http://schemas.openxmlformats.org/officeDocument/2006/relationships/hyperlink"/><Relationship Id="rId5" Target="https://arxiv.org/abs/2606.10106" TargetMode="External" Type="http://schemas.openxmlformats.org/officeDocument/2006/relationships/hyperlink"/><Relationship Id="rId6" Target="https://arxiv.org/abs/2606.10106" TargetMode="External" Type="http://schemas.openxmlformats.org/officeDocument/2006/relationships/hyperlink"/><Relationship Id="rId7" Target="https://cursor.com/blog/scaling-agents"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6.png" Type="http://schemas.openxmlformats.org/officeDocument/2006/relationships/image"/><Relationship Id="rId4" Target="../media/image21.png" Type="http://schemas.openxmlformats.org/officeDocument/2006/relationships/image"/><Relationship Id="rId5" Target="../media/image17.png" Type="http://schemas.openxmlformats.org/officeDocument/2006/relationships/image"/><Relationship Id="rId6"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DCE6F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DCE6FB">
                    <a:alpha val="100000"/>
                  </a:srgbClr>
                </a:gs>
                <a:gs pos="55000">
                  <a:srgbClr val="E9E2FA">
                    <a:alpha val="100000"/>
                  </a:srgbClr>
                </a:gs>
                <a:gs pos="100000">
                  <a:srgbClr val="EFE4F7">
                    <a:alpha val="100000"/>
                  </a:srgbClr>
                </a:gs>
              </a:gsLst>
              <a:lin ang="2700000"/>
            </a:gradFill>
          </p:spPr>
        </p:sp>
      </p:grpSp>
      <p:sp>
        <p:nvSpPr>
          <p:cNvPr name="TextBox 4" id="4"/>
          <p:cNvSpPr txBox="true"/>
          <p:nvPr/>
        </p:nvSpPr>
        <p:spPr>
          <a:xfrm rot="0">
            <a:off x="1219200" y="2930947"/>
            <a:ext cx="9889236" cy="396183"/>
          </a:xfrm>
          <a:prstGeom prst="rect">
            <a:avLst/>
          </a:prstGeom>
        </p:spPr>
        <p:txBody>
          <a:bodyPr anchor="t" rtlCol="false" tIns="0" lIns="0" bIns="0" rIns="0">
            <a:spAutoFit/>
          </a:bodyPr>
          <a:lstStyle/>
          <a:p>
            <a:pPr algn="l">
              <a:lnSpc>
                <a:spcPts val="2520"/>
              </a:lnSpc>
            </a:pPr>
            <a:r>
              <a:rPr lang="en-US" sz="1800" spc="225">
                <a:solidFill>
                  <a:srgbClr val="4E52B8"/>
                </a:solidFill>
                <a:latin typeface="JetBrains Mono"/>
                <a:ea typeface="JetBrains Mono"/>
                <a:cs typeface="JetBrains Mono"/>
                <a:sym typeface="JetBrains Mono"/>
              </a:rPr>
              <a:t>A FIELD OVERVIEW, 2022–2026</a:t>
            </a:r>
          </a:p>
        </p:txBody>
      </p:sp>
      <p:sp>
        <p:nvSpPr>
          <p:cNvPr name="TextBox 5" id="5"/>
          <p:cNvSpPr txBox="true"/>
          <p:nvPr/>
        </p:nvSpPr>
        <p:spPr>
          <a:xfrm rot="0">
            <a:off x="1219200" y="3746230"/>
            <a:ext cx="9889236" cy="2217391"/>
          </a:xfrm>
          <a:prstGeom prst="rect">
            <a:avLst/>
          </a:prstGeom>
        </p:spPr>
        <p:txBody>
          <a:bodyPr anchor="t" rtlCol="false" tIns="0" lIns="0" bIns="0" rIns="0">
            <a:spAutoFit/>
          </a:bodyPr>
          <a:lstStyle/>
          <a:p>
            <a:pPr algn="l">
              <a:lnSpc>
                <a:spcPts val="9180"/>
              </a:lnSpc>
            </a:pPr>
            <a:r>
              <a:rPr lang="en-US" b="true" sz="9000" spc="-225">
                <a:solidFill>
                  <a:srgbClr val="2B2F45"/>
                </a:solidFill>
                <a:latin typeface="DM Sans Bold"/>
                <a:ea typeface="DM Sans Bold"/>
                <a:cs typeface="DM Sans Bold"/>
                <a:sym typeface="DM Sans Bold"/>
              </a:rPr>
              <a:t>Harness Engineering</a:t>
            </a:r>
          </a:p>
        </p:txBody>
      </p:sp>
      <p:sp>
        <p:nvSpPr>
          <p:cNvPr name="TextBox 6" id="6"/>
          <p:cNvSpPr txBox="true"/>
          <p:nvPr/>
        </p:nvSpPr>
        <p:spPr>
          <a:xfrm rot="0">
            <a:off x="1219200" y="6192222"/>
            <a:ext cx="9889236" cy="874395"/>
          </a:xfrm>
          <a:prstGeom prst="rect">
            <a:avLst/>
          </a:prstGeom>
        </p:spPr>
        <p:txBody>
          <a:bodyPr anchor="t" rtlCol="false" tIns="0" lIns="0" bIns="0" rIns="0">
            <a:spAutoFit/>
          </a:bodyPr>
          <a:lstStyle/>
          <a:p>
            <a:pPr algn="l">
              <a:lnSpc>
                <a:spcPts val="3645"/>
              </a:lnSpc>
            </a:pPr>
            <a:r>
              <a:rPr lang="en-US" sz="2700">
                <a:solidFill>
                  <a:srgbClr val="565B75"/>
                </a:solidFill>
                <a:latin typeface="DM Sans"/>
                <a:ea typeface="DM Sans"/>
                <a:cs typeface="DM Sans"/>
                <a:sym typeface="DM Sans"/>
              </a:rPr>
              <a:t>“Achieve better performance towards a goal”</a:t>
            </a:r>
          </a:p>
          <a:p>
            <a:pPr algn="l">
              <a:lnSpc>
                <a:spcPts val="3375"/>
              </a:lnSpc>
            </a:pPr>
            <a:r>
              <a:rPr lang="en-US" sz="2500" i="true">
                <a:solidFill>
                  <a:srgbClr val="7D82A0"/>
                </a:solidFill>
                <a:latin typeface="DM Sans Italics"/>
                <a:ea typeface="DM Sans Italics"/>
                <a:cs typeface="DM Sans Italics"/>
                <a:sym typeface="DM Sans Italics"/>
              </a:rPr>
              <a:t>How the layer around the model becomes a discipline</a:t>
            </a:r>
          </a:p>
        </p:txBody>
      </p:sp>
      <p:sp>
        <p:nvSpPr>
          <p:cNvPr name="TextBox 7" id="7"/>
          <p:cNvSpPr txBox="true"/>
          <p:nvPr/>
        </p:nvSpPr>
        <p:spPr>
          <a:xfrm rot="0">
            <a:off x="1219200" y="7295217"/>
            <a:ext cx="9889236" cy="396183"/>
          </a:xfrm>
          <a:prstGeom prst="rect">
            <a:avLst/>
          </a:prstGeom>
        </p:spPr>
        <p:txBody>
          <a:bodyPr anchor="t" rtlCol="false" tIns="0" lIns="0" bIns="0" rIns="0">
            <a:spAutoFit/>
          </a:bodyPr>
          <a:lstStyle/>
          <a:p>
            <a:pPr algn="l">
              <a:lnSpc>
                <a:spcPts val="2520"/>
              </a:lnSpc>
            </a:pPr>
            <a:r>
              <a:rPr lang="en-US" sz="1800">
                <a:solidFill>
                  <a:srgbClr val="565B75"/>
                </a:solidFill>
                <a:latin typeface="DM Sans"/>
                <a:ea typeface="DM Sans"/>
                <a:cs typeface="DM Sans"/>
                <a:sym typeface="DM Sans"/>
              </a:rPr>
              <a:t>John Albert Jacob · Brownbag · October 2026</a:t>
            </a:r>
          </a:p>
        </p:txBody>
      </p:sp>
      <p:grpSp>
        <p:nvGrpSpPr>
          <p:cNvPr name="Group 8" id="8"/>
          <p:cNvGrpSpPr/>
          <p:nvPr/>
        </p:nvGrpSpPr>
        <p:grpSpPr>
          <a:xfrm rot="0">
            <a:off x="11734800" y="2476500"/>
            <a:ext cx="5334000" cy="5334000"/>
            <a:chOff x="0" y="0"/>
            <a:chExt cx="7112000" cy="7112000"/>
          </a:xfrm>
        </p:grpSpPr>
        <p:sp>
          <p:nvSpPr>
            <p:cNvPr name="Freeform 9" id="9"/>
            <p:cNvSpPr/>
            <p:nvPr/>
          </p:nvSpPr>
          <p:spPr>
            <a:xfrm flipH="false" flipV="false" rot="0">
              <a:off x="0" y="0"/>
              <a:ext cx="7112000" cy="7112000"/>
            </a:xfrm>
            <a:custGeom>
              <a:avLst/>
              <a:gdLst/>
              <a:ahLst/>
              <a:cxnLst/>
              <a:rect r="r" b="b" t="t" l="l"/>
              <a:pathLst>
                <a:path h="7112000" w="7112000">
                  <a:moveTo>
                    <a:pt x="0" y="904875"/>
                  </a:moveTo>
                  <a:cubicBezTo>
                    <a:pt x="0" y="405130"/>
                    <a:pt x="405130" y="0"/>
                    <a:pt x="904875" y="0"/>
                  </a:cubicBezTo>
                  <a:lnTo>
                    <a:pt x="6207125" y="0"/>
                  </a:lnTo>
                  <a:cubicBezTo>
                    <a:pt x="6706870" y="0"/>
                    <a:pt x="7112000" y="405130"/>
                    <a:pt x="7112000" y="904875"/>
                  </a:cubicBezTo>
                  <a:lnTo>
                    <a:pt x="7112000" y="6207125"/>
                  </a:lnTo>
                  <a:cubicBezTo>
                    <a:pt x="7112000" y="6706870"/>
                    <a:pt x="6706870" y="7112000"/>
                    <a:pt x="6207125" y="7112000"/>
                  </a:cubicBezTo>
                  <a:lnTo>
                    <a:pt x="904875" y="7112000"/>
                  </a:lnTo>
                  <a:cubicBezTo>
                    <a:pt x="405130" y="7112000"/>
                    <a:pt x="0" y="6706870"/>
                    <a:pt x="0" y="6207125"/>
                  </a:cubicBezTo>
                  <a:close/>
                </a:path>
              </a:pathLst>
            </a:custGeom>
            <a:solidFill>
              <a:srgbClr val="FFFFFF">
                <a:alpha val="24706"/>
              </a:srgbClr>
            </a:solidFill>
            <a:ln w="19050" cap="sq">
              <a:solidFill>
                <a:srgbClr val="C9CFF3"/>
              </a:solidFill>
              <a:prstDash val="solid"/>
              <a:miter/>
            </a:ln>
          </p:spPr>
        </p:sp>
      </p:grpSp>
      <p:grpSp>
        <p:nvGrpSpPr>
          <p:cNvPr name="Group 10" id="10"/>
          <p:cNvGrpSpPr/>
          <p:nvPr/>
        </p:nvGrpSpPr>
        <p:grpSpPr>
          <a:xfrm rot="0">
            <a:off x="13258800" y="4000500"/>
            <a:ext cx="2286000" cy="2286000"/>
            <a:chOff x="0" y="0"/>
            <a:chExt cx="3048000" cy="3048000"/>
          </a:xfrm>
        </p:grpSpPr>
        <p:sp>
          <p:nvSpPr>
            <p:cNvPr name="Freeform 11" id="11"/>
            <p:cNvSpPr/>
            <p:nvPr/>
          </p:nvSpPr>
          <p:spPr>
            <a:xfrm flipH="false" flipV="false" rot="0">
              <a:off x="0" y="0"/>
              <a:ext cx="3048000" cy="3048000"/>
            </a:xfrm>
            <a:custGeom>
              <a:avLst/>
              <a:gdLst/>
              <a:ahLst/>
              <a:cxnLst/>
              <a:rect r="r" b="b" t="t" l="l"/>
              <a:pathLst>
                <a:path h="3048000" w="3048000">
                  <a:moveTo>
                    <a:pt x="0" y="508000"/>
                  </a:moveTo>
                  <a:cubicBezTo>
                    <a:pt x="0" y="227457"/>
                    <a:pt x="227457" y="0"/>
                    <a:pt x="508000" y="0"/>
                  </a:cubicBezTo>
                  <a:lnTo>
                    <a:pt x="2540000" y="0"/>
                  </a:lnTo>
                  <a:cubicBezTo>
                    <a:pt x="2820543" y="0"/>
                    <a:pt x="3048000" y="227457"/>
                    <a:pt x="3048000" y="508000"/>
                  </a:cubicBezTo>
                  <a:lnTo>
                    <a:pt x="3048000" y="2540000"/>
                  </a:lnTo>
                  <a:cubicBezTo>
                    <a:pt x="3048000" y="2820543"/>
                    <a:pt x="2820543" y="3048000"/>
                    <a:pt x="2540000" y="3048000"/>
                  </a:cubicBezTo>
                  <a:lnTo>
                    <a:pt x="508000" y="3048000"/>
                  </a:lnTo>
                  <a:cubicBezTo>
                    <a:pt x="227457" y="3048000"/>
                    <a:pt x="0" y="2820543"/>
                    <a:pt x="0" y="2540000"/>
                  </a:cubicBezTo>
                  <a:close/>
                </a:path>
              </a:pathLst>
            </a:custGeom>
            <a:solidFill>
              <a:srgbClr val="5A5ED6"/>
            </a:solidFill>
          </p:spPr>
        </p:sp>
        <p:sp>
          <p:nvSpPr>
            <p:cNvPr name="TextBox 12" id="12"/>
            <p:cNvSpPr txBox="true"/>
            <p:nvPr/>
          </p:nvSpPr>
          <p:spPr>
            <a:xfrm>
              <a:off x="0" y="-47625"/>
              <a:ext cx="3048000" cy="3095625"/>
            </a:xfrm>
            <a:prstGeom prst="rect">
              <a:avLst/>
            </a:prstGeom>
          </p:spPr>
          <p:txBody>
            <a:bodyPr anchor="ctr" rtlCol="false" tIns="50800" lIns="50800" bIns="50800" rIns="50800"/>
            <a:lstStyle/>
            <a:p>
              <a:pPr algn="ctr">
                <a:lnSpc>
                  <a:spcPts val="3779"/>
                </a:lnSpc>
              </a:pPr>
              <a:r>
                <a:rPr lang="en-US" sz="2700" b="true">
                  <a:solidFill>
                    <a:srgbClr val="FCFCFE"/>
                  </a:solidFill>
                  <a:latin typeface="DM Sans Bold"/>
                  <a:ea typeface="DM Sans Bold"/>
                  <a:cs typeface="DM Sans Bold"/>
                  <a:sym typeface="DM Sans Bold"/>
                </a:rPr>
                <a:t>Model</a:t>
              </a:r>
            </a:p>
          </p:txBody>
        </p:sp>
      </p:grpSp>
      <p:sp>
        <p:nvSpPr>
          <p:cNvPr name="TextBox 13" id="13"/>
          <p:cNvSpPr txBox="true"/>
          <p:nvPr/>
        </p:nvSpPr>
        <p:spPr>
          <a:xfrm rot="0">
            <a:off x="12192000" y="2819400"/>
            <a:ext cx="3139440" cy="396183"/>
          </a:xfrm>
          <a:prstGeom prst="rect">
            <a:avLst/>
          </a:prstGeom>
        </p:spPr>
        <p:txBody>
          <a:bodyPr anchor="t" rtlCol="false" tIns="0" lIns="0" bIns="0" rIns="0">
            <a:spAutoFit/>
          </a:bodyPr>
          <a:lstStyle/>
          <a:p>
            <a:pPr algn="l">
              <a:lnSpc>
                <a:spcPts val="2520"/>
              </a:lnSpc>
            </a:pPr>
            <a:r>
              <a:rPr lang="en-US" sz="1800" spc="149">
                <a:solidFill>
                  <a:srgbClr val="4E52B8"/>
                </a:solidFill>
                <a:latin typeface="JetBrains Mono"/>
                <a:ea typeface="JetBrains Mono"/>
                <a:cs typeface="JetBrains Mono"/>
                <a:sym typeface="JetBrains Mono"/>
              </a:rPr>
              <a:t>HARNESS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Agents now run for hours</a:t>
            </a:r>
          </a:p>
        </p:txBody>
      </p:sp>
      <p:grpSp>
        <p:nvGrpSpPr>
          <p:cNvPr name="Group 3" id="3"/>
          <p:cNvGrpSpPr/>
          <p:nvPr/>
        </p:nvGrpSpPr>
        <p:grpSpPr>
          <a:xfrm rot="0">
            <a:off x="1219200" y="3226146"/>
            <a:ext cx="5079949" cy="3737524"/>
            <a:chOff x="0" y="0"/>
            <a:chExt cx="6773266" cy="4983366"/>
          </a:xfrm>
        </p:grpSpPr>
        <p:sp>
          <p:nvSpPr>
            <p:cNvPr name="Freeform 4" id="4"/>
            <p:cNvSpPr/>
            <p:nvPr/>
          </p:nvSpPr>
          <p:spPr>
            <a:xfrm flipH="false" flipV="false" rot="0">
              <a:off x="0" y="0"/>
              <a:ext cx="6773291" cy="4983353"/>
            </a:xfrm>
            <a:custGeom>
              <a:avLst/>
              <a:gdLst/>
              <a:ahLst/>
              <a:cxnLst/>
              <a:rect r="r" b="b" t="t" l="l"/>
              <a:pathLst>
                <a:path h="4983353" w="6773291">
                  <a:moveTo>
                    <a:pt x="0" y="299212"/>
                  </a:moveTo>
                  <a:cubicBezTo>
                    <a:pt x="0" y="133985"/>
                    <a:pt x="133985" y="0"/>
                    <a:pt x="299212" y="0"/>
                  </a:cubicBezTo>
                  <a:lnTo>
                    <a:pt x="6474079" y="0"/>
                  </a:lnTo>
                  <a:cubicBezTo>
                    <a:pt x="6639306" y="0"/>
                    <a:pt x="6773291" y="133985"/>
                    <a:pt x="6773291" y="299212"/>
                  </a:cubicBezTo>
                  <a:lnTo>
                    <a:pt x="6773291" y="4684141"/>
                  </a:lnTo>
                  <a:cubicBezTo>
                    <a:pt x="6773291" y="4849368"/>
                    <a:pt x="6639306" y="4983353"/>
                    <a:pt x="6474079" y="4983353"/>
                  </a:cubicBezTo>
                  <a:lnTo>
                    <a:pt x="299212" y="4983353"/>
                  </a:lnTo>
                  <a:cubicBezTo>
                    <a:pt x="133985" y="4983353"/>
                    <a:pt x="0" y="4849368"/>
                    <a:pt x="0" y="4684141"/>
                  </a:cubicBezTo>
                  <a:close/>
                </a:path>
              </a:pathLst>
            </a:custGeom>
            <a:solidFill>
              <a:srgbClr val="FCFCFE"/>
            </a:solidFill>
            <a:ln w="9525" cap="sq">
              <a:solidFill>
                <a:srgbClr val="E1E4F2"/>
              </a:solidFill>
              <a:prstDash val="solid"/>
              <a:miter/>
            </a:ln>
          </p:spPr>
        </p:sp>
      </p:grpSp>
      <p:grpSp>
        <p:nvGrpSpPr>
          <p:cNvPr name="Group 5" id="5"/>
          <p:cNvGrpSpPr/>
          <p:nvPr/>
        </p:nvGrpSpPr>
        <p:grpSpPr>
          <a:xfrm rot="0">
            <a:off x="1685925" y="3692871"/>
            <a:ext cx="609600" cy="609600"/>
            <a:chOff x="0" y="0"/>
            <a:chExt cx="812800" cy="812800"/>
          </a:xfrm>
        </p:grpSpPr>
        <p:sp>
          <p:nvSpPr>
            <p:cNvPr name="Freeform 6" id="6" descr="Clock"/>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3"/>
              <a:stretch>
                <a:fillRect l="0" t="0" r="0" b="0"/>
              </a:stretch>
            </a:blipFill>
          </p:spPr>
        </p:sp>
      </p:grpSp>
      <p:sp>
        <p:nvSpPr>
          <p:cNvPr name="TextBox 7" id="7"/>
          <p:cNvSpPr txBox="true"/>
          <p:nvPr/>
        </p:nvSpPr>
        <p:spPr>
          <a:xfrm rot="0">
            <a:off x="1685925" y="4616796"/>
            <a:ext cx="4270896" cy="1019175"/>
          </a:xfrm>
          <a:prstGeom prst="rect">
            <a:avLst/>
          </a:prstGeom>
        </p:spPr>
        <p:txBody>
          <a:bodyPr anchor="t" rtlCol="false" tIns="0" lIns="0" bIns="0" rIns="0">
            <a:spAutoFit/>
          </a:bodyPr>
          <a:lstStyle/>
          <a:p>
            <a:pPr algn="l">
              <a:lnSpc>
                <a:spcPts val="9000"/>
              </a:lnSpc>
            </a:pPr>
            <a:r>
              <a:rPr lang="en-US" b="true" sz="9000" spc="-150">
                <a:solidFill>
                  <a:srgbClr val="6C70E0"/>
                </a:solidFill>
                <a:latin typeface="DM Sans Bold"/>
                <a:ea typeface="DM Sans Bold"/>
                <a:cs typeface="DM Sans Bold"/>
                <a:sym typeface="DM Sans Bold"/>
              </a:rPr>
              <a:t>6+</a:t>
            </a:r>
          </a:p>
        </p:txBody>
      </p:sp>
      <p:sp>
        <p:nvSpPr>
          <p:cNvPr name="TextBox 8" id="8"/>
          <p:cNvSpPr txBox="true"/>
          <p:nvPr/>
        </p:nvSpPr>
        <p:spPr>
          <a:xfrm rot="0">
            <a:off x="1685925" y="5702646"/>
            <a:ext cx="4270896" cy="459057"/>
          </a:xfrm>
          <a:prstGeom prst="rect">
            <a:avLst/>
          </a:prstGeom>
        </p:spPr>
        <p:txBody>
          <a:bodyPr anchor="t" rtlCol="false" tIns="0" lIns="0" bIns="0" rIns="0">
            <a:spAutoFit/>
          </a:bodyPr>
          <a:lstStyle/>
          <a:p>
            <a:pPr algn="l">
              <a:lnSpc>
                <a:spcPts val="2940"/>
              </a:lnSpc>
            </a:pPr>
            <a:r>
              <a:rPr lang="en-US" sz="2100">
                <a:solidFill>
                  <a:srgbClr val="2B2F45"/>
                </a:solidFill>
                <a:latin typeface="DM Sans"/>
                <a:ea typeface="DM Sans"/>
                <a:cs typeface="DM Sans"/>
                <a:sym typeface="DM Sans"/>
              </a:rPr>
              <a:t>hours on a single Codex run</a:t>
            </a:r>
          </a:p>
        </p:txBody>
      </p:sp>
      <p:grpSp>
        <p:nvGrpSpPr>
          <p:cNvPr name="Group 9" id="9"/>
          <p:cNvGrpSpPr/>
          <p:nvPr/>
        </p:nvGrpSpPr>
        <p:grpSpPr>
          <a:xfrm rot="0">
            <a:off x="6603949" y="3226146"/>
            <a:ext cx="5080025" cy="3737524"/>
            <a:chOff x="0" y="0"/>
            <a:chExt cx="6773367" cy="4983366"/>
          </a:xfrm>
        </p:grpSpPr>
        <p:sp>
          <p:nvSpPr>
            <p:cNvPr name="Freeform 10" id="10"/>
            <p:cNvSpPr/>
            <p:nvPr/>
          </p:nvSpPr>
          <p:spPr>
            <a:xfrm flipH="false" flipV="false" rot="0">
              <a:off x="0" y="0"/>
              <a:ext cx="6773418" cy="4983353"/>
            </a:xfrm>
            <a:custGeom>
              <a:avLst/>
              <a:gdLst/>
              <a:ahLst/>
              <a:cxnLst/>
              <a:rect r="r" b="b" t="t" l="l"/>
              <a:pathLst>
                <a:path h="4983353" w="6773418">
                  <a:moveTo>
                    <a:pt x="0" y="299212"/>
                  </a:moveTo>
                  <a:cubicBezTo>
                    <a:pt x="0" y="133985"/>
                    <a:pt x="133985" y="0"/>
                    <a:pt x="299212" y="0"/>
                  </a:cubicBezTo>
                  <a:lnTo>
                    <a:pt x="6474206" y="0"/>
                  </a:lnTo>
                  <a:cubicBezTo>
                    <a:pt x="6639433" y="0"/>
                    <a:pt x="6773418" y="133985"/>
                    <a:pt x="6773418" y="299212"/>
                  </a:cubicBezTo>
                  <a:lnTo>
                    <a:pt x="6773418" y="4684141"/>
                  </a:lnTo>
                  <a:cubicBezTo>
                    <a:pt x="6773418" y="4849368"/>
                    <a:pt x="6639433" y="4983353"/>
                    <a:pt x="6474206" y="4983353"/>
                  </a:cubicBezTo>
                  <a:lnTo>
                    <a:pt x="299212" y="4983353"/>
                  </a:lnTo>
                  <a:cubicBezTo>
                    <a:pt x="133985" y="4983353"/>
                    <a:pt x="0" y="4849368"/>
                    <a:pt x="0" y="4684141"/>
                  </a:cubicBezTo>
                  <a:close/>
                </a:path>
              </a:pathLst>
            </a:custGeom>
            <a:solidFill>
              <a:srgbClr val="FCFCFE"/>
            </a:solidFill>
            <a:ln w="9525" cap="sq">
              <a:solidFill>
                <a:srgbClr val="E1E4F2"/>
              </a:solidFill>
              <a:prstDash val="solid"/>
              <a:miter/>
            </a:ln>
          </p:spPr>
        </p:sp>
      </p:grpSp>
      <p:grpSp>
        <p:nvGrpSpPr>
          <p:cNvPr name="Group 11" id="11"/>
          <p:cNvGrpSpPr/>
          <p:nvPr/>
        </p:nvGrpSpPr>
        <p:grpSpPr>
          <a:xfrm rot="0">
            <a:off x="7070674" y="3692871"/>
            <a:ext cx="609600" cy="609600"/>
            <a:chOff x="0" y="0"/>
            <a:chExt cx="812800" cy="812800"/>
          </a:xfrm>
        </p:grpSpPr>
        <p:sp>
          <p:nvSpPr>
            <p:cNvPr name="Freeform 12" id="12" descr="Code"/>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4"/>
              <a:stretch>
                <a:fillRect l="0" t="0" r="0" b="0"/>
              </a:stretch>
            </a:blipFill>
          </p:spPr>
        </p:sp>
      </p:grpSp>
      <p:sp>
        <p:nvSpPr>
          <p:cNvPr name="TextBox 13" id="13"/>
          <p:cNvSpPr txBox="true"/>
          <p:nvPr/>
        </p:nvSpPr>
        <p:spPr>
          <a:xfrm rot="0">
            <a:off x="7070674" y="4616796"/>
            <a:ext cx="4270972" cy="1019175"/>
          </a:xfrm>
          <a:prstGeom prst="rect">
            <a:avLst/>
          </a:prstGeom>
        </p:spPr>
        <p:txBody>
          <a:bodyPr anchor="t" rtlCol="false" tIns="0" lIns="0" bIns="0" rIns="0">
            <a:spAutoFit/>
          </a:bodyPr>
          <a:lstStyle/>
          <a:p>
            <a:pPr algn="l">
              <a:lnSpc>
                <a:spcPts val="9000"/>
              </a:lnSpc>
            </a:pPr>
            <a:r>
              <a:rPr lang="en-US" b="true" sz="9000" spc="-150">
                <a:solidFill>
                  <a:srgbClr val="6C70E0"/>
                </a:solidFill>
                <a:latin typeface="DM Sans Bold"/>
                <a:ea typeface="DM Sans Bold"/>
                <a:cs typeface="DM Sans Bold"/>
                <a:sym typeface="DM Sans Bold"/>
              </a:rPr>
              <a:t>1M+</a:t>
            </a:r>
          </a:p>
        </p:txBody>
      </p:sp>
      <p:sp>
        <p:nvSpPr>
          <p:cNvPr name="TextBox 14" id="14"/>
          <p:cNvSpPr txBox="true"/>
          <p:nvPr/>
        </p:nvSpPr>
        <p:spPr>
          <a:xfrm rot="0">
            <a:off x="7070674" y="5702646"/>
            <a:ext cx="4270972" cy="832399"/>
          </a:xfrm>
          <a:prstGeom prst="rect">
            <a:avLst/>
          </a:prstGeom>
        </p:spPr>
        <p:txBody>
          <a:bodyPr anchor="t" rtlCol="false" tIns="0" lIns="0" bIns="0" rIns="0">
            <a:spAutoFit/>
          </a:bodyPr>
          <a:lstStyle/>
          <a:p>
            <a:pPr algn="l">
              <a:lnSpc>
                <a:spcPts val="2940"/>
              </a:lnSpc>
            </a:pPr>
            <a:r>
              <a:rPr lang="en-US" sz="2100">
                <a:solidFill>
                  <a:srgbClr val="2B2F45"/>
                </a:solidFill>
                <a:latin typeface="DM Sans"/>
                <a:ea typeface="DM Sans"/>
                <a:cs typeface="DM Sans"/>
                <a:sym typeface="DM Sans"/>
              </a:rPr>
              <a:t>lines from Cursor's agents in about a week</a:t>
            </a:r>
          </a:p>
        </p:txBody>
      </p:sp>
      <p:grpSp>
        <p:nvGrpSpPr>
          <p:cNvPr name="Group 15" id="15"/>
          <p:cNvGrpSpPr/>
          <p:nvPr/>
        </p:nvGrpSpPr>
        <p:grpSpPr>
          <a:xfrm rot="0">
            <a:off x="11988775" y="3226146"/>
            <a:ext cx="5080025" cy="3737524"/>
            <a:chOff x="0" y="0"/>
            <a:chExt cx="6773367" cy="4983366"/>
          </a:xfrm>
        </p:grpSpPr>
        <p:sp>
          <p:nvSpPr>
            <p:cNvPr name="Freeform 16" id="16"/>
            <p:cNvSpPr/>
            <p:nvPr/>
          </p:nvSpPr>
          <p:spPr>
            <a:xfrm flipH="false" flipV="false" rot="0">
              <a:off x="0" y="0"/>
              <a:ext cx="6773418" cy="4983353"/>
            </a:xfrm>
            <a:custGeom>
              <a:avLst/>
              <a:gdLst/>
              <a:ahLst/>
              <a:cxnLst/>
              <a:rect r="r" b="b" t="t" l="l"/>
              <a:pathLst>
                <a:path h="4983353" w="6773418">
                  <a:moveTo>
                    <a:pt x="0" y="299212"/>
                  </a:moveTo>
                  <a:cubicBezTo>
                    <a:pt x="0" y="133985"/>
                    <a:pt x="133985" y="0"/>
                    <a:pt x="299212" y="0"/>
                  </a:cubicBezTo>
                  <a:lnTo>
                    <a:pt x="6474206" y="0"/>
                  </a:lnTo>
                  <a:cubicBezTo>
                    <a:pt x="6639433" y="0"/>
                    <a:pt x="6773418" y="133985"/>
                    <a:pt x="6773418" y="299212"/>
                  </a:cubicBezTo>
                  <a:lnTo>
                    <a:pt x="6773418" y="4684141"/>
                  </a:lnTo>
                  <a:cubicBezTo>
                    <a:pt x="6773418" y="4849368"/>
                    <a:pt x="6639433" y="4983353"/>
                    <a:pt x="6474206" y="4983353"/>
                  </a:cubicBezTo>
                  <a:lnTo>
                    <a:pt x="299212" y="4983353"/>
                  </a:lnTo>
                  <a:cubicBezTo>
                    <a:pt x="133985" y="4983353"/>
                    <a:pt x="0" y="4849368"/>
                    <a:pt x="0" y="4684141"/>
                  </a:cubicBezTo>
                  <a:close/>
                </a:path>
              </a:pathLst>
            </a:custGeom>
            <a:solidFill>
              <a:srgbClr val="FCFCFE"/>
            </a:solidFill>
            <a:ln w="9525" cap="sq">
              <a:solidFill>
                <a:srgbClr val="E1E4F2"/>
              </a:solidFill>
              <a:prstDash val="solid"/>
              <a:miter/>
            </a:ln>
          </p:spPr>
        </p:sp>
      </p:grpSp>
      <p:grpSp>
        <p:nvGrpSpPr>
          <p:cNvPr name="Group 17" id="17"/>
          <p:cNvGrpSpPr/>
          <p:nvPr/>
        </p:nvGrpSpPr>
        <p:grpSpPr>
          <a:xfrm rot="0">
            <a:off x="12455500" y="3692871"/>
            <a:ext cx="609600" cy="609600"/>
            <a:chOff x="0" y="0"/>
            <a:chExt cx="812800" cy="812800"/>
          </a:xfrm>
        </p:grpSpPr>
        <p:sp>
          <p:nvSpPr>
            <p:cNvPr name="Freeform 18" id="18" descr="Users"/>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lnTo>
                    <a:pt x="0" y="0"/>
                  </a:lnTo>
                  <a:close/>
                </a:path>
              </a:pathLst>
            </a:custGeom>
            <a:blipFill>
              <a:blip r:embed="rId5"/>
              <a:stretch>
                <a:fillRect l="0" t="0" r="0" b="0"/>
              </a:stretch>
            </a:blipFill>
          </p:spPr>
        </p:sp>
      </p:grpSp>
      <p:sp>
        <p:nvSpPr>
          <p:cNvPr name="TextBox 19" id="19"/>
          <p:cNvSpPr txBox="true"/>
          <p:nvPr/>
        </p:nvSpPr>
        <p:spPr>
          <a:xfrm rot="0">
            <a:off x="12455500" y="4616796"/>
            <a:ext cx="4270972" cy="1019175"/>
          </a:xfrm>
          <a:prstGeom prst="rect">
            <a:avLst/>
          </a:prstGeom>
        </p:spPr>
        <p:txBody>
          <a:bodyPr anchor="t" rtlCol="false" tIns="0" lIns="0" bIns="0" rIns="0">
            <a:spAutoFit/>
          </a:bodyPr>
          <a:lstStyle/>
          <a:p>
            <a:pPr algn="l">
              <a:lnSpc>
                <a:spcPts val="9000"/>
              </a:lnSpc>
            </a:pPr>
            <a:r>
              <a:rPr lang="en-US" b="true" sz="9000" spc="-150">
                <a:solidFill>
                  <a:srgbClr val="6C70E0"/>
                </a:solidFill>
                <a:latin typeface="DM Sans Bold"/>
                <a:ea typeface="DM Sans Bold"/>
                <a:cs typeface="DM Sans Bold"/>
                <a:sym typeface="DM Sans Bold"/>
              </a:rPr>
              <a:t>16</a:t>
            </a:r>
          </a:p>
        </p:txBody>
      </p:sp>
      <p:sp>
        <p:nvSpPr>
          <p:cNvPr name="TextBox 20" id="20"/>
          <p:cNvSpPr txBox="true"/>
          <p:nvPr/>
        </p:nvSpPr>
        <p:spPr>
          <a:xfrm rot="0">
            <a:off x="12455500" y="5702646"/>
            <a:ext cx="4270972" cy="832399"/>
          </a:xfrm>
          <a:prstGeom prst="rect">
            <a:avLst/>
          </a:prstGeom>
        </p:spPr>
        <p:txBody>
          <a:bodyPr anchor="t" rtlCol="false" tIns="0" lIns="0" bIns="0" rIns="0">
            <a:spAutoFit/>
          </a:bodyPr>
          <a:lstStyle/>
          <a:p>
            <a:pPr algn="l">
              <a:lnSpc>
                <a:spcPts val="2940"/>
              </a:lnSpc>
            </a:pPr>
            <a:r>
              <a:rPr lang="en-US" sz="2100">
                <a:solidFill>
                  <a:srgbClr val="2B2F45"/>
                </a:solidFill>
                <a:latin typeface="DM Sans"/>
                <a:ea typeface="DM Sans"/>
                <a:cs typeface="DM Sans"/>
                <a:sym typeface="DM Sans"/>
              </a:rPr>
              <a:t>Claude agents building one C compiler in parallel</a:t>
            </a:r>
          </a:p>
        </p:txBody>
      </p:sp>
      <p:sp>
        <p:nvSpPr>
          <p:cNvPr name="TextBox 21" id="21"/>
          <p:cNvSpPr txBox="true"/>
          <p:nvPr/>
        </p:nvSpPr>
        <p:spPr>
          <a:xfrm rot="0">
            <a:off x="1219200" y="7458970"/>
            <a:ext cx="16325088" cy="539058"/>
          </a:xfrm>
          <a:prstGeom prst="rect">
            <a:avLst/>
          </a:prstGeom>
        </p:spPr>
        <p:txBody>
          <a:bodyPr anchor="t" rtlCol="false" tIns="0" lIns="0" bIns="0" rIns="0">
            <a:spAutoFit/>
          </a:bodyPr>
          <a:lstStyle/>
          <a:p>
            <a:pPr algn="l">
              <a:lnSpc>
                <a:spcPts val="3645"/>
              </a:lnSpc>
            </a:pPr>
            <a:r>
              <a:rPr lang="en-US" sz="2700">
                <a:solidFill>
                  <a:srgbClr val="2B2F45"/>
                </a:solidFill>
                <a:latin typeface="DM Sans"/>
                <a:ea typeface="DM Sans"/>
                <a:cs typeface="DM Sans"/>
                <a:sym typeface="DM Sans"/>
              </a:rPr>
              <a:t>Nobody can watch every step, so the environment has to catch the mistakes.</a:t>
            </a:r>
          </a:p>
        </p:txBody>
      </p:sp>
      <p:sp>
        <p:nvSpPr>
          <p:cNvPr name="TextBox 22" id="22"/>
          <p:cNvSpPr txBox="true"/>
          <p:nvPr/>
        </p:nvSpPr>
        <p:spPr>
          <a:xfrm rot="0">
            <a:off x="1219200" y="9319317"/>
            <a:ext cx="8903341"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OpenAI (Feb 2026); Cursor (Jan 2026); Anthropic (Feb 2026)</a:t>
            </a:r>
          </a:p>
        </p:txBody>
      </p:sp>
      <p:sp>
        <p:nvSpPr>
          <p:cNvPr name="TextBox 23" id="23"/>
          <p:cNvSpPr txBox="true"/>
          <p:nvPr/>
        </p:nvSpPr>
        <p:spPr>
          <a:xfrm rot="0">
            <a:off x="16696725" y="9319317"/>
            <a:ext cx="372075"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05</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What we'll cover</a:t>
            </a:r>
          </a:p>
        </p:txBody>
      </p:sp>
      <p:sp>
        <p:nvSpPr>
          <p:cNvPr name="AutoShape 3" id="3"/>
          <p:cNvSpPr/>
          <p:nvPr/>
        </p:nvSpPr>
        <p:spPr>
          <a:xfrm rot="2040">
            <a:off x="1214438" y="2423141"/>
            <a:ext cx="15859125" cy="0"/>
          </a:xfrm>
          <a:prstGeom prst="line">
            <a:avLst/>
          </a:prstGeom>
          <a:ln cap="rnd" w="9525">
            <a:solidFill>
              <a:srgbClr val="E1E4F2"/>
            </a:solidFill>
            <a:prstDash val="solid"/>
            <a:headEnd type="none" len="sm" w="sm"/>
            <a:tailEnd type="none" len="sm" w="sm"/>
          </a:ln>
        </p:spPr>
      </p:sp>
      <p:sp>
        <p:nvSpPr>
          <p:cNvPr name="TextBox 4" id="4"/>
          <p:cNvSpPr txBox="true"/>
          <p:nvPr/>
        </p:nvSpPr>
        <p:spPr>
          <a:xfrm rot="0">
            <a:off x="1219200" y="2656503"/>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01</a:t>
            </a:r>
          </a:p>
        </p:txBody>
      </p:sp>
      <p:sp>
        <p:nvSpPr>
          <p:cNvPr name="TextBox 5" id="5"/>
          <p:cNvSpPr txBox="true"/>
          <p:nvPr/>
        </p:nvSpPr>
        <p:spPr>
          <a:xfrm rot="0">
            <a:off x="2286000" y="2575541"/>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Why it matters</a:t>
            </a:r>
          </a:p>
        </p:txBody>
      </p:sp>
      <p:sp>
        <p:nvSpPr>
          <p:cNvPr name="TextBox 6" id="6"/>
          <p:cNvSpPr txBox="true"/>
          <p:nvPr/>
        </p:nvSpPr>
        <p:spPr>
          <a:xfrm rot="0">
            <a:off x="8001000" y="2651741"/>
            <a:ext cx="3988089"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Same model, better results</a:t>
            </a:r>
          </a:p>
        </p:txBody>
      </p:sp>
      <p:sp>
        <p:nvSpPr>
          <p:cNvPr name="AutoShape 7" id="7"/>
          <p:cNvSpPr/>
          <p:nvPr/>
        </p:nvSpPr>
        <p:spPr>
          <a:xfrm rot="2040">
            <a:off x="1214438" y="3366421"/>
            <a:ext cx="15859125" cy="0"/>
          </a:xfrm>
          <a:prstGeom prst="line">
            <a:avLst/>
          </a:prstGeom>
          <a:ln cap="rnd" w="9525">
            <a:solidFill>
              <a:srgbClr val="E1E4F2"/>
            </a:solidFill>
            <a:prstDash val="solid"/>
            <a:headEnd type="none" len="sm" w="sm"/>
            <a:tailEnd type="none" len="sm" w="sm"/>
          </a:ln>
        </p:spPr>
      </p:sp>
      <p:sp>
        <p:nvSpPr>
          <p:cNvPr name="TextBox 8" id="8"/>
          <p:cNvSpPr txBox="true"/>
          <p:nvPr/>
        </p:nvSpPr>
        <p:spPr>
          <a:xfrm rot="0">
            <a:off x="1219200" y="3599783"/>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02</a:t>
            </a:r>
          </a:p>
        </p:txBody>
      </p:sp>
      <p:sp>
        <p:nvSpPr>
          <p:cNvPr name="TextBox 9" id="9"/>
          <p:cNvSpPr txBox="true"/>
          <p:nvPr/>
        </p:nvSpPr>
        <p:spPr>
          <a:xfrm rot="0">
            <a:off x="2286000" y="3518821"/>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What a harness is</a:t>
            </a:r>
          </a:p>
        </p:txBody>
      </p:sp>
      <p:sp>
        <p:nvSpPr>
          <p:cNvPr name="TextBox 10" id="10"/>
          <p:cNvSpPr txBox="true"/>
          <p:nvPr/>
        </p:nvSpPr>
        <p:spPr>
          <a:xfrm rot="0">
            <a:off x="8001000" y="3595021"/>
            <a:ext cx="6345164"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The formula, its parts, and who owns which</a:t>
            </a:r>
          </a:p>
        </p:txBody>
      </p:sp>
      <p:sp>
        <p:nvSpPr>
          <p:cNvPr name="AutoShape 11" id="11"/>
          <p:cNvSpPr/>
          <p:nvPr/>
        </p:nvSpPr>
        <p:spPr>
          <a:xfrm rot="2040">
            <a:off x="1214438" y="4309767"/>
            <a:ext cx="15859125" cy="0"/>
          </a:xfrm>
          <a:prstGeom prst="line">
            <a:avLst/>
          </a:prstGeom>
          <a:ln cap="rnd" w="9525">
            <a:solidFill>
              <a:srgbClr val="E1E4F2"/>
            </a:solidFill>
            <a:prstDash val="solid"/>
            <a:headEnd type="none" len="sm" w="sm"/>
            <a:tailEnd type="none" len="sm" w="sm"/>
          </a:ln>
        </p:spPr>
      </p:sp>
      <p:sp>
        <p:nvSpPr>
          <p:cNvPr name="TextBox 12" id="12"/>
          <p:cNvSpPr txBox="true"/>
          <p:nvPr/>
        </p:nvSpPr>
        <p:spPr>
          <a:xfrm rot="0">
            <a:off x="1219200" y="4543130"/>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03</a:t>
            </a:r>
          </a:p>
        </p:txBody>
      </p:sp>
      <p:sp>
        <p:nvSpPr>
          <p:cNvPr name="TextBox 13" id="13"/>
          <p:cNvSpPr txBox="true"/>
          <p:nvPr/>
        </p:nvSpPr>
        <p:spPr>
          <a:xfrm rot="0">
            <a:off x="2286000" y="4462167"/>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How we got here</a:t>
            </a:r>
          </a:p>
        </p:txBody>
      </p:sp>
      <p:sp>
        <p:nvSpPr>
          <p:cNvPr name="TextBox 14" id="14"/>
          <p:cNvSpPr txBox="true"/>
          <p:nvPr/>
        </p:nvSpPr>
        <p:spPr>
          <a:xfrm rot="0">
            <a:off x="8001000" y="4538367"/>
            <a:ext cx="6507423"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From prompts in 2022 to harnesses in 2026</a:t>
            </a:r>
          </a:p>
        </p:txBody>
      </p:sp>
      <p:sp>
        <p:nvSpPr>
          <p:cNvPr name="AutoShape 15" id="15"/>
          <p:cNvSpPr/>
          <p:nvPr/>
        </p:nvSpPr>
        <p:spPr>
          <a:xfrm rot="2040">
            <a:off x="1214438" y="5253038"/>
            <a:ext cx="15859125" cy="0"/>
          </a:xfrm>
          <a:prstGeom prst="line">
            <a:avLst/>
          </a:prstGeom>
          <a:ln cap="rnd" w="9525">
            <a:solidFill>
              <a:srgbClr val="E1E4F2"/>
            </a:solidFill>
            <a:prstDash val="solid"/>
            <a:headEnd type="none" len="sm" w="sm"/>
            <a:tailEnd type="none" len="sm" w="sm"/>
          </a:ln>
        </p:spPr>
      </p:sp>
      <p:sp>
        <p:nvSpPr>
          <p:cNvPr name="TextBox 16" id="16"/>
          <p:cNvSpPr txBox="true"/>
          <p:nvPr/>
        </p:nvSpPr>
        <p:spPr>
          <a:xfrm rot="0">
            <a:off x="1219200" y="5486400"/>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04</a:t>
            </a:r>
          </a:p>
        </p:txBody>
      </p:sp>
      <p:sp>
        <p:nvSpPr>
          <p:cNvPr name="TextBox 17" id="17"/>
          <p:cNvSpPr txBox="true"/>
          <p:nvPr/>
        </p:nvSpPr>
        <p:spPr>
          <a:xfrm rot="0">
            <a:off x="2286000" y="5405437"/>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What the evidence shows</a:t>
            </a:r>
          </a:p>
        </p:txBody>
      </p:sp>
      <p:sp>
        <p:nvSpPr>
          <p:cNvPr name="TextBox 18" id="18"/>
          <p:cNvSpPr txBox="true"/>
          <p:nvPr/>
        </p:nvSpPr>
        <p:spPr>
          <a:xfrm rot="0">
            <a:off x="8001000" y="5481637"/>
            <a:ext cx="6077636"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Case studies from OpenAI and Anthropic</a:t>
            </a:r>
          </a:p>
        </p:txBody>
      </p:sp>
      <p:sp>
        <p:nvSpPr>
          <p:cNvPr name="AutoShape 19" id="19"/>
          <p:cNvSpPr/>
          <p:nvPr/>
        </p:nvSpPr>
        <p:spPr>
          <a:xfrm rot="2040">
            <a:off x="1214438" y="6196308"/>
            <a:ext cx="15859125" cy="0"/>
          </a:xfrm>
          <a:prstGeom prst="line">
            <a:avLst/>
          </a:prstGeom>
          <a:ln cap="rnd" w="9525">
            <a:solidFill>
              <a:srgbClr val="E1E4F2"/>
            </a:solidFill>
            <a:prstDash val="solid"/>
            <a:headEnd type="none" len="sm" w="sm"/>
            <a:tailEnd type="none" len="sm" w="sm"/>
          </a:ln>
        </p:spPr>
      </p:sp>
      <p:sp>
        <p:nvSpPr>
          <p:cNvPr name="TextBox 20" id="20"/>
          <p:cNvSpPr txBox="true"/>
          <p:nvPr/>
        </p:nvSpPr>
        <p:spPr>
          <a:xfrm rot="0">
            <a:off x="1219200" y="6429670"/>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05</a:t>
            </a:r>
          </a:p>
        </p:txBody>
      </p:sp>
      <p:sp>
        <p:nvSpPr>
          <p:cNvPr name="TextBox 21" id="21"/>
          <p:cNvSpPr txBox="true"/>
          <p:nvPr/>
        </p:nvSpPr>
        <p:spPr>
          <a:xfrm rot="0">
            <a:off x="2286000" y="6348708"/>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How teams build one</a:t>
            </a:r>
          </a:p>
        </p:txBody>
      </p:sp>
      <p:sp>
        <p:nvSpPr>
          <p:cNvPr name="TextBox 22" id="22"/>
          <p:cNvSpPr txBox="true"/>
          <p:nvPr/>
        </p:nvSpPr>
        <p:spPr>
          <a:xfrm rot="0">
            <a:off x="8001000" y="6424908"/>
            <a:ext cx="4602899"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Guides, sensors and five habits</a:t>
            </a:r>
          </a:p>
        </p:txBody>
      </p:sp>
      <p:sp>
        <p:nvSpPr>
          <p:cNvPr name="AutoShape 23" id="23"/>
          <p:cNvSpPr/>
          <p:nvPr/>
        </p:nvSpPr>
        <p:spPr>
          <a:xfrm rot="2040">
            <a:off x="1214438" y="7139654"/>
            <a:ext cx="15859125" cy="0"/>
          </a:xfrm>
          <a:prstGeom prst="line">
            <a:avLst/>
          </a:prstGeom>
          <a:ln cap="rnd" w="9525">
            <a:solidFill>
              <a:srgbClr val="E1E4F2"/>
            </a:solidFill>
            <a:prstDash val="solid"/>
            <a:headEnd type="none" len="sm" w="sm"/>
            <a:tailEnd type="none" len="sm" w="sm"/>
          </a:ln>
        </p:spPr>
      </p:sp>
      <p:sp>
        <p:nvSpPr>
          <p:cNvPr name="TextBox 24" id="24"/>
          <p:cNvSpPr txBox="true"/>
          <p:nvPr/>
        </p:nvSpPr>
        <p:spPr>
          <a:xfrm rot="0">
            <a:off x="1219200" y="7373017"/>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06</a:t>
            </a:r>
          </a:p>
        </p:txBody>
      </p:sp>
      <p:sp>
        <p:nvSpPr>
          <p:cNvPr name="TextBox 25" id="25"/>
          <p:cNvSpPr txBox="true"/>
          <p:nvPr/>
        </p:nvSpPr>
        <p:spPr>
          <a:xfrm rot="0">
            <a:off x="2286000" y="7292054"/>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Where it's heading</a:t>
            </a:r>
          </a:p>
        </p:txBody>
      </p:sp>
      <p:sp>
        <p:nvSpPr>
          <p:cNvPr name="TextBox 26" id="26"/>
          <p:cNvSpPr txBox="true"/>
          <p:nvPr/>
        </p:nvSpPr>
        <p:spPr>
          <a:xfrm rot="0">
            <a:off x="8001000" y="7368254"/>
            <a:ext cx="6664223"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The open debate and where teams are today</a:t>
            </a:r>
          </a:p>
        </p:txBody>
      </p:sp>
      <p:sp>
        <p:nvSpPr>
          <p:cNvPr name="AutoShape 27" id="27"/>
          <p:cNvSpPr/>
          <p:nvPr/>
        </p:nvSpPr>
        <p:spPr>
          <a:xfrm rot="2040">
            <a:off x="1214438" y="8082934"/>
            <a:ext cx="15859125" cy="0"/>
          </a:xfrm>
          <a:prstGeom prst="line">
            <a:avLst/>
          </a:prstGeom>
          <a:ln cap="rnd" w="9525">
            <a:solidFill>
              <a:srgbClr val="E1E4F2"/>
            </a:solidFill>
            <a:prstDash val="solid"/>
            <a:headEnd type="none" len="sm" w="sm"/>
            <a:tailEnd type="none" len="sm" w="sm"/>
          </a:ln>
        </p:spPr>
      </p:sp>
      <p:sp>
        <p:nvSpPr>
          <p:cNvPr name="TextBox 28" id="28"/>
          <p:cNvSpPr txBox="true"/>
          <p:nvPr/>
        </p:nvSpPr>
        <p:spPr>
          <a:xfrm rot="0">
            <a:off x="1219200" y="8316297"/>
            <a:ext cx="762000" cy="449532"/>
          </a:xfrm>
          <a:prstGeom prst="rect">
            <a:avLst/>
          </a:prstGeom>
        </p:spPr>
        <p:txBody>
          <a:bodyPr anchor="t" rtlCol="false" tIns="0" lIns="0" bIns="0" rIns="0">
            <a:spAutoFit/>
          </a:bodyPr>
          <a:lstStyle/>
          <a:p>
            <a:pPr algn="l">
              <a:lnSpc>
                <a:spcPts val="2940"/>
              </a:lnSpc>
            </a:pPr>
            <a:r>
              <a:rPr lang="en-US" sz="2100">
                <a:solidFill>
                  <a:srgbClr val="4E52B8"/>
                </a:solidFill>
                <a:latin typeface="JetBrains Mono"/>
                <a:ea typeface="JetBrains Mono"/>
                <a:cs typeface="JetBrains Mono"/>
                <a:sym typeface="JetBrains Mono"/>
              </a:rPr>
              <a:t>07</a:t>
            </a:r>
          </a:p>
        </p:txBody>
      </p:sp>
      <p:sp>
        <p:nvSpPr>
          <p:cNvPr name="TextBox 29" id="29"/>
          <p:cNvSpPr txBox="true"/>
          <p:nvPr/>
        </p:nvSpPr>
        <p:spPr>
          <a:xfrm rot="0">
            <a:off x="2286000" y="8235334"/>
            <a:ext cx="5494020"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What it means for us</a:t>
            </a:r>
          </a:p>
        </p:txBody>
      </p:sp>
      <p:sp>
        <p:nvSpPr>
          <p:cNvPr name="TextBox 30" id="30"/>
          <p:cNvSpPr txBox="true"/>
          <p:nvPr/>
        </p:nvSpPr>
        <p:spPr>
          <a:xfrm rot="0">
            <a:off x="8001000" y="8311534"/>
            <a:ext cx="5993425" cy="459057"/>
          </a:xfrm>
          <a:prstGeom prst="rect">
            <a:avLst/>
          </a:prstGeom>
        </p:spPr>
        <p:txBody>
          <a:bodyPr anchor="t" rtlCol="false" tIns="0" lIns="0" bIns="0" rIns="0">
            <a:spAutoFit/>
          </a:bodyPr>
          <a:lstStyle/>
          <a:p>
            <a:pPr algn="l">
              <a:lnSpc>
                <a:spcPts val="2940"/>
              </a:lnSpc>
            </a:pPr>
            <a:r>
              <a:rPr lang="en-US" sz="2100">
                <a:solidFill>
                  <a:srgbClr val="646983"/>
                </a:solidFill>
                <a:latin typeface="DM Sans"/>
                <a:ea typeface="DM Sans"/>
                <a:cs typeface="DM Sans"/>
                <a:sym typeface="DM Sans"/>
              </a:rPr>
              <a:t>Do we need it, and do we build our own?</a:t>
            </a:r>
          </a:p>
        </p:txBody>
      </p:sp>
      <p:sp>
        <p:nvSpPr>
          <p:cNvPr name="TextBox 31" id="31"/>
          <p:cNvSpPr txBox="true"/>
          <p:nvPr/>
        </p:nvSpPr>
        <p:spPr>
          <a:xfrm rot="0">
            <a:off x="16706850" y="9319317"/>
            <a:ext cx="361950"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02</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Same model, better agent</a:t>
            </a:r>
          </a:p>
        </p:txBody>
      </p:sp>
      <p:sp>
        <p:nvSpPr>
          <p:cNvPr name="TextBox 3" id="3"/>
          <p:cNvSpPr txBox="true"/>
          <p:nvPr/>
        </p:nvSpPr>
        <p:spPr>
          <a:xfrm rot="0">
            <a:off x="1219200" y="3188046"/>
            <a:ext cx="16325088"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LangChain's coding agent on Terminal-Bench 2.0</a:t>
            </a:r>
          </a:p>
        </p:txBody>
      </p:sp>
      <p:sp>
        <p:nvSpPr>
          <p:cNvPr name="TextBox 4" id="4"/>
          <p:cNvSpPr txBox="true"/>
          <p:nvPr/>
        </p:nvSpPr>
        <p:spPr>
          <a:xfrm rot="0">
            <a:off x="1219200" y="3791922"/>
            <a:ext cx="236220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Old harness</a:t>
            </a:r>
          </a:p>
        </p:txBody>
      </p:sp>
      <p:grpSp>
        <p:nvGrpSpPr>
          <p:cNvPr name="Group 5" id="5"/>
          <p:cNvGrpSpPr/>
          <p:nvPr/>
        </p:nvGrpSpPr>
        <p:grpSpPr>
          <a:xfrm rot="0">
            <a:off x="3733800" y="3761403"/>
            <a:ext cx="5534025" cy="457200"/>
            <a:chOff x="0" y="0"/>
            <a:chExt cx="7378700" cy="609600"/>
          </a:xfrm>
        </p:grpSpPr>
        <p:sp>
          <p:nvSpPr>
            <p:cNvPr name="Freeform 6" id="6"/>
            <p:cNvSpPr/>
            <p:nvPr/>
          </p:nvSpPr>
          <p:spPr>
            <a:xfrm flipH="false" flipV="false" rot="0">
              <a:off x="0" y="0"/>
              <a:ext cx="7378700" cy="609600"/>
            </a:xfrm>
            <a:custGeom>
              <a:avLst/>
              <a:gdLst/>
              <a:ahLst/>
              <a:cxnLst/>
              <a:rect r="r" b="b" t="t" l="l"/>
              <a:pathLst>
                <a:path h="609600" w="7378700">
                  <a:moveTo>
                    <a:pt x="0" y="152400"/>
                  </a:moveTo>
                  <a:cubicBezTo>
                    <a:pt x="0" y="68199"/>
                    <a:pt x="68199" y="0"/>
                    <a:pt x="152400" y="0"/>
                  </a:cubicBezTo>
                  <a:lnTo>
                    <a:pt x="7226300" y="0"/>
                  </a:lnTo>
                  <a:cubicBezTo>
                    <a:pt x="7310501" y="0"/>
                    <a:pt x="7378700" y="68199"/>
                    <a:pt x="7378700" y="152400"/>
                  </a:cubicBezTo>
                  <a:lnTo>
                    <a:pt x="7378700" y="457200"/>
                  </a:lnTo>
                  <a:cubicBezTo>
                    <a:pt x="7378700" y="541401"/>
                    <a:pt x="7310501" y="609600"/>
                    <a:pt x="7226300" y="609600"/>
                  </a:cubicBezTo>
                  <a:lnTo>
                    <a:pt x="152400" y="609600"/>
                  </a:lnTo>
                  <a:cubicBezTo>
                    <a:pt x="68199" y="609600"/>
                    <a:pt x="0" y="541401"/>
                    <a:pt x="0" y="457200"/>
                  </a:cubicBezTo>
                  <a:close/>
                </a:path>
              </a:pathLst>
            </a:custGeom>
            <a:solidFill>
              <a:srgbClr val="C9CFF3"/>
            </a:solidFill>
          </p:spPr>
        </p:sp>
      </p:grpSp>
      <p:sp>
        <p:nvSpPr>
          <p:cNvPr name="TextBox 7" id="7"/>
          <p:cNvSpPr txBox="true"/>
          <p:nvPr/>
        </p:nvSpPr>
        <p:spPr>
          <a:xfrm rot="0">
            <a:off x="9496425" y="3755679"/>
            <a:ext cx="932526"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52.8%</a:t>
            </a:r>
          </a:p>
        </p:txBody>
      </p:sp>
      <p:sp>
        <p:nvSpPr>
          <p:cNvPr name="TextBox 8" id="8"/>
          <p:cNvSpPr txBox="true"/>
          <p:nvPr/>
        </p:nvSpPr>
        <p:spPr>
          <a:xfrm rot="0">
            <a:off x="1219200" y="4401522"/>
            <a:ext cx="236220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New harness</a:t>
            </a:r>
          </a:p>
        </p:txBody>
      </p:sp>
      <p:grpSp>
        <p:nvGrpSpPr>
          <p:cNvPr name="Group 9" id="9"/>
          <p:cNvGrpSpPr/>
          <p:nvPr/>
        </p:nvGrpSpPr>
        <p:grpSpPr>
          <a:xfrm rot="0">
            <a:off x="3733800" y="4371003"/>
            <a:ext cx="6972300" cy="457200"/>
            <a:chOff x="0" y="0"/>
            <a:chExt cx="9296400" cy="609600"/>
          </a:xfrm>
        </p:grpSpPr>
        <p:sp>
          <p:nvSpPr>
            <p:cNvPr name="Freeform 10" id="10"/>
            <p:cNvSpPr/>
            <p:nvPr/>
          </p:nvSpPr>
          <p:spPr>
            <a:xfrm flipH="false" flipV="false" rot="0">
              <a:off x="0" y="0"/>
              <a:ext cx="9296400" cy="609600"/>
            </a:xfrm>
            <a:custGeom>
              <a:avLst/>
              <a:gdLst/>
              <a:ahLst/>
              <a:cxnLst/>
              <a:rect r="r" b="b" t="t" l="l"/>
              <a:pathLst>
                <a:path h="609600" w="9296400">
                  <a:moveTo>
                    <a:pt x="0" y="152400"/>
                  </a:moveTo>
                  <a:cubicBezTo>
                    <a:pt x="0" y="68199"/>
                    <a:pt x="68199" y="0"/>
                    <a:pt x="152400" y="0"/>
                  </a:cubicBezTo>
                  <a:lnTo>
                    <a:pt x="9144000" y="0"/>
                  </a:lnTo>
                  <a:cubicBezTo>
                    <a:pt x="9228201" y="0"/>
                    <a:pt x="9296400" y="68199"/>
                    <a:pt x="9296400" y="152400"/>
                  </a:cubicBezTo>
                  <a:lnTo>
                    <a:pt x="9296400" y="457200"/>
                  </a:lnTo>
                  <a:cubicBezTo>
                    <a:pt x="9296400" y="541401"/>
                    <a:pt x="9228201" y="609600"/>
                    <a:pt x="9144000" y="609600"/>
                  </a:cubicBezTo>
                  <a:lnTo>
                    <a:pt x="152400" y="609600"/>
                  </a:lnTo>
                  <a:cubicBezTo>
                    <a:pt x="68199" y="609600"/>
                    <a:pt x="0" y="541401"/>
                    <a:pt x="0" y="457200"/>
                  </a:cubicBezTo>
                  <a:close/>
                </a:path>
              </a:pathLst>
            </a:custGeom>
            <a:solidFill>
              <a:srgbClr val="6C70E0"/>
            </a:solidFill>
          </p:spPr>
        </p:sp>
      </p:grpSp>
      <p:sp>
        <p:nvSpPr>
          <p:cNvPr name="TextBox 11" id="11"/>
          <p:cNvSpPr txBox="true"/>
          <p:nvPr/>
        </p:nvSpPr>
        <p:spPr>
          <a:xfrm rot="0">
            <a:off x="10934700" y="4365279"/>
            <a:ext cx="963063" cy="459057"/>
          </a:xfrm>
          <a:prstGeom prst="rect">
            <a:avLst/>
          </a:prstGeom>
        </p:spPr>
        <p:txBody>
          <a:bodyPr anchor="t" rtlCol="false" tIns="0" lIns="0" bIns="0" rIns="0">
            <a:spAutoFit/>
          </a:bodyPr>
          <a:lstStyle/>
          <a:p>
            <a:pPr algn="l">
              <a:lnSpc>
                <a:spcPts val="2940"/>
              </a:lnSpc>
            </a:pPr>
            <a:r>
              <a:rPr lang="en-US" sz="2100" b="true">
                <a:solidFill>
                  <a:srgbClr val="4E52B8"/>
                </a:solidFill>
                <a:latin typeface="DM Sans Bold"/>
                <a:ea typeface="DM Sans Bold"/>
                <a:cs typeface="DM Sans Bold"/>
                <a:sym typeface="DM Sans Bold"/>
              </a:rPr>
              <a:t>66.5%</a:t>
            </a:r>
          </a:p>
        </p:txBody>
      </p:sp>
      <p:sp>
        <p:nvSpPr>
          <p:cNvPr name="TextBox 12" id="12"/>
          <p:cNvSpPr txBox="true"/>
          <p:nvPr/>
        </p:nvSpPr>
        <p:spPr>
          <a:xfrm rot="0">
            <a:off x="1219200" y="5313978"/>
            <a:ext cx="16325088"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One model run through 8 harnesses on 25 tasks</a:t>
            </a:r>
          </a:p>
        </p:txBody>
      </p:sp>
      <p:sp>
        <p:nvSpPr>
          <p:cNvPr name="TextBox 13" id="13"/>
          <p:cNvSpPr txBox="true"/>
          <p:nvPr/>
        </p:nvSpPr>
        <p:spPr>
          <a:xfrm rot="0">
            <a:off x="1219200" y="5917854"/>
            <a:ext cx="236220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Worst harness</a:t>
            </a:r>
          </a:p>
        </p:txBody>
      </p:sp>
      <p:grpSp>
        <p:nvGrpSpPr>
          <p:cNvPr name="Group 14" id="14"/>
          <p:cNvGrpSpPr/>
          <p:nvPr/>
        </p:nvGrpSpPr>
        <p:grpSpPr>
          <a:xfrm rot="0">
            <a:off x="3733800" y="5887345"/>
            <a:ext cx="7124700" cy="457200"/>
            <a:chOff x="0" y="0"/>
            <a:chExt cx="9499600" cy="609600"/>
          </a:xfrm>
        </p:grpSpPr>
        <p:sp>
          <p:nvSpPr>
            <p:cNvPr name="Freeform 15" id="15"/>
            <p:cNvSpPr/>
            <p:nvPr/>
          </p:nvSpPr>
          <p:spPr>
            <a:xfrm flipH="false" flipV="false" rot="0">
              <a:off x="0" y="0"/>
              <a:ext cx="9499600" cy="609600"/>
            </a:xfrm>
            <a:custGeom>
              <a:avLst/>
              <a:gdLst/>
              <a:ahLst/>
              <a:cxnLst/>
              <a:rect r="r" b="b" t="t" l="l"/>
              <a:pathLst>
                <a:path h="609600" w="9499600">
                  <a:moveTo>
                    <a:pt x="0" y="152400"/>
                  </a:moveTo>
                  <a:cubicBezTo>
                    <a:pt x="0" y="68199"/>
                    <a:pt x="68199" y="0"/>
                    <a:pt x="152400" y="0"/>
                  </a:cubicBezTo>
                  <a:lnTo>
                    <a:pt x="9347200" y="0"/>
                  </a:lnTo>
                  <a:cubicBezTo>
                    <a:pt x="9431401" y="0"/>
                    <a:pt x="9499600" y="68199"/>
                    <a:pt x="9499600" y="152400"/>
                  </a:cubicBezTo>
                  <a:lnTo>
                    <a:pt x="9499600" y="457200"/>
                  </a:lnTo>
                  <a:cubicBezTo>
                    <a:pt x="9499600" y="541401"/>
                    <a:pt x="9431401" y="609600"/>
                    <a:pt x="9347200" y="609600"/>
                  </a:cubicBezTo>
                  <a:lnTo>
                    <a:pt x="152400" y="609600"/>
                  </a:lnTo>
                  <a:cubicBezTo>
                    <a:pt x="68199" y="609600"/>
                    <a:pt x="0" y="541401"/>
                    <a:pt x="0" y="457200"/>
                  </a:cubicBezTo>
                  <a:close/>
                </a:path>
              </a:pathLst>
            </a:custGeom>
            <a:solidFill>
              <a:srgbClr val="C9CFF3"/>
            </a:solidFill>
          </p:spPr>
        </p:sp>
      </p:grpSp>
      <p:sp>
        <p:nvSpPr>
          <p:cNvPr name="TextBox 16" id="16"/>
          <p:cNvSpPr txBox="true"/>
          <p:nvPr/>
        </p:nvSpPr>
        <p:spPr>
          <a:xfrm rot="0">
            <a:off x="11087100" y="5881611"/>
            <a:ext cx="680171"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68%</a:t>
            </a:r>
          </a:p>
        </p:txBody>
      </p:sp>
      <p:sp>
        <p:nvSpPr>
          <p:cNvPr name="TextBox 17" id="17"/>
          <p:cNvSpPr txBox="true"/>
          <p:nvPr/>
        </p:nvSpPr>
        <p:spPr>
          <a:xfrm rot="0">
            <a:off x="1219200" y="6527454"/>
            <a:ext cx="236220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Best harness</a:t>
            </a:r>
          </a:p>
        </p:txBody>
      </p:sp>
      <p:grpSp>
        <p:nvGrpSpPr>
          <p:cNvPr name="Group 18" id="18"/>
          <p:cNvGrpSpPr/>
          <p:nvPr/>
        </p:nvGrpSpPr>
        <p:grpSpPr>
          <a:xfrm rot="0">
            <a:off x="3733800" y="6496945"/>
            <a:ext cx="9220200" cy="457200"/>
            <a:chOff x="0" y="0"/>
            <a:chExt cx="12293600" cy="609600"/>
          </a:xfrm>
        </p:grpSpPr>
        <p:sp>
          <p:nvSpPr>
            <p:cNvPr name="Freeform 19" id="19"/>
            <p:cNvSpPr/>
            <p:nvPr/>
          </p:nvSpPr>
          <p:spPr>
            <a:xfrm flipH="false" flipV="false" rot="0">
              <a:off x="0" y="0"/>
              <a:ext cx="12293600" cy="609600"/>
            </a:xfrm>
            <a:custGeom>
              <a:avLst/>
              <a:gdLst/>
              <a:ahLst/>
              <a:cxnLst/>
              <a:rect r="r" b="b" t="t" l="l"/>
              <a:pathLst>
                <a:path h="609600" w="12293600">
                  <a:moveTo>
                    <a:pt x="0" y="152400"/>
                  </a:moveTo>
                  <a:cubicBezTo>
                    <a:pt x="0" y="68199"/>
                    <a:pt x="68199" y="0"/>
                    <a:pt x="152400" y="0"/>
                  </a:cubicBezTo>
                  <a:lnTo>
                    <a:pt x="12141200" y="0"/>
                  </a:lnTo>
                  <a:cubicBezTo>
                    <a:pt x="12225401" y="0"/>
                    <a:pt x="12293600" y="68199"/>
                    <a:pt x="12293600" y="152400"/>
                  </a:cubicBezTo>
                  <a:lnTo>
                    <a:pt x="12293600" y="457200"/>
                  </a:lnTo>
                  <a:cubicBezTo>
                    <a:pt x="12293600" y="541401"/>
                    <a:pt x="12225401" y="609600"/>
                    <a:pt x="12141200" y="609600"/>
                  </a:cubicBezTo>
                  <a:lnTo>
                    <a:pt x="152400" y="609600"/>
                  </a:lnTo>
                  <a:cubicBezTo>
                    <a:pt x="68199" y="609600"/>
                    <a:pt x="0" y="541401"/>
                    <a:pt x="0" y="457200"/>
                  </a:cubicBezTo>
                  <a:close/>
                </a:path>
              </a:pathLst>
            </a:custGeom>
            <a:solidFill>
              <a:srgbClr val="6C70E0"/>
            </a:solidFill>
          </p:spPr>
        </p:sp>
      </p:grpSp>
      <p:sp>
        <p:nvSpPr>
          <p:cNvPr name="TextBox 20" id="20"/>
          <p:cNvSpPr txBox="true"/>
          <p:nvPr/>
        </p:nvSpPr>
        <p:spPr>
          <a:xfrm rot="0">
            <a:off x="13182600" y="6491211"/>
            <a:ext cx="693306" cy="459057"/>
          </a:xfrm>
          <a:prstGeom prst="rect">
            <a:avLst/>
          </a:prstGeom>
        </p:spPr>
        <p:txBody>
          <a:bodyPr anchor="t" rtlCol="false" tIns="0" lIns="0" bIns="0" rIns="0">
            <a:spAutoFit/>
          </a:bodyPr>
          <a:lstStyle/>
          <a:p>
            <a:pPr algn="l">
              <a:lnSpc>
                <a:spcPts val="2940"/>
              </a:lnSpc>
            </a:pPr>
            <a:r>
              <a:rPr lang="en-US" sz="2100" b="true">
                <a:solidFill>
                  <a:srgbClr val="4E52B8"/>
                </a:solidFill>
                <a:latin typeface="DM Sans Bold"/>
                <a:ea typeface="DM Sans Bold"/>
                <a:cs typeface="DM Sans Bold"/>
                <a:sym typeface="DM Sans Bold"/>
              </a:rPr>
              <a:t>88%</a:t>
            </a:r>
          </a:p>
        </p:txBody>
      </p:sp>
      <p:sp>
        <p:nvSpPr>
          <p:cNvPr name="TextBox 21" id="21"/>
          <p:cNvSpPr txBox="true"/>
          <p:nvPr/>
        </p:nvSpPr>
        <p:spPr>
          <a:xfrm rot="0">
            <a:off x="1219200" y="7449445"/>
            <a:ext cx="16325088" cy="539058"/>
          </a:xfrm>
          <a:prstGeom prst="rect">
            <a:avLst/>
          </a:prstGeom>
        </p:spPr>
        <p:txBody>
          <a:bodyPr anchor="t" rtlCol="false" tIns="0" lIns="0" bIns="0" rIns="0">
            <a:spAutoFit/>
          </a:bodyPr>
          <a:lstStyle/>
          <a:p>
            <a:pPr algn="l">
              <a:lnSpc>
                <a:spcPts val="3645"/>
              </a:lnSpc>
            </a:pPr>
            <a:r>
              <a:rPr lang="en-US" sz="2700">
                <a:solidFill>
                  <a:srgbClr val="2B2F45"/>
                </a:solidFill>
                <a:latin typeface="DM Sans"/>
                <a:ea typeface="DM Sans"/>
                <a:cs typeface="DM Sans"/>
                <a:sym typeface="DM Sans"/>
              </a:rPr>
              <a:t>Only the harness changed.</a:t>
            </a:r>
          </a:p>
        </p:txBody>
      </p:sp>
      <p:sp>
        <p:nvSpPr>
          <p:cNvPr name="TextBox 22" id="22"/>
          <p:cNvSpPr txBox="true"/>
          <p:nvPr/>
        </p:nvSpPr>
        <p:spPr>
          <a:xfrm rot="0">
            <a:off x="1219200" y="9319317"/>
            <a:ext cx="8850125"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LangChain (Feb 2026); Composio via Marmelab (Sept 2026) </a:t>
            </a:r>
          </a:p>
        </p:txBody>
      </p:sp>
      <p:sp>
        <p:nvSpPr>
          <p:cNvPr name="TextBox 23" id="23"/>
          <p:cNvSpPr txBox="true"/>
          <p:nvPr/>
        </p:nvSpPr>
        <p:spPr>
          <a:xfrm rot="0">
            <a:off x="16701116" y="9319317"/>
            <a:ext cx="367684"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9319317"/>
            <a:ext cx="8482041"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 LangChain, “The Anatomy of an Agent Harness” (Mar 2026)</a:t>
            </a:r>
          </a:p>
        </p:txBody>
      </p:sp>
      <p:sp>
        <p:nvSpPr>
          <p:cNvPr name="TextBox 3" id="3"/>
          <p:cNvSpPr txBox="true"/>
          <p:nvPr/>
        </p:nvSpPr>
        <p:spPr>
          <a:xfrm rot="0">
            <a:off x="16697477" y="9319317"/>
            <a:ext cx="371323"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04</a:t>
            </a:r>
          </a:p>
        </p:txBody>
      </p:sp>
      <p:sp>
        <p:nvSpPr>
          <p:cNvPr name="TextBox 4" id="4"/>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Agent = Model + Harness</a:t>
            </a:r>
          </a:p>
        </p:txBody>
      </p:sp>
      <p:grpSp>
        <p:nvGrpSpPr>
          <p:cNvPr name="Group 5" id="5"/>
          <p:cNvGrpSpPr/>
          <p:nvPr/>
        </p:nvGrpSpPr>
        <p:grpSpPr>
          <a:xfrm rot="0">
            <a:off x="2038350" y="2419350"/>
            <a:ext cx="3810000" cy="2286000"/>
            <a:chOff x="0" y="0"/>
            <a:chExt cx="5080000" cy="3048000"/>
          </a:xfrm>
        </p:grpSpPr>
        <p:sp>
          <p:nvSpPr>
            <p:cNvPr name="Freeform 6" id="6"/>
            <p:cNvSpPr/>
            <p:nvPr/>
          </p:nvSpPr>
          <p:spPr>
            <a:xfrm flipH="false" flipV="false" rot="0">
              <a:off x="0" y="0"/>
              <a:ext cx="5080000" cy="3048000"/>
            </a:xfrm>
            <a:custGeom>
              <a:avLst/>
              <a:gdLst/>
              <a:ahLst/>
              <a:cxnLst/>
              <a:rect r="r" b="b" t="t" l="l"/>
              <a:pathLst>
                <a:path h="3048000" w="5080000">
                  <a:moveTo>
                    <a:pt x="0" y="397002"/>
                  </a:moveTo>
                  <a:cubicBezTo>
                    <a:pt x="0" y="177800"/>
                    <a:pt x="177800" y="0"/>
                    <a:pt x="397002" y="0"/>
                  </a:cubicBezTo>
                  <a:lnTo>
                    <a:pt x="4682998" y="0"/>
                  </a:lnTo>
                  <a:cubicBezTo>
                    <a:pt x="4902200" y="0"/>
                    <a:pt x="5080000" y="177800"/>
                    <a:pt x="5080000" y="397002"/>
                  </a:cubicBezTo>
                  <a:lnTo>
                    <a:pt x="5080000" y="2650998"/>
                  </a:lnTo>
                  <a:cubicBezTo>
                    <a:pt x="5080000" y="2870200"/>
                    <a:pt x="4902200" y="3048000"/>
                    <a:pt x="4682998" y="3048000"/>
                  </a:cubicBezTo>
                  <a:lnTo>
                    <a:pt x="397002" y="3048000"/>
                  </a:lnTo>
                  <a:cubicBezTo>
                    <a:pt x="177800" y="3048000"/>
                    <a:pt x="0" y="2870200"/>
                    <a:pt x="0" y="2650998"/>
                  </a:cubicBezTo>
                  <a:close/>
                </a:path>
              </a:pathLst>
            </a:custGeom>
            <a:solidFill>
              <a:srgbClr val="FCFCFE"/>
            </a:solidFill>
            <a:ln w="19050" cap="sq">
              <a:solidFill>
                <a:srgbClr val="E1E4F2"/>
              </a:solidFill>
              <a:prstDash val="solid"/>
              <a:miter/>
            </a:ln>
          </p:spPr>
        </p:sp>
      </p:grpSp>
      <p:grpSp>
        <p:nvGrpSpPr>
          <p:cNvPr name="Group 7" id="7"/>
          <p:cNvGrpSpPr/>
          <p:nvPr/>
        </p:nvGrpSpPr>
        <p:grpSpPr>
          <a:xfrm rot="0">
            <a:off x="3600450" y="2903191"/>
            <a:ext cx="685800" cy="685800"/>
            <a:chOff x="0" y="0"/>
            <a:chExt cx="914400" cy="914400"/>
          </a:xfrm>
        </p:grpSpPr>
        <p:sp>
          <p:nvSpPr>
            <p:cNvPr name="Freeform 8" id="8" descr="Lightbulb"/>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3"/>
              <a:stretch>
                <a:fillRect l="0" t="0" r="0" b="0"/>
              </a:stretch>
            </a:blipFill>
          </p:spPr>
        </p:sp>
      </p:grpSp>
      <p:sp>
        <p:nvSpPr>
          <p:cNvPr name="TextBox 9" id="9"/>
          <p:cNvSpPr txBox="true"/>
          <p:nvPr/>
        </p:nvSpPr>
        <p:spPr>
          <a:xfrm rot="0">
            <a:off x="3322206" y="3693766"/>
            <a:ext cx="1242298" cy="565766"/>
          </a:xfrm>
          <a:prstGeom prst="rect">
            <a:avLst/>
          </a:prstGeom>
        </p:spPr>
        <p:txBody>
          <a:bodyPr anchor="t" rtlCol="false" tIns="0" lIns="0" bIns="0" rIns="0">
            <a:spAutoFit/>
          </a:bodyPr>
          <a:lstStyle/>
          <a:p>
            <a:pPr algn="ctr">
              <a:lnSpc>
                <a:spcPts val="3779"/>
              </a:lnSpc>
            </a:pPr>
            <a:r>
              <a:rPr lang="en-US" sz="2700" b="true">
                <a:solidFill>
                  <a:srgbClr val="2B2F45"/>
                </a:solidFill>
                <a:latin typeface="DM Sans Bold"/>
                <a:ea typeface="DM Sans Bold"/>
                <a:cs typeface="DM Sans Bold"/>
                <a:sym typeface="DM Sans Bold"/>
              </a:rPr>
              <a:t>Model</a:t>
            </a:r>
          </a:p>
        </p:txBody>
      </p:sp>
      <p:sp>
        <p:nvSpPr>
          <p:cNvPr name="TextBox 10" id="10"/>
          <p:cNvSpPr txBox="true"/>
          <p:nvPr/>
        </p:nvSpPr>
        <p:spPr>
          <a:xfrm rot="0">
            <a:off x="6229350" y="3152775"/>
            <a:ext cx="754380" cy="1019175"/>
          </a:xfrm>
          <a:prstGeom prst="rect">
            <a:avLst/>
          </a:prstGeom>
        </p:spPr>
        <p:txBody>
          <a:bodyPr anchor="t" rtlCol="false" tIns="0" lIns="0" bIns="0" rIns="0">
            <a:spAutoFit/>
          </a:bodyPr>
          <a:lstStyle/>
          <a:p>
            <a:pPr algn="l">
              <a:lnSpc>
                <a:spcPts val="9000"/>
              </a:lnSpc>
            </a:pPr>
            <a:r>
              <a:rPr lang="en-US" sz="9000">
                <a:solidFill>
                  <a:srgbClr val="7D82A0"/>
                </a:solidFill>
                <a:latin typeface="DM Sans"/>
                <a:ea typeface="DM Sans"/>
                <a:cs typeface="DM Sans"/>
                <a:sym typeface="DM Sans"/>
              </a:rPr>
              <a:t>+</a:t>
            </a:r>
          </a:p>
        </p:txBody>
      </p:sp>
      <p:grpSp>
        <p:nvGrpSpPr>
          <p:cNvPr name="Group 11" id="11"/>
          <p:cNvGrpSpPr/>
          <p:nvPr/>
        </p:nvGrpSpPr>
        <p:grpSpPr>
          <a:xfrm rot="0">
            <a:off x="7239000" y="2419350"/>
            <a:ext cx="3810000" cy="2286000"/>
            <a:chOff x="0" y="0"/>
            <a:chExt cx="5080000" cy="3048000"/>
          </a:xfrm>
        </p:grpSpPr>
        <p:sp>
          <p:nvSpPr>
            <p:cNvPr name="Freeform 12" id="12"/>
            <p:cNvSpPr/>
            <p:nvPr/>
          </p:nvSpPr>
          <p:spPr>
            <a:xfrm flipH="false" flipV="false" rot="0">
              <a:off x="0" y="0"/>
              <a:ext cx="5080000" cy="3048000"/>
            </a:xfrm>
            <a:custGeom>
              <a:avLst/>
              <a:gdLst/>
              <a:ahLst/>
              <a:cxnLst/>
              <a:rect r="r" b="b" t="t" l="l"/>
              <a:pathLst>
                <a:path h="3048000" w="5080000">
                  <a:moveTo>
                    <a:pt x="0" y="406400"/>
                  </a:moveTo>
                  <a:cubicBezTo>
                    <a:pt x="0" y="181991"/>
                    <a:pt x="181991" y="0"/>
                    <a:pt x="406400" y="0"/>
                  </a:cubicBezTo>
                  <a:lnTo>
                    <a:pt x="4673600" y="0"/>
                  </a:lnTo>
                  <a:cubicBezTo>
                    <a:pt x="4898009" y="0"/>
                    <a:pt x="5080000" y="181991"/>
                    <a:pt x="5080000" y="406400"/>
                  </a:cubicBezTo>
                  <a:lnTo>
                    <a:pt x="5080000" y="2641600"/>
                  </a:lnTo>
                  <a:cubicBezTo>
                    <a:pt x="5080000" y="2866009"/>
                    <a:pt x="4898009" y="3048000"/>
                    <a:pt x="4673600" y="3048000"/>
                  </a:cubicBezTo>
                  <a:lnTo>
                    <a:pt x="406400" y="3048000"/>
                  </a:lnTo>
                  <a:cubicBezTo>
                    <a:pt x="181991" y="3048000"/>
                    <a:pt x="0" y="2866009"/>
                    <a:pt x="0" y="2641600"/>
                  </a:cubicBezTo>
                  <a:close/>
                </a:path>
              </a:pathLst>
            </a:custGeom>
            <a:solidFill>
              <a:srgbClr val="CFD6F6"/>
            </a:solidFill>
          </p:spPr>
        </p:sp>
      </p:grpSp>
      <p:grpSp>
        <p:nvGrpSpPr>
          <p:cNvPr name="Group 13" id="13"/>
          <p:cNvGrpSpPr/>
          <p:nvPr/>
        </p:nvGrpSpPr>
        <p:grpSpPr>
          <a:xfrm rot="0">
            <a:off x="8801100" y="2903191"/>
            <a:ext cx="685800" cy="685800"/>
            <a:chOff x="0" y="0"/>
            <a:chExt cx="914400" cy="914400"/>
          </a:xfrm>
        </p:grpSpPr>
        <p:sp>
          <p:nvSpPr>
            <p:cNvPr name="Freeform 14" id="14" descr="Wrench"/>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sp>
        <p:nvSpPr>
          <p:cNvPr name="TextBox 15" id="15"/>
          <p:cNvSpPr txBox="true"/>
          <p:nvPr/>
        </p:nvSpPr>
        <p:spPr>
          <a:xfrm rot="0">
            <a:off x="8322831" y="3693766"/>
            <a:ext cx="1642348" cy="565766"/>
          </a:xfrm>
          <a:prstGeom prst="rect">
            <a:avLst/>
          </a:prstGeom>
        </p:spPr>
        <p:txBody>
          <a:bodyPr anchor="t" rtlCol="false" tIns="0" lIns="0" bIns="0" rIns="0">
            <a:spAutoFit/>
          </a:bodyPr>
          <a:lstStyle/>
          <a:p>
            <a:pPr algn="ctr">
              <a:lnSpc>
                <a:spcPts val="3779"/>
              </a:lnSpc>
            </a:pPr>
            <a:r>
              <a:rPr lang="en-US" sz="2700" b="true">
                <a:solidFill>
                  <a:srgbClr val="2B2F45"/>
                </a:solidFill>
                <a:latin typeface="DM Sans Bold"/>
                <a:ea typeface="DM Sans Bold"/>
                <a:cs typeface="DM Sans Bold"/>
                <a:sym typeface="DM Sans Bold"/>
              </a:rPr>
              <a:t>Harness</a:t>
            </a:r>
          </a:p>
        </p:txBody>
      </p:sp>
      <p:sp>
        <p:nvSpPr>
          <p:cNvPr name="TextBox 16" id="16"/>
          <p:cNvSpPr txBox="true"/>
          <p:nvPr/>
        </p:nvSpPr>
        <p:spPr>
          <a:xfrm rot="0">
            <a:off x="11430000" y="3152775"/>
            <a:ext cx="754380" cy="1019175"/>
          </a:xfrm>
          <a:prstGeom prst="rect">
            <a:avLst/>
          </a:prstGeom>
        </p:spPr>
        <p:txBody>
          <a:bodyPr anchor="t" rtlCol="false" tIns="0" lIns="0" bIns="0" rIns="0">
            <a:spAutoFit/>
          </a:bodyPr>
          <a:lstStyle/>
          <a:p>
            <a:pPr algn="l">
              <a:lnSpc>
                <a:spcPts val="9000"/>
              </a:lnSpc>
            </a:pPr>
            <a:r>
              <a:rPr lang="en-US" sz="9000">
                <a:solidFill>
                  <a:srgbClr val="7D82A0"/>
                </a:solidFill>
                <a:latin typeface="DM Sans"/>
                <a:ea typeface="DM Sans"/>
                <a:cs typeface="DM Sans"/>
                <a:sym typeface="DM Sans"/>
              </a:rPr>
              <a:t>=</a:t>
            </a:r>
          </a:p>
        </p:txBody>
      </p:sp>
      <p:grpSp>
        <p:nvGrpSpPr>
          <p:cNvPr name="Group 17" id="17"/>
          <p:cNvGrpSpPr/>
          <p:nvPr/>
        </p:nvGrpSpPr>
        <p:grpSpPr>
          <a:xfrm rot="0">
            <a:off x="12439650" y="2419350"/>
            <a:ext cx="3810000" cy="2286000"/>
            <a:chOff x="0" y="0"/>
            <a:chExt cx="5080000" cy="3048000"/>
          </a:xfrm>
        </p:grpSpPr>
        <p:sp>
          <p:nvSpPr>
            <p:cNvPr name="Freeform 18" id="18"/>
            <p:cNvSpPr/>
            <p:nvPr/>
          </p:nvSpPr>
          <p:spPr>
            <a:xfrm flipH="false" flipV="false" rot="0">
              <a:off x="0" y="0"/>
              <a:ext cx="5080000" cy="3048000"/>
            </a:xfrm>
            <a:custGeom>
              <a:avLst/>
              <a:gdLst/>
              <a:ahLst/>
              <a:cxnLst/>
              <a:rect r="r" b="b" t="t" l="l"/>
              <a:pathLst>
                <a:path h="3048000" w="5080000">
                  <a:moveTo>
                    <a:pt x="0" y="406400"/>
                  </a:moveTo>
                  <a:cubicBezTo>
                    <a:pt x="0" y="181991"/>
                    <a:pt x="181991" y="0"/>
                    <a:pt x="406400" y="0"/>
                  </a:cubicBezTo>
                  <a:lnTo>
                    <a:pt x="4673600" y="0"/>
                  </a:lnTo>
                  <a:cubicBezTo>
                    <a:pt x="4898009" y="0"/>
                    <a:pt x="5080000" y="181991"/>
                    <a:pt x="5080000" y="406400"/>
                  </a:cubicBezTo>
                  <a:lnTo>
                    <a:pt x="5080000" y="2641600"/>
                  </a:lnTo>
                  <a:cubicBezTo>
                    <a:pt x="5080000" y="2866009"/>
                    <a:pt x="4898009" y="3048000"/>
                    <a:pt x="4673600" y="3048000"/>
                  </a:cubicBezTo>
                  <a:lnTo>
                    <a:pt x="406400" y="3048000"/>
                  </a:lnTo>
                  <a:cubicBezTo>
                    <a:pt x="181991" y="3048000"/>
                    <a:pt x="0" y="2866009"/>
                    <a:pt x="0" y="2641600"/>
                  </a:cubicBezTo>
                  <a:close/>
                </a:path>
              </a:pathLst>
            </a:custGeom>
            <a:solidFill>
              <a:srgbClr val="5A5ED6"/>
            </a:solidFill>
          </p:spPr>
        </p:sp>
      </p:grpSp>
      <p:grpSp>
        <p:nvGrpSpPr>
          <p:cNvPr name="Group 19" id="19"/>
          <p:cNvGrpSpPr/>
          <p:nvPr/>
        </p:nvGrpSpPr>
        <p:grpSpPr>
          <a:xfrm rot="0">
            <a:off x="14001750" y="2903191"/>
            <a:ext cx="685800" cy="685800"/>
            <a:chOff x="0" y="0"/>
            <a:chExt cx="914400" cy="914400"/>
          </a:xfrm>
        </p:grpSpPr>
        <p:sp>
          <p:nvSpPr>
            <p:cNvPr name="Freeform 20" id="20" descr="Lightni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sp>
        <p:nvSpPr>
          <p:cNvPr name="TextBox 21" id="21"/>
          <p:cNvSpPr txBox="true"/>
          <p:nvPr/>
        </p:nvSpPr>
        <p:spPr>
          <a:xfrm rot="0">
            <a:off x="13740374" y="3693766"/>
            <a:ext cx="1208542" cy="565766"/>
          </a:xfrm>
          <a:prstGeom prst="rect">
            <a:avLst/>
          </a:prstGeom>
        </p:spPr>
        <p:txBody>
          <a:bodyPr anchor="t" rtlCol="false" tIns="0" lIns="0" bIns="0" rIns="0">
            <a:spAutoFit/>
          </a:bodyPr>
          <a:lstStyle/>
          <a:p>
            <a:pPr algn="ctr">
              <a:lnSpc>
                <a:spcPts val="3779"/>
              </a:lnSpc>
            </a:pPr>
            <a:r>
              <a:rPr lang="en-US" sz="2700" b="true">
                <a:solidFill>
                  <a:srgbClr val="FCFCFE"/>
                </a:solidFill>
                <a:latin typeface="DM Sans Bold"/>
                <a:ea typeface="DM Sans Bold"/>
                <a:cs typeface="DM Sans Bold"/>
                <a:sym typeface="DM Sans Bold"/>
              </a:rPr>
              <a:t>Agent</a:t>
            </a:r>
          </a:p>
        </p:txBody>
      </p:sp>
      <p:grpSp>
        <p:nvGrpSpPr>
          <p:cNvPr name="Group 22" id="22"/>
          <p:cNvGrpSpPr/>
          <p:nvPr/>
        </p:nvGrpSpPr>
        <p:grpSpPr>
          <a:xfrm rot="0">
            <a:off x="10203656" y="5248313"/>
            <a:ext cx="5731373" cy="4109066"/>
            <a:chOff x="0" y="0"/>
            <a:chExt cx="7641831" cy="5478755"/>
          </a:xfrm>
        </p:grpSpPr>
        <p:sp>
          <p:nvSpPr>
            <p:cNvPr name="Freeform 23" id="23" descr="image.png"/>
            <p:cNvSpPr/>
            <p:nvPr/>
          </p:nvSpPr>
          <p:spPr>
            <a:xfrm flipH="false" flipV="false" rot="0">
              <a:off x="0" y="0"/>
              <a:ext cx="7641844" cy="5478780"/>
            </a:xfrm>
            <a:custGeom>
              <a:avLst/>
              <a:gdLst/>
              <a:ahLst/>
              <a:cxnLst/>
              <a:rect r="r" b="b" t="t" l="l"/>
              <a:pathLst>
                <a:path h="5478780" w="7641844">
                  <a:moveTo>
                    <a:pt x="0" y="0"/>
                  </a:moveTo>
                  <a:lnTo>
                    <a:pt x="7641844" y="0"/>
                  </a:lnTo>
                  <a:lnTo>
                    <a:pt x="7641844" y="5478780"/>
                  </a:lnTo>
                  <a:lnTo>
                    <a:pt x="0" y="5478780"/>
                  </a:lnTo>
                  <a:lnTo>
                    <a:pt x="0" y="0"/>
                  </a:lnTo>
                  <a:close/>
                </a:path>
              </a:pathLst>
            </a:custGeom>
            <a:blipFill>
              <a:blip r:embed="rId6"/>
              <a:stretch>
                <a:fillRect l="0" t="-715" r="0" b="-714"/>
              </a:stretch>
            </a:blipFill>
          </p:spPr>
        </p:sp>
      </p:grpSp>
      <p:grpSp>
        <p:nvGrpSpPr>
          <p:cNvPr name="Group 24" id="24"/>
          <p:cNvGrpSpPr/>
          <p:nvPr/>
        </p:nvGrpSpPr>
        <p:grpSpPr>
          <a:xfrm rot="0">
            <a:off x="2126161" y="5469284"/>
            <a:ext cx="6096000" cy="3667125"/>
            <a:chOff x="0" y="0"/>
            <a:chExt cx="8128000" cy="4889500"/>
          </a:xfrm>
        </p:grpSpPr>
        <p:sp>
          <p:nvSpPr>
            <p:cNvPr name="Freeform 25" id="25" descr="image.png"/>
            <p:cNvSpPr/>
            <p:nvPr/>
          </p:nvSpPr>
          <p:spPr>
            <a:xfrm flipH="false" flipV="false" rot="0">
              <a:off x="0" y="0"/>
              <a:ext cx="8128000" cy="4889500"/>
            </a:xfrm>
            <a:custGeom>
              <a:avLst/>
              <a:gdLst/>
              <a:ahLst/>
              <a:cxnLst/>
              <a:rect r="r" b="b" t="t" l="l"/>
              <a:pathLst>
                <a:path h="4889500" w="8128000">
                  <a:moveTo>
                    <a:pt x="0" y="0"/>
                  </a:moveTo>
                  <a:lnTo>
                    <a:pt x="8128000" y="0"/>
                  </a:lnTo>
                  <a:lnTo>
                    <a:pt x="8128000" y="4889500"/>
                  </a:lnTo>
                  <a:lnTo>
                    <a:pt x="0" y="4889500"/>
                  </a:lnTo>
                  <a:lnTo>
                    <a:pt x="0" y="0"/>
                  </a:lnTo>
                  <a:close/>
                </a:path>
              </a:pathLst>
            </a:custGeom>
            <a:blipFill>
              <a:blip r:embed="rId7"/>
              <a:stretch>
                <a:fillRect l="0" t="-6401" r="0" b="0"/>
              </a:stretch>
            </a:blip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Four eras</a:t>
            </a:r>
          </a:p>
        </p:txBody>
      </p:sp>
      <p:grpSp>
        <p:nvGrpSpPr>
          <p:cNvPr name="Group 3" id="3"/>
          <p:cNvGrpSpPr/>
          <p:nvPr/>
        </p:nvGrpSpPr>
        <p:grpSpPr>
          <a:xfrm rot="0">
            <a:off x="1219200" y="3960543"/>
            <a:ext cx="3962400" cy="3264989"/>
            <a:chOff x="0" y="0"/>
            <a:chExt cx="5283200" cy="4353319"/>
          </a:xfrm>
        </p:grpSpPr>
        <p:sp>
          <p:nvSpPr>
            <p:cNvPr name="Freeform 4" id="4"/>
            <p:cNvSpPr/>
            <p:nvPr/>
          </p:nvSpPr>
          <p:spPr>
            <a:xfrm flipH="false" flipV="false" rot="0">
              <a:off x="0" y="0"/>
              <a:ext cx="5283200" cy="4353306"/>
            </a:xfrm>
            <a:custGeom>
              <a:avLst/>
              <a:gdLst/>
              <a:ahLst/>
              <a:cxnLst/>
              <a:rect r="r" b="b" t="t" l="l"/>
              <a:pathLst>
                <a:path h="4353306" w="5283200">
                  <a:moveTo>
                    <a:pt x="304800" y="0"/>
                  </a:moveTo>
                  <a:lnTo>
                    <a:pt x="5283200" y="0"/>
                  </a:lnTo>
                  <a:lnTo>
                    <a:pt x="5283200" y="4353306"/>
                  </a:lnTo>
                  <a:lnTo>
                    <a:pt x="304800" y="4353306"/>
                  </a:lnTo>
                  <a:cubicBezTo>
                    <a:pt x="136525" y="4353306"/>
                    <a:pt x="0" y="4216781"/>
                    <a:pt x="0" y="4048506"/>
                  </a:cubicBezTo>
                  <a:lnTo>
                    <a:pt x="0" y="304800"/>
                  </a:lnTo>
                  <a:cubicBezTo>
                    <a:pt x="0" y="136525"/>
                    <a:pt x="136525" y="0"/>
                    <a:pt x="304800" y="0"/>
                  </a:cubicBezTo>
                  <a:close/>
                </a:path>
              </a:pathLst>
            </a:custGeom>
            <a:solidFill>
              <a:srgbClr val="EEF0FA"/>
            </a:solidFill>
          </p:spPr>
        </p:sp>
      </p:grpSp>
      <p:sp>
        <p:nvSpPr>
          <p:cNvPr name="TextBox 5" id="5"/>
          <p:cNvSpPr txBox="true"/>
          <p:nvPr/>
        </p:nvSpPr>
        <p:spPr>
          <a:xfrm rot="0">
            <a:off x="1600200" y="4303443"/>
            <a:ext cx="3296412" cy="396183"/>
          </a:xfrm>
          <a:prstGeom prst="rect">
            <a:avLst/>
          </a:prstGeom>
        </p:spPr>
        <p:txBody>
          <a:bodyPr anchor="t" rtlCol="false" tIns="0" lIns="0" bIns="0" rIns="0">
            <a:spAutoFit/>
          </a:bodyPr>
          <a:lstStyle/>
          <a:p>
            <a:pPr algn="l">
              <a:lnSpc>
                <a:spcPts val="2520"/>
              </a:lnSpc>
            </a:pPr>
            <a:r>
              <a:rPr lang="en-US" sz="1800">
                <a:solidFill>
                  <a:srgbClr val="3E42A0"/>
                </a:solidFill>
                <a:latin typeface="JetBrains Mono"/>
                <a:ea typeface="JetBrains Mono"/>
                <a:cs typeface="JetBrains Mono"/>
                <a:sym typeface="JetBrains Mono"/>
              </a:rPr>
              <a:t>2022–23</a:t>
            </a:r>
          </a:p>
        </p:txBody>
      </p:sp>
      <p:sp>
        <p:nvSpPr>
          <p:cNvPr name="TextBox 6" id="6"/>
          <p:cNvSpPr txBox="true"/>
          <p:nvPr/>
        </p:nvSpPr>
        <p:spPr>
          <a:xfrm rot="0">
            <a:off x="1600200" y="4785341"/>
            <a:ext cx="3581400" cy="422891"/>
          </a:xfrm>
          <a:prstGeom prst="rect">
            <a:avLst/>
          </a:prstGeom>
        </p:spPr>
        <p:txBody>
          <a:bodyPr anchor="t" rtlCol="false" tIns="0" lIns="0" bIns="0" rIns="0">
            <a:spAutoFit/>
          </a:bodyPr>
          <a:lstStyle/>
          <a:p>
            <a:pPr algn="l">
              <a:lnSpc>
                <a:spcPts val="3104"/>
              </a:lnSpc>
            </a:pPr>
            <a:r>
              <a:rPr lang="en-US" sz="2700" b="true">
                <a:solidFill>
                  <a:srgbClr val="2B2F45"/>
                </a:solidFill>
                <a:latin typeface="DM Sans Bold"/>
                <a:ea typeface="DM Sans Bold"/>
                <a:cs typeface="DM Sans Bold"/>
                <a:sym typeface="DM Sans Bold"/>
              </a:rPr>
              <a:t>Prompts and loops</a:t>
            </a:r>
          </a:p>
        </p:txBody>
      </p:sp>
      <p:sp>
        <p:nvSpPr>
          <p:cNvPr name="TextBox 7" id="7"/>
          <p:cNvSpPr txBox="true"/>
          <p:nvPr/>
        </p:nvSpPr>
        <p:spPr>
          <a:xfrm rot="0">
            <a:off x="1600200" y="5255866"/>
            <a:ext cx="3296412" cy="683866"/>
          </a:xfrm>
          <a:prstGeom prst="rect">
            <a:avLst/>
          </a:prstGeom>
        </p:spPr>
        <p:txBody>
          <a:bodyPr anchor="t" rtlCol="false" tIns="0" lIns="0" bIns="0" rIns="0">
            <a:spAutoFit/>
          </a:bodyPr>
          <a:lstStyle/>
          <a:p>
            <a:pPr algn="l">
              <a:lnSpc>
                <a:spcPts val="2430"/>
              </a:lnSpc>
            </a:pPr>
            <a:r>
              <a:rPr lang="en-US" sz="1800">
                <a:solidFill>
                  <a:srgbClr val="4D5270"/>
                </a:solidFill>
                <a:latin typeface="DM Sans"/>
                <a:ea typeface="DM Sans"/>
                <a:cs typeface="DM Sans"/>
                <a:sym typeface="DM Sans"/>
              </a:rPr>
              <a:t>ReAct, AutoGPT, function calling</a:t>
            </a:r>
          </a:p>
        </p:txBody>
      </p:sp>
      <p:sp>
        <p:nvSpPr>
          <p:cNvPr name="TextBox 8" id="8"/>
          <p:cNvSpPr txBox="true"/>
          <p:nvPr/>
        </p:nvSpPr>
        <p:spPr>
          <a:xfrm rot="0">
            <a:off x="1600200" y="6486449"/>
            <a:ext cx="3296412" cy="396183"/>
          </a:xfrm>
          <a:prstGeom prst="rect">
            <a:avLst/>
          </a:prstGeom>
        </p:spPr>
        <p:txBody>
          <a:bodyPr anchor="t" rtlCol="false" tIns="0" lIns="0" bIns="0" rIns="0">
            <a:spAutoFit/>
          </a:bodyPr>
          <a:lstStyle/>
          <a:p>
            <a:pPr algn="l">
              <a:lnSpc>
                <a:spcPts val="2520"/>
              </a:lnSpc>
            </a:pPr>
            <a:r>
              <a:rPr lang="en-US" sz="1800" i="true">
                <a:solidFill>
                  <a:srgbClr val="3E42A0"/>
                </a:solidFill>
                <a:latin typeface="DM Sans Italics"/>
                <a:ea typeface="DM Sans Italics"/>
                <a:cs typeface="DM Sans Italics"/>
                <a:sym typeface="DM Sans Italics"/>
              </a:rPr>
              <a:t>prompt engineering</a:t>
            </a:r>
          </a:p>
        </p:txBody>
      </p:sp>
      <p:grpSp>
        <p:nvGrpSpPr>
          <p:cNvPr name="Group 9" id="9"/>
          <p:cNvGrpSpPr/>
          <p:nvPr/>
        </p:nvGrpSpPr>
        <p:grpSpPr>
          <a:xfrm rot="0">
            <a:off x="5181600" y="3960543"/>
            <a:ext cx="3962400" cy="3264989"/>
            <a:chOff x="0" y="0"/>
            <a:chExt cx="5283200" cy="4353319"/>
          </a:xfrm>
        </p:grpSpPr>
        <p:sp>
          <p:nvSpPr>
            <p:cNvPr name="Freeform 10" id="10"/>
            <p:cNvSpPr/>
            <p:nvPr/>
          </p:nvSpPr>
          <p:spPr>
            <a:xfrm flipH="false" flipV="false" rot="0">
              <a:off x="0" y="0"/>
              <a:ext cx="5283200" cy="4353306"/>
            </a:xfrm>
            <a:custGeom>
              <a:avLst/>
              <a:gdLst/>
              <a:ahLst/>
              <a:cxnLst/>
              <a:rect r="r" b="b" t="t" l="l"/>
              <a:pathLst>
                <a:path h="4353306" w="5283200">
                  <a:moveTo>
                    <a:pt x="0" y="0"/>
                  </a:moveTo>
                  <a:lnTo>
                    <a:pt x="5283200" y="0"/>
                  </a:lnTo>
                  <a:lnTo>
                    <a:pt x="5283200" y="4353306"/>
                  </a:lnTo>
                  <a:lnTo>
                    <a:pt x="0" y="4353306"/>
                  </a:lnTo>
                  <a:close/>
                </a:path>
              </a:pathLst>
            </a:custGeom>
            <a:solidFill>
              <a:srgbClr val="E1E5F8"/>
            </a:solidFill>
          </p:spPr>
        </p:sp>
      </p:grpSp>
      <p:sp>
        <p:nvSpPr>
          <p:cNvPr name="TextBox 11" id="11"/>
          <p:cNvSpPr txBox="true"/>
          <p:nvPr/>
        </p:nvSpPr>
        <p:spPr>
          <a:xfrm rot="0">
            <a:off x="5562600" y="4303443"/>
            <a:ext cx="3296412" cy="396183"/>
          </a:xfrm>
          <a:prstGeom prst="rect">
            <a:avLst/>
          </a:prstGeom>
        </p:spPr>
        <p:txBody>
          <a:bodyPr anchor="t" rtlCol="false" tIns="0" lIns="0" bIns="0" rIns="0">
            <a:spAutoFit/>
          </a:bodyPr>
          <a:lstStyle/>
          <a:p>
            <a:pPr algn="l">
              <a:lnSpc>
                <a:spcPts val="2520"/>
              </a:lnSpc>
            </a:pPr>
            <a:r>
              <a:rPr lang="en-US" sz="1800">
                <a:solidFill>
                  <a:srgbClr val="3E42A0"/>
                </a:solidFill>
                <a:latin typeface="JetBrains Mono"/>
                <a:ea typeface="JetBrains Mono"/>
                <a:cs typeface="JetBrains Mono"/>
                <a:sym typeface="JetBrains Mono"/>
              </a:rPr>
              <a:t>2024</a:t>
            </a:r>
          </a:p>
        </p:txBody>
      </p:sp>
      <p:sp>
        <p:nvSpPr>
          <p:cNvPr name="TextBox 12" id="12"/>
          <p:cNvSpPr txBox="true"/>
          <p:nvPr/>
        </p:nvSpPr>
        <p:spPr>
          <a:xfrm rot="0">
            <a:off x="5562600" y="4785341"/>
            <a:ext cx="3296412" cy="422891"/>
          </a:xfrm>
          <a:prstGeom prst="rect">
            <a:avLst/>
          </a:prstGeom>
        </p:spPr>
        <p:txBody>
          <a:bodyPr anchor="t" rtlCol="false" tIns="0" lIns="0" bIns="0" rIns="0">
            <a:spAutoFit/>
          </a:bodyPr>
          <a:lstStyle/>
          <a:p>
            <a:pPr algn="l">
              <a:lnSpc>
                <a:spcPts val="3104"/>
              </a:lnSpc>
            </a:pPr>
            <a:r>
              <a:rPr lang="en-US" sz="2700" b="true">
                <a:solidFill>
                  <a:srgbClr val="2B2F45"/>
                </a:solidFill>
                <a:latin typeface="DM Sans Bold"/>
                <a:ea typeface="DM Sans Bold"/>
                <a:cs typeface="DM Sans Bold"/>
                <a:sym typeface="DM Sans Bold"/>
              </a:rPr>
              <a:t>Agent interfaces</a:t>
            </a:r>
          </a:p>
        </p:txBody>
      </p:sp>
      <p:sp>
        <p:nvSpPr>
          <p:cNvPr name="TextBox 13" id="13"/>
          <p:cNvSpPr txBox="true"/>
          <p:nvPr/>
        </p:nvSpPr>
        <p:spPr>
          <a:xfrm rot="0">
            <a:off x="5562600" y="5255866"/>
            <a:ext cx="3296412" cy="375266"/>
          </a:xfrm>
          <a:prstGeom prst="rect">
            <a:avLst/>
          </a:prstGeom>
        </p:spPr>
        <p:txBody>
          <a:bodyPr anchor="t" rtlCol="false" tIns="0" lIns="0" bIns="0" rIns="0">
            <a:spAutoFit/>
          </a:bodyPr>
          <a:lstStyle/>
          <a:p>
            <a:pPr algn="l">
              <a:lnSpc>
                <a:spcPts val="2430"/>
              </a:lnSpc>
            </a:pPr>
            <a:r>
              <a:rPr lang="en-US" sz="1800">
                <a:solidFill>
                  <a:srgbClr val="4D5270"/>
                </a:solidFill>
                <a:latin typeface="DM Sans"/>
                <a:ea typeface="DM Sans"/>
                <a:cs typeface="DM Sans"/>
                <a:sym typeface="DM Sans"/>
              </a:rPr>
              <a:t>SWE-agent, Devin, MCP</a:t>
            </a:r>
          </a:p>
        </p:txBody>
      </p:sp>
      <p:sp>
        <p:nvSpPr>
          <p:cNvPr name="TextBox 14" id="14"/>
          <p:cNvSpPr txBox="true"/>
          <p:nvPr/>
        </p:nvSpPr>
        <p:spPr>
          <a:xfrm rot="0">
            <a:off x="5562600" y="6486449"/>
            <a:ext cx="3296412" cy="396183"/>
          </a:xfrm>
          <a:prstGeom prst="rect">
            <a:avLst/>
          </a:prstGeom>
        </p:spPr>
        <p:txBody>
          <a:bodyPr anchor="t" rtlCol="false" tIns="0" lIns="0" bIns="0" rIns="0">
            <a:spAutoFit/>
          </a:bodyPr>
          <a:lstStyle/>
          <a:p>
            <a:pPr algn="l">
              <a:lnSpc>
                <a:spcPts val="2520"/>
              </a:lnSpc>
            </a:pPr>
            <a:r>
              <a:rPr lang="en-US" sz="1800" i="true">
                <a:solidFill>
                  <a:srgbClr val="3E42A0"/>
                </a:solidFill>
                <a:latin typeface="DM Sans Italics"/>
                <a:ea typeface="DM Sans Italics"/>
                <a:cs typeface="DM Sans Italics"/>
                <a:sym typeface="DM Sans Italics"/>
              </a:rPr>
              <a:t>scaffolding</a:t>
            </a:r>
          </a:p>
        </p:txBody>
      </p:sp>
      <p:grpSp>
        <p:nvGrpSpPr>
          <p:cNvPr name="Group 15" id="15"/>
          <p:cNvGrpSpPr/>
          <p:nvPr/>
        </p:nvGrpSpPr>
        <p:grpSpPr>
          <a:xfrm rot="0">
            <a:off x="9144000" y="3960543"/>
            <a:ext cx="3962400" cy="3264989"/>
            <a:chOff x="0" y="0"/>
            <a:chExt cx="5283200" cy="4353319"/>
          </a:xfrm>
        </p:grpSpPr>
        <p:sp>
          <p:nvSpPr>
            <p:cNvPr name="Freeform 16" id="16"/>
            <p:cNvSpPr/>
            <p:nvPr/>
          </p:nvSpPr>
          <p:spPr>
            <a:xfrm flipH="false" flipV="false" rot="0">
              <a:off x="0" y="0"/>
              <a:ext cx="5283200" cy="4353306"/>
            </a:xfrm>
            <a:custGeom>
              <a:avLst/>
              <a:gdLst/>
              <a:ahLst/>
              <a:cxnLst/>
              <a:rect r="r" b="b" t="t" l="l"/>
              <a:pathLst>
                <a:path h="4353306" w="5283200">
                  <a:moveTo>
                    <a:pt x="0" y="0"/>
                  </a:moveTo>
                  <a:lnTo>
                    <a:pt x="5283200" y="0"/>
                  </a:lnTo>
                  <a:lnTo>
                    <a:pt x="5283200" y="4353306"/>
                  </a:lnTo>
                  <a:lnTo>
                    <a:pt x="0" y="4353306"/>
                  </a:lnTo>
                  <a:close/>
                </a:path>
              </a:pathLst>
            </a:custGeom>
            <a:solidFill>
              <a:srgbClr val="CFD6F6"/>
            </a:solidFill>
          </p:spPr>
        </p:sp>
      </p:grpSp>
      <p:sp>
        <p:nvSpPr>
          <p:cNvPr name="TextBox 17" id="17"/>
          <p:cNvSpPr txBox="true"/>
          <p:nvPr/>
        </p:nvSpPr>
        <p:spPr>
          <a:xfrm rot="0">
            <a:off x="9525000" y="4303443"/>
            <a:ext cx="3296412" cy="396183"/>
          </a:xfrm>
          <a:prstGeom prst="rect">
            <a:avLst/>
          </a:prstGeom>
        </p:spPr>
        <p:txBody>
          <a:bodyPr anchor="t" rtlCol="false" tIns="0" lIns="0" bIns="0" rIns="0">
            <a:spAutoFit/>
          </a:bodyPr>
          <a:lstStyle/>
          <a:p>
            <a:pPr algn="l">
              <a:lnSpc>
                <a:spcPts val="2520"/>
              </a:lnSpc>
            </a:pPr>
            <a:r>
              <a:rPr lang="en-US" sz="1800">
                <a:solidFill>
                  <a:srgbClr val="3E42A0"/>
                </a:solidFill>
                <a:latin typeface="JetBrains Mono"/>
                <a:ea typeface="JetBrains Mono"/>
                <a:cs typeface="JetBrains Mono"/>
                <a:sym typeface="JetBrains Mono"/>
              </a:rPr>
              <a:t>2025</a:t>
            </a:r>
          </a:p>
        </p:txBody>
      </p:sp>
      <p:sp>
        <p:nvSpPr>
          <p:cNvPr name="TextBox 18" id="18"/>
          <p:cNvSpPr txBox="true"/>
          <p:nvPr/>
        </p:nvSpPr>
        <p:spPr>
          <a:xfrm rot="0">
            <a:off x="9525000" y="4785341"/>
            <a:ext cx="3296412" cy="422891"/>
          </a:xfrm>
          <a:prstGeom prst="rect">
            <a:avLst/>
          </a:prstGeom>
        </p:spPr>
        <p:txBody>
          <a:bodyPr anchor="t" rtlCol="false" tIns="0" lIns="0" bIns="0" rIns="0">
            <a:spAutoFit/>
          </a:bodyPr>
          <a:lstStyle/>
          <a:p>
            <a:pPr algn="l">
              <a:lnSpc>
                <a:spcPts val="3104"/>
              </a:lnSpc>
            </a:pPr>
            <a:r>
              <a:rPr lang="en-US" sz="2700" b="true">
                <a:solidFill>
                  <a:srgbClr val="2B2F45"/>
                </a:solidFill>
                <a:latin typeface="DM Sans Bold"/>
                <a:ea typeface="DM Sans Bold"/>
                <a:cs typeface="DM Sans Bold"/>
                <a:sym typeface="DM Sans Bold"/>
              </a:rPr>
              <a:t>Coding agents</a:t>
            </a:r>
          </a:p>
        </p:txBody>
      </p:sp>
      <p:sp>
        <p:nvSpPr>
          <p:cNvPr name="TextBox 19" id="19"/>
          <p:cNvSpPr txBox="true"/>
          <p:nvPr/>
        </p:nvSpPr>
        <p:spPr>
          <a:xfrm rot="0">
            <a:off x="9525000" y="5255866"/>
            <a:ext cx="3296412" cy="683866"/>
          </a:xfrm>
          <a:prstGeom prst="rect">
            <a:avLst/>
          </a:prstGeom>
        </p:spPr>
        <p:txBody>
          <a:bodyPr anchor="t" rtlCol="false" tIns="0" lIns="0" bIns="0" rIns="0">
            <a:spAutoFit/>
          </a:bodyPr>
          <a:lstStyle/>
          <a:p>
            <a:pPr algn="l">
              <a:lnSpc>
                <a:spcPts val="2430"/>
              </a:lnSpc>
            </a:pPr>
            <a:r>
              <a:rPr lang="en-US" sz="1800">
                <a:solidFill>
                  <a:srgbClr val="4D5270"/>
                </a:solidFill>
                <a:latin typeface="DM Sans"/>
                <a:ea typeface="DM Sans"/>
                <a:cs typeface="DM Sans"/>
                <a:sym typeface="DM Sans"/>
              </a:rPr>
              <a:t>Claude Code, Codex, AGENTS.md</a:t>
            </a:r>
          </a:p>
        </p:txBody>
      </p:sp>
      <p:sp>
        <p:nvSpPr>
          <p:cNvPr name="TextBox 20" id="20"/>
          <p:cNvSpPr txBox="true"/>
          <p:nvPr/>
        </p:nvSpPr>
        <p:spPr>
          <a:xfrm rot="0">
            <a:off x="9525000" y="6486449"/>
            <a:ext cx="3296412" cy="396183"/>
          </a:xfrm>
          <a:prstGeom prst="rect">
            <a:avLst/>
          </a:prstGeom>
        </p:spPr>
        <p:txBody>
          <a:bodyPr anchor="t" rtlCol="false" tIns="0" lIns="0" bIns="0" rIns="0">
            <a:spAutoFit/>
          </a:bodyPr>
          <a:lstStyle/>
          <a:p>
            <a:pPr algn="l">
              <a:lnSpc>
                <a:spcPts val="2520"/>
              </a:lnSpc>
            </a:pPr>
            <a:r>
              <a:rPr lang="en-US" sz="1800" i="true">
                <a:solidFill>
                  <a:srgbClr val="3E42A0"/>
                </a:solidFill>
                <a:latin typeface="DM Sans Italics"/>
                <a:ea typeface="DM Sans Italics"/>
                <a:cs typeface="DM Sans Italics"/>
                <a:sym typeface="DM Sans Italics"/>
              </a:rPr>
              <a:t>context engineering</a:t>
            </a:r>
          </a:p>
        </p:txBody>
      </p:sp>
      <p:grpSp>
        <p:nvGrpSpPr>
          <p:cNvPr name="Group 21" id="21"/>
          <p:cNvGrpSpPr/>
          <p:nvPr/>
        </p:nvGrpSpPr>
        <p:grpSpPr>
          <a:xfrm rot="0">
            <a:off x="13106400" y="3960543"/>
            <a:ext cx="3962400" cy="3264989"/>
            <a:chOff x="0" y="0"/>
            <a:chExt cx="5283200" cy="4353319"/>
          </a:xfrm>
        </p:grpSpPr>
        <p:sp>
          <p:nvSpPr>
            <p:cNvPr name="Freeform 22" id="22"/>
            <p:cNvSpPr/>
            <p:nvPr/>
          </p:nvSpPr>
          <p:spPr>
            <a:xfrm flipH="false" flipV="false" rot="0">
              <a:off x="0" y="0"/>
              <a:ext cx="5283200" cy="4353306"/>
            </a:xfrm>
            <a:custGeom>
              <a:avLst/>
              <a:gdLst/>
              <a:ahLst/>
              <a:cxnLst/>
              <a:rect r="r" b="b" t="t" l="l"/>
              <a:pathLst>
                <a:path h="4353306" w="5283200">
                  <a:moveTo>
                    <a:pt x="0" y="0"/>
                  </a:moveTo>
                  <a:lnTo>
                    <a:pt x="4978400" y="0"/>
                  </a:lnTo>
                  <a:cubicBezTo>
                    <a:pt x="5146675" y="0"/>
                    <a:pt x="5283200" y="136525"/>
                    <a:pt x="5283200" y="304800"/>
                  </a:cubicBezTo>
                  <a:lnTo>
                    <a:pt x="5283200" y="4048506"/>
                  </a:lnTo>
                  <a:cubicBezTo>
                    <a:pt x="5283200" y="4216781"/>
                    <a:pt x="5146675" y="4353306"/>
                    <a:pt x="4978400" y="4353306"/>
                  </a:cubicBezTo>
                  <a:lnTo>
                    <a:pt x="0" y="4353306"/>
                  </a:lnTo>
                  <a:lnTo>
                    <a:pt x="0" y="0"/>
                  </a:lnTo>
                  <a:close/>
                </a:path>
              </a:pathLst>
            </a:custGeom>
            <a:solidFill>
              <a:srgbClr val="5A5ED6"/>
            </a:solidFill>
          </p:spPr>
        </p:sp>
      </p:grpSp>
      <p:sp>
        <p:nvSpPr>
          <p:cNvPr name="TextBox 23" id="23"/>
          <p:cNvSpPr txBox="true"/>
          <p:nvPr/>
        </p:nvSpPr>
        <p:spPr>
          <a:xfrm rot="0">
            <a:off x="13487400" y="4303443"/>
            <a:ext cx="3296412" cy="396183"/>
          </a:xfrm>
          <a:prstGeom prst="rect">
            <a:avLst/>
          </a:prstGeom>
        </p:spPr>
        <p:txBody>
          <a:bodyPr anchor="t" rtlCol="false" tIns="0" lIns="0" bIns="0" rIns="0">
            <a:spAutoFit/>
          </a:bodyPr>
          <a:lstStyle/>
          <a:p>
            <a:pPr algn="l">
              <a:lnSpc>
                <a:spcPts val="2520"/>
              </a:lnSpc>
            </a:pPr>
            <a:r>
              <a:rPr lang="en-US" sz="1800">
                <a:solidFill>
                  <a:srgbClr val="FCFCFE"/>
                </a:solidFill>
                <a:latin typeface="JetBrains Mono"/>
                <a:ea typeface="JetBrains Mono"/>
                <a:cs typeface="JetBrains Mono"/>
                <a:sym typeface="JetBrains Mono"/>
              </a:rPr>
              <a:t>2026</a:t>
            </a:r>
          </a:p>
        </p:txBody>
      </p:sp>
      <p:sp>
        <p:nvSpPr>
          <p:cNvPr name="TextBox 24" id="24"/>
          <p:cNvSpPr txBox="true"/>
          <p:nvPr/>
        </p:nvSpPr>
        <p:spPr>
          <a:xfrm rot="0">
            <a:off x="13487400" y="4785341"/>
            <a:ext cx="3296412" cy="817216"/>
          </a:xfrm>
          <a:prstGeom prst="rect">
            <a:avLst/>
          </a:prstGeom>
        </p:spPr>
        <p:txBody>
          <a:bodyPr anchor="t" rtlCol="false" tIns="0" lIns="0" bIns="0" rIns="0">
            <a:spAutoFit/>
          </a:bodyPr>
          <a:lstStyle/>
          <a:p>
            <a:pPr algn="l">
              <a:lnSpc>
                <a:spcPts val="3104"/>
              </a:lnSpc>
            </a:pPr>
            <a:r>
              <a:rPr lang="en-US" sz="2700" b="true">
                <a:solidFill>
                  <a:srgbClr val="FCFCFE"/>
                </a:solidFill>
                <a:latin typeface="DM Sans Bold"/>
                <a:ea typeface="DM Sans Bold"/>
                <a:cs typeface="DM Sans Bold"/>
                <a:sym typeface="DM Sans Bold"/>
              </a:rPr>
              <a:t>Harness engineering</a:t>
            </a:r>
          </a:p>
        </p:txBody>
      </p:sp>
      <p:sp>
        <p:nvSpPr>
          <p:cNvPr name="TextBox 25" id="25"/>
          <p:cNvSpPr txBox="true"/>
          <p:nvPr/>
        </p:nvSpPr>
        <p:spPr>
          <a:xfrm rot="0">
            <a:off x="13487400" y="5650182"/>
            <a:ext cx="3296412" cy="683866"/>
          </a:xfrm>
          <a:prstGeom prst="rect">
            <a:avLst/>
          </a:prstGeom>
        </p:spPr>
        <p:txBody>
          <a:bodyPr anchor="t" rtlCol="false" tIns="0" lIns="0" bIns="0" rIns="0">
            <a:spAutoFit/>
          </a:bodyPr>
          <a:lstStyle/>
          <a:p>
            <a:pPr algn="l">
              <a:lnSpc>
                <a:spcPts val="2430"/>
              </a:lnSpc>
            </a:pPr>
            <a:r>
              <a:rPr lang="en-US" sz="1800">
                <a:solidFill>
                  <a:srgbClr val="FCFCFE"/>
                </a:solidFill>
                <a:latin typeface="DM Sans"/>
                <a:ea typeface="DM Sans"/>
                <a:cs typeface="DM Sans"/>
                <a:sym typeface="DM Sans"/>
              </a:rPr>
              <a:t>Guides, sensors, automated harnesses</a:t>
            </a:r>
          </a:p>
        </p:txBody>
      </p:sp>
      <p:sp>
        <p:nvSpPr>
          <p:cNvPr name="TextBox 26" id="26"/>
          <p:cNvSpPr txBox="true"/>
          <p:nvPr/>
        </p:nvSpPr>
        <p:spPr>
          <a:xfrm rot="0">
            <a:off x="13487400" y="6486449"/>
            <a:ext cx="3296412" cy="396183"/>
          </a:xfrm>
          <a:prstGeom prst="rect">
            <a:avLst/>
          </a:prstGeom>
        </p:spPr>
        <p:txBody>
          <a:bodyPr anchor="t" rtlCol="false" tIns="0" lIns="0" bIns="0" rIns="0">
            <a:spAutoFit/>
          </a:bodyPr>
          <a:lstStyle/>
          <a:p>
            <a:pPr algn="l">
              <a:lnSpc>
                <a:spcPts val="2520"/>
              </a:lnSpc>
            </a:pPr>
            <a:r>
              <a:rPr lang="en-US" sz="1800" i="true">
                <a:solidFill>
                  <a:srgbClr val="FCFCFE"/>
                </a:solidFill>
                <a:latin typeface="DM Sans Italics"/>
                <a:ea typeface="DM Sans Italics"/>
                <a:cs typeface="DM Sans Italics"/>
                <a:sym typeface="DM Sans Italics"/>
              </a:rPr>
              <a:t>harness engineering</a:t>
            </a:r>
          </a:p>
        </p:txBody>
      </p:sp>
      <p:sp>
        <p:nvSpPr>
          <p:cNvPr name="TextBox 27" id="27"/>
          <p:cNvSpPr txBox="true"/>
          <p:nvPr/>
        </p:nvSpPr>
        <p:spPr>
          <a:xfrm rot="0">
            <a:off x="16692639" y="9319317"/>
            <a:ext cx="376161"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09</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Prompt, context, harness</a:t>
            </a:r>
          </a:p>
        </p:txBody>
      </p:sp>
      <p:grpSp>
        <p:nvGrpSpPr>
          <p:cNvPr name="Group 3" id="3"/>
          <p:cNvGrpSpPr/>
          <p:nvPr/>
        </p:nvGrpSpPr>
        <p:grpSpPr>
          <a:xfrm rot="0">
            <a:off x="1219200" y="3737667"/>
            <a:ext cx="15849600" cy="3710807"/>
            <a:chOff x="0" y="0"/>
            <a:chExt cx="21132800" cy="4947742"/>
          </a:xfrm>
        </p:grpSpPr>
        <p:sp>
          <p:nvSpPr>
            <p:cNvPr name="Freeform 4" id="4"/>
            <p:cNvSpPr/>
            <p:nvPr/>
          </p:nvSpPr>
          <p:spPr>
            <a:xfrm flipH="false" flipV="false" rot="0">
              <a:off x="0" y="0"/>
              <a:ext cx="21132800" cy="4947793"/>
            </a:xfrm>
            <a:custGeom>
              <a:avLst/>
              <a:gdLst/>
              <a:ahLst/>
              <a:cxnLst/>
              <a:rect r="r" b="b" t="t" l="l"/>
              <a:pathLst>
                <a:path h="4947793" w="21132800">
                  <a:moveTo>
                    <a:pt x="0" y="508000"/>
                  </a:moveTo>
                  <a:cubicBezTo>
                    <a:pt x="0" y="227457"/>
                    <a:pt x="227457" y="0"/>
                    <a:pt x="508000" y="0"/>
                  </a:cubicBezTo>
                  <a:lnTo>
                    <a:pt x="20624800" y="0"/>
                  </a:lnTo>
                  <a:cubicBezTo>
                    <a:pt x="20905343" y="0"/>
                    <a:pt x="21132800" y="227457"/>
                    <a:pt x="21132800" y="508000"/>
                  </a:cubicBezTo>
                  <a:lnTo>
                    <a:pt x="21132800" y="4439793"/>
                  </a:lnTo>
                  <a:cubicBezTo>
                    <a:pt x="21132800" y="4720336"/>
                    <a:pt x="20905343" y="4947793"/>
                    <a:pt x="20624800" y="4947793"/>
                  </a:cubicBezTo>
                  <a:lnTo>
                    <a:pt x="508000" y="4947793"/>
                  </a:lnTo>
                  <a:cubicBezTo>
                    <a:pt x="227457" y="4947793"/>
                    <a:pt x="0" y="4720336"/>
                    <a:pt x="0" y="4439793"/>
                  </a:cubicBezTo>
                  <a:close/>
                </a:path>
              </a:pathLst>
            </a:custGeom>
            <a:solidFill>
              <a:srgbClr val="CFD6F6"/>
            </a:solidFill>
          </p:spPr>
        </p:sp>
      </p:grpSp>
      <p:sp>
        <p:nvSpPr>
          <p:cNvPr name="TextBox 5" id="5"/>
          <p:cNvSpPr txBox="true"/>
          <p:nvPr/>
        </p:nvSpPr>
        <p:spPr>
          <a:xfrm rot="0">
            <a:off x="1600200" y="4071042"/>
            <a:ext cx="290483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Harness engineering</a:t>
            </a:r>
          </a:p>
        </p:txBody>
      </p:sp>
      <p:sp>
        <p:nvSpPr>
          <p:cNvPr name="TextBox 6" id="6"/>
          <p:cNvSpPr txBox="true"/>
          <p:nvPr/>
        </p:nvSpPr>
        <p:spPr>
          <a:xfrm rot="0">
            <a:off x="4505030" y="4118667"/>
            <a:ext cx="5427459" cy="306705"/>
          </a:xfrm>
          <a:prstGeom prst="rect">
            <a:avLst/>
          </a:prstGeom>
        </p:spPr>
        <p:txBody>
          <a:bodyPr anchor="t" rtlCol="false" tIns="0" lIns="0" bIns="0" rIns="0">
            <a:spAutoFit/>
          </a:bodyPr>
          <a:lstStyle/>
          <a:p>
            <a:pPr algn="l">
              <a:lnSpc>
                <a:spcPts val="2520"/>
              </a:lnSpc>
            </a:pPr>
            <a:r>
              <a:rPr lang="en-US" sz="1800">
                <a:solidFill>
                  <a:srgbClr val="4D5270"/>
                </a:solidFill>
                <a:latin typeface="DM Sans"/>
                <a:ea typeface="DM Sans"/>
                <a:cs typeface="DM Sans"/>
                <a:sym typeface="DM Sans"/>
              </a:rPr>
              <a:t>T</a:t>
            </a:r>
            <a:r>
              <a:rPr lang="en-US" sz="1800">
                <a:solidFill>
                  <a:srgbClr val="4D5270"/>
                </a:solidFill>
                <a:latin typeface="DM Sans"/>
                <a:ea typeface="DM Sans"/>
                <a:cs typeface="DM Sans"/>
                <a:sym typeface="DM Sans"/>
              </a:rPr>
              <a:t>he whole system around the model</a:t>
            </a:r>
          </a:p>
        </p:txBody>
      </p:sp>
      <p:grpSp>
        <p:nvGrpSpPr>
          <p:cNvPr name="Group 7" id="7"/>
          <p:cNvGrpSpPr/>
          <p:nvPr/>
        </p:nvGrpSpPr>
        <p:grpSpPr>
          <a:xfrm rot="0">
            <a:off x="1600200" y="4720609"/>
            <a:ext cx="15087600" cy="2346874"/>
            <a:chOff x="0" y="0"/>
            <a:chExt cx="20116800" cy="3129166"/>
          </a:xfrm>
        </p:grpSpPr>
        <p:sp>
          <p:nvSpPr>
            <p:cNvPr name="Freeform 8" id="8"/>
            <p:cNvSpPr/>
            <p:nvPr/>
          </p:nvSpPr>
          <p:spPr>
            <a:xfrm flipH="false" flipV="false" rot="0">
              <a:off x="0" y="0"/>
              <a:ext cx="20116800" cy="3129153"/>
            </a:xfrm>
            <a:custGeom>
              <a:avLst/>
              <a:gdLst/>
              <a:ahLst/>
              <a:cxnLst/>
              <a:rect r="r" b="b" t="t" l="l"/>
              <a:pathLst>
                <a:path h="3129153" w="20116800">
                  <a:moveTo>
                    <a:pt x="0" y="406400"/>
                  </a:moveTo>
                  <a:cubicBezTo>
                    <a:pt x="0" y="181991"/>
                    <a:pt x="181991" y="0"/>
                    <a:pt x="406400" y="0"/>
                  </a:cubicBezTo>
                  <a:lnTo>
                    <a:pt x="19710400" y="0"/>
                  </a:lnTo>
                  <a:cubicBezTo>
                    <a:pt x="19934810" y="0"/>
                    <a:pt x="20116800" y="181991"/>
                    <a:pt x="20116800" y="406400"/>
                  </a:cubicBezTo>
                  <a:lnTo>
                    <a:pt x="20116800" y="2722753"/>
                  </a:lnTo>
                  <a:cubicBezTo>
                    <a:pt x="20116800" y="2947162"/>
                    <a:pt x="19934810" y="3129153"/>
                    <a:pt x="19710400" y="3129153"/>
                  </a:cubicBezTo>
                  <a:lnTo>
                    <a:pt x="406400" y="3129153"/>
                  </a:lnTo>
                  <a:cubicBezTo>
                    <a:pt x="181991" y="3129153"/>
                    <a:pt x="0" y="2947162"/>
                    <a:pt x="0" y="2722753"/>
                  </a:cubicBezTo>
                  <a:close/>
                </a:path>
              </a:pathLst>
            </a:custGeom>
            <a:solidFill>
              <a:srgbClr val="E6E4FA"/>
            </a:solidFill>
          </p:spPr>
        </p:sp>
      </p:grpSp>
      <p:sp>
        <p:nvSpPr>
          <p:cNvPr name="TextBox 9" id="9"/>
          <p:cNvSpPr txBox="true"/>
          <p:nvPr/>
        </p:nvSpPr>
        <p:spPr>
          <a:xfrm rot="0">
            <a:off x="1981200" y="5053984"/>
            <a:ext cx="2895381"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Context engineering</a:t>
            </a:r>
          </a:p>
        </p:txBody>
      </p:sp>
      <p:sp>
        <p:nvSpPr>
          <p:cNvPr name="TextBox 10" id="10"/>
          <p:cNvSpPr txBox="true"/>
          <p:nvPr/>
        </p:nvSpPr>
        <p:spPr>
          <a:xfrm rot="0">
            <a:off x="4876581" y="5101609"/>
            <a:ext cx="5517747" cy="306705"/>
          </a:xfrm>
          <a:prstGeom prst="rect">
            <a:avLst/>
          </a:prstGeom>
        </p:spPr>
        <p:txBody>
          <a:bodyPr anchor="t" rtlCol="false" tIns="0" lIns="0" bIns="0" rIns="0">
            <a:spAutoFit/>
          </a:bodyPr>
          <a:lstStyle/>
          <a:p>
            <a:pPr algn="l">
              <a:lnSpc>
                <a:spcPts val="2520"/>
              </a:lnSpc>
            </a:pPr>
            <a:r>
              <a:rPr lang="en-US" sz="1800">
                <a:solidFill>
                  <a:srgbClr val="4D5270"/>
                </a:solidFill>
                <a:latin typeface="DM Sans"/>
                <a:ea typeface="DM Sans"/>
                <a:cs typeface="DM Sans"/>
                <a:sym typeface="DM Sans"/>
              </a:rPr>
              <a:t>E</a:t>
            </a:r>
            <a:r>
              <a:rPr lang="en-US" sz="1800">
                <a:solidFill>
                  <a:srgbClr val="4D5270"/>
                </a:solidFill>
                <a:latin typeface="DM Sans"/>
                <a:ea typeface="DM Sans"/>
                <a:cs typeface="DM Sans"/>
                <a:sym typeface="DM Sans"/>
              </a:rPr>
              <a:t>verything the model sees each turn</a:t>
            </a:r>
          </a:p>
        </p:txBody>
      </p:sp>
      <p:grpSp>
        <p:nvGrpSpPr>
          <p:cNvPr name="Group 11" id="11"/>
          <p:cNvGrpSpPr/>
          <p:nvPr/>
        </p:nvGrpSpPr>
        <p:grpSpPr>
          <a:xfrm rot="0">
            <a:off x="1981200" y="5703541"/>
            <a:ext cx="14325600" cy="982932"/>
            <a:chOff x="0" y="0"/>
            <a:chExt cx="19100800" cy="1310576"/>
          </a:xfrm>
        </p:grpSpPr>
        <p:sp>
          <p:nvSpPr>
            <p:cNvPr name="Freeform 12" id="12"/>
            <p:cNvSpPr/>
            <p:nvPr/>
          </p:nvSpPr>
          <p:spPr>
            <a:xfrm flipH="false" flipV="false" rot="0">
              <a:off x="0" y="0"/>
              <a:ext cx="19100800" cy="1310640"/>
            </a:xfrm>
            <a:custGeom>
              <a:avLst/>
              <a:gdLst/>
              <a:ahLst/>
              <a:cxnLst/>
              <a:rect r="r" b="b" t="t" l="l"/>
              <a:pathLst>
                <a:path h="1310640" w="19100800">
                  <a:moveTo>
                    <a:pt x="0" y="304800"/>
                  </a:moveTo>
                  <a:cubicBezTo>
                    <a:pt x="0" y="136525"/>
                    <a:pt x="136525" y="0"/>
                    <a:pt x="304800" y="0"/>
                  </a:cubicBezTo>
                  <a:lnTo>
                    <a:pt x="18796000" y="0"/>
                  </a:lnTo>
                  <a:cubicBezTo>
                    <a:pt x="18964275" y="0"/>
                    <a:pt x="19100800" y="136525"/>
                    <a:pt x="19100800" y="304800"/>
                  </a:cubicBezTo>
                  <a:lnTo>
                    <a:pt x="19100800" y="1005840"/>
                  </a:lnTo>
                  <a:cubicBezTo>
                    <a:pt x="19100800" y="1174115"/>
                    <a:pt x="18964275" y="1310640"/>
                    <a:pt x="18796000" y="1310640"/>
                  </a:cubicBezTo>
                  <a:lnTo>
                    <a:pt x="304800" y="1310640"/>
                  </a:lnTo>
                  <a:cubicBezTo>
                    <a:pt x="136525" y="1310640"/>
                    <a:pt x="0" y="1174115"/>
                    <a:pt x="0" y="1005840"/>
                  </a:cubicBezTo>
                  <a:close/>
                </a:path>
              </a:pathLst>
            </a:custGeom>
            <a:solidFill>
              <a:srgbClr val="FCFCFE"/>
            </a:solidFill>
          </p:spPr>
        </p:sp>
      </p:grpSp>
      <p:sp>
        <p:nvSpPr>
          <p:cNvPr name="TextBox 13" id="13"/>
          <p:cNvSpPr txBox="true"/>
          <p:nvPr/>
        </p:nvSpPr>
        <p:spPr>
          <a:xfrm rot="0">
            <a:off x="2362200" y="5960716"/>
            <a:ext cx="2809351"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Prompt engineering</a:t>
            </a:r>
          </a:p>
        </p:txBody>
      </p:sp>
      <p:sp>
        <p:nvSpPr>
          <p:cNvPr name="TextBox 14" id="14"/>
          <p:cNvSpPr txBox="true"/>
          <p:nvPr/>
        </p:nvSpPr>
        <p:spPr>
          <a:xfrm rot="0">
            <a:off x="5171551" y="6008341"/>
            <a:ext cx="4792656" cy="306705"/>
          </a:xfrm>
          <a:prstGeom prst="rect">
            <a:avLst/>
          </a:prstGeom>
        </p:spPr>
        <p:txBody>
          <a:bodyPr anchor="t" rtlCol="false" tIns="0" lIns="0" bIns="0" rIns="0">
            <a:spAutoFit/>
          </a:bodyPr>
          <a:lstStyle/>
          <a:p>
            <a:pPr algn="l">
              <a:lnSpc>
                <a:spcPts val="2520"/>
              </a:lnSpc>
            </a:pPr>
            <a:r>
              <a:rPr lang="en-US" sz="1800">
                <a:solidFill>
                  <a:srgbClr val="4D5270"/>
                </a:solidFill>
                <a:latin typeface="DM Sans"/>
                <a:ea typeface="DM Sans"/>
                <a:cs typeface="DM Sans"/>
                <a:sym typeface="DM Sans"/>
              </a:rPr>
              <a:t>T</a:t>
            </a:r>
            <a:r>
              <a:rPr lang="en-US" sz="1800">
                <a:solidFill>
                  <a:srgbClr val="4D5270"/>
                </a:solidFill>
                <a:latin typeface="DM Sans"/>
                <a:ea typeface="DM Sans"/>
                <a:cs typeface="DM Sans"/>
                <a:sym typeface="DM Sans"/>
              </a:rPr>
              <a:t>he wording of one request</a:t>
            </a:r>
          </a:p>
        </p:txBody>
      </p:sp>
      <p:sp>
        <p:nvSpPr>
          <p:cNvPr name="TextBox 15" id="15"/>
          <p:cNvSpPr txBox="true"/>
          <p:nvPr/>
        </p:nvSpPr>
        <p:spPr>
          <a:xfrm rot="0">
            <a:off x="1219200" y="9319317"/>
            <a:ext cx="9969103"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Cognition, Lütke, Karpathy (Jun 2025); Hashimoto, OpenAI (Feb 2026)</a:t>
            </a:r>
          </a:p>
        </p:txBody>
      </p:sp>
      <p:sp>
        <p:nvSpPr>
          <p:cNvPr name="TextBox 16" id="16"/>
          <p:cNvSpPr txBox="true"/>
          <p:nvPr/>
        </p:nvSpPr>
        <p:spPr>
          <a:xfrm rot="0">
            <a:off x="16692639" y="9319317"/>
            <a:ext cx="376161"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Inside a harness</a:t>
            </a:r>
          </a:p>
        </p:txBody>
      </p:sp>
      <p:grpSp>
        <p:nvGrpSpPr>
          <p:cNvPr name="Group 3" id="3"/>
          <p:cNvGrpSpPr/>
          <p:nvPr/>
        </p:nvGrpSpPr>
        <p:grpSpPr>
          <a:xfrm rot="0">
            <a:off x="1219200" y="2667000"/>
            <a:ext cx="15849600" cy="5219700"/>
            <a:chOff x="0" y="0"/>
            <a:chExt cx="21132800" cy="6959600"/>
          </a:xfrm>
        </p:grpSpPr>
        <p:sp>
          <p:nvSpPr>
            <p:cNvPr name="Freeform 4" id="4"/>
            <p:cNvSpPr/>
            <p:nvPr/>
          </p:nvSpPr>
          <p:spPr>
            <a:xfrm flipH="false" flipV="false" rot="0">
              <a:off x="0" y="0"/>
              <a:ext cx="21132800" cy="6959600"/>
            </a:xfrm>
            <a:custGeom>
              <a:avLst/>
              <a:gdLst/>
              <a:ahLst/>
              <a:cxnLst/>
              <a:rect r="r" b="b" t="t" l="l"/>
              <a:pathLst>
                <a:path h="6959600" w="21132800">
                  <a:moveTo>
                    <a:pt x="0" y="400812"/>
                  </a:moveTo>
                  <a:cubicBezTo>
                    <a:pt x="0" y="179451"/>
                    <a:pt x="179451" y="0"/>
                    <a:pt x="400812" y="0"/>
                  </a:cubicBezTo>
                  <a:lnTo>
                    <a:pt x="20731987" y="0"/>
                  </a:lnTo>
                  <a:cubicBezTo>
                    <a:pt x="20953349" y="0"/>
                    <a:pt x="21132800" y="179451"/>
                    <a:pt x="21132800" y="400812"/>
                  </a:cubicBezTo>
                  <a:lnTo>
                    <a:pt x="21132800" y="6558788"/>
                  </a:lnTo>
                  <a:cubicBezTo>
                    <a:pt x="21132800" y="6780149"/>
                    <a:pt x="20953349" y="6959600"/>
                    <a:pt x="20731989" y="6959600"/>
                  </a:cubicBezTo>
                  <a:lnTo>
                    <a:pt x="400812" y="6959600"/>
                  </a:lnTo>
                  <a:cubicBezTo>
                    <a:pt x="179451" y="6959600"/>
                    <a:pt x="0" y="6780149"/>
                    <a:pt x="0" y="6558788"/>
                  </a:cubicBezTo>
                  <a:close/>
                </a:path>
              </a:pathLst>
            </a:custGeom>
            <a:solidFill>
              <a:srgbClr val="FCFCFE"/>
            </a:solidFill>
            <a:ln w="9525" cap="sq">
              <a:solidFill>
                <a:srgbClr val="E1E4F2"/>
              </a:solidFill>
              <a:prstDash val="solid"/>
              <a:miter/>
            </a:ln>
          </p:spPr>
        </p:sp>
      </p:grpSp>
      <p:sp>
        <p:nvSpPr>
          <p:cNvPr name="TextBox 5" id="5"/>
          <p:cNvSpPr txBox="true"/>
          <p:nvPr/>
        </p:nvSpPr>
        <p:spPr>
          <a:xfrm rot="0">
            <a:off x="1600200" y="2781300"/>
            <a:ext cx="3924300" cy="396183"/>
          </a:xfrm>
          <a:prstGeom prst="rect">
            <a:avLst/>
          </a:prstGeom>
        </p:spPr>
        <p:txBody>
          <a:bodyPr anchor="t" rtlCol="false" tIns="0" lIns="0" bIns="0" rIns="0">
            <a:spAutoFit/>
          </a:bodyPr>
          <a:lstStyle/>
          <a:p>
            <a:pPr algn="l">
              <a:lnSpc>
                <a:spcPts val="2520"/>
              </a:lnSpc>
            </a:pPr>
            <a:r>
              <a:rPr lang="en-US" sz="1800" spc="149">
                <a:solidFill>
                  <a:srgbClr val="4E52B8"/>
                </a:solidFill>
                <a:latin typeface="JetBrains Mono"/>
                <a:ea typeface="JetBrains Mono"/>
                <a:cs typeface="JetBrains Mono"/>
                <a:sym typeface="JetBrains Mono"/>
              </a:rPr>
              <a:t>THE HARNESS</a:t>
            </a:r>
          </a:p>
        </p:txBody>
      </p:sp>
      <p:grpSp>
        <p:nvGrpSpPr>
          <p:cNvPr name="Group 6" id="6"/>
          <p:cNvGrpSpPr/>
          <p:nvPr/>
        </p:nvGrpSpPr>
        <p:grpSpPr>
          <a:xfrm rot="0">
            <a:off x="1828800" y="3333750"/>
            <a:ext cx="4000500" cy="2095500"/>
            <a:chOff x="0" y="0"/>
            <a:chExt cx="5334000" cy="2794000"/>
          </a:xfrm>
        </p:grpSpPr>
        <p:sp>
          <p:nvSpPr>
            <p:cNvPr name="Freeform 7" id="7"/>
            <p:cNvSpPr/>
            <p:nvPr/>
          </p:nvSpPr>
          <p:spPr>
            <a:xfrm flipH="false" flipV="false" rot="0">
              <a:off x="0" y="0"/>
              <a:ext cx="5334000" cy="2794000"/>
            </a:xfrm>
            <a:custGeom>
              <a:avLst/>
              <a:gdLst/>
              <a:ahLst/>
              <a:cxnLst/>
              <a:rect r="r" b="b" t="t" l="l"/>
              <a:pathLst>
                <a:path h="2794000" w="5334000">
                  <a:moveTo>
                    <a:pt x="0" y="304800"/>
                  </a:moveTo>
                  <a:cubicBezTo>
                    <a:pt x="0" y="136525"/>
                    <a:pt x="136525" y="0"/>
                    <a:pt x="304800" y="0"/>
                  </a:cubicBezTo>
                  <a:lnTo>
                    <a:pt x="5029200" y="0"/>
                  </a:lnTo>
                  <a:cubicBezTo>
                    <a:pt x="5197475" y="0"/>
                    <a:pt x="5334000" y="136525"/>
                    <a:pt x="5334000" y="304800"/>
                  </a:cubicBezTo>
                  <a:lnTo>
                    <a:pt x="5334000" y="2489200"/>
                  </a:lnTo>
                  <a:cubicBezTo>
                    <a:pt x="5334000" y="2657475"/>
                    <a:pt x="5197475" y="2794000"/>
                    <a:pt x="5029200" y="2794000"/>
                  </a:cubicBezTo>
                  <a:lnTo>
                    <a:pt x="304800" y="2794000"/>
                  </a:lnTo>
                  <a:cubicBezTo>
                    <a:pt x="136525" y="2794000"/>
                    <a:pt x="0" y="2657475"/>
                    <a:pt x="0" y="2489200"/>
                  </a:cubicBezTo>
                  <a:close/>
                </a:path>
              </a:pathLst>
            </a:custGeom>
            <a:solidFill>
              <a:srgbClr val="CFD6F6"/>
            </a:solidFill>
          </p:spPr>
        </p:sp>
      </p:grpSp>
      <p:grpSp>
        <p:nvGrpSpPr>
          <p:cNvPr name="Group 8" id="8"/>
          <p:cNvGrpSpPr/>
          <p:nvPr/>
        </p:nvGrpSpPr>
        <p:grpSpPr>
          <a:xfrm rot="0">
            <a:off x="2133600" y="3663334"/>
            <a:ext cx="457200" cy="457200"/>
            <a:chOff x="0" y="0"/>
            <a:chExt cx="609600" cy="609600"/>
          </a:xfrm>
        </p:grpSpPr>
        <p:sp>
          <p:nvSpPr>
            <p:cNvPr name="Freeform 9" id="9" descr="Boo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10" id="10"/>
          <p:cNvSpPr txBox="true"/>
          <p:nvPr/>
        </p:nvSpPr>
        <p:spPr>
          <a:xfrm rot="0">
            <a:off x="2133600" y="4149109"/>
            <a:ext cx="3492627" cy="565766"/>
          </a:xfrm>
          <a:prstGeom prst="rect">
            <a:avLst/>
          </a:prstGeom>
        </p:spPr>
        <p:txBody>
          <a:bodyPr anchor="t" rtlCol="false" tIns="0" lIns="0" bIns="0" rIns="0">
            <a:spAutoFit/>
          </a:bodyPr>
          <a:lstStyle/>
          <a:p>
            <a:pPr algn="l">
              <a:lnSpc>
                <a:spcPts val="3779"/>
              </a:lnSpc>
            </a:pPr>
            <a:r>
              <a:rPr lang="en-US" sz="2700" b="true">
                <a:solidFill>
                  <a:srgbClr val="3E42A0"/>
                </a:solidFill>
                <a:latin typeface="DM Sans Bold"/>
                <a:ea typeface="DM Sans Bold"/>
                <a:cs typeface="DM Sans Bold"/>
                <a:sym typeface="DM Sans Bold"/>
              </a:rPr>
              <a:t>Guides</a:t>
            </a:r>
          </a:p>
        </p:txBody>
      </p:sp>
      <p:sp>
        <p:nvSpPr>
          <p:cNvPr name="TextBox 11" id="11"/>
          <p:cNvSpPr txBox="true"/>
          <p:nvPr/>
        </p:nvSpPr>
        <p:spPr>
          <a:xfrm rot="0">
            <a:off x="2133600" y="4724400"/>
            <a:ext cx="3492627" cy="413366"/>
          </a:xfrm>
          <a:prstGeom prst="rect">
            <a:avLst/>
          </a:prstGeom>
        </p:spPr>
        <p:txBody>
          <a:bodyPr anchor="t" rtlCol="false" tIns="0" lIns="0" bIns="0" rIns="0">
            <a:spAutoFit/>
          </a:bodyPr>
          <a:lstStyle/>
          <a:p>
            <a:pPr algn="l">
              <a:lnSpc>
                <a:spcPts val="2730"/>
              </a:lnSpc>
            </a:pPr>
            <a:r>
              <a:rPr lang="en-US" sz="2100">
                <a:solidFill>
                  <a:srgbClr val="2B2F45"/>
                </a:solidFill>
                <a:latin typeface="DM Sans"/>
                <a:ea typeface="DM Sans"/>
                <a:cs typeface="DM Sans"/>
                <a:sym typeface="DM Sans"/>
              </a:rPr>
              <a:t>Prompt, AGENTS.md, skills</a:t>
            </a:r>
          </a:p>
        </p:txBody>
      </p:sp>
      <p:grpSp>
        <p:nvGrpSpPr>
          <p:cNvPr name="Group 12" id="12"/>
          <p:cNvGrpSpPr/>
          <p:nvPr/>
        </p:nvGrpSpPr>
        <p:grpSpPr>
          <a:xfrm rot="0">
            <a:off x="7143750" y="3333750"/>
            <a:ext cx="4000500" cy="2095500"/>
            <a:chOff x="0" y="0"/>
            <a:chExt cx="5334000" cy="2794000"/>
          </a:xfrm>
        </p:grpSpPr>
        <p:sp>
          <p:nvSpPr>
            <p:cNvPr name="Freeform 13" id="13"/>
            <p:cNvSpPr/>
            <p:nvPr/>
          </p:nvSpPr>
          <p:spPr>
            <a:xfrm flipH="false" flipV="false" rot="0">
              <a:off x="0" y="0"/>
              <a:ext cx="5334000" cy="2794000"/>
            </a:xfrm>
            <a:custGeom>
              <a:avLst/>
              <a:gdLst/>
              <a:ahLst/>
              <a:cxnLst/>
              <a:rect r="r" b="b" t="t" l="l"/>
              <a:pathLst>
                <a:path h="2794000" w="5334000">
                  <a:moveTo>
                    <a:pt x="0" y="304800"/>
                  </a:moveTo>
                  <a:cubicBezTo>
                    <a:pt x="0" y="136525"/>
                    <a:pt x="136525" y="0"/>
                    <a:pt x="304800" y="0"/>
                  </a:cubicBezTo>
                  <a:lnTo>
                    <a:pt x="5029200" y="0"/>
                  </a:lnTo>
                  <a:cubicBezTo>
                    <a:pt x="5197475" y="0"/>
                    <a:pt x="5334000" y="136525"/>
                    <a:pt x="5334000" y="304800"/>
                  </a:cubicBezTo>
                  <a:lnTo>
                    <a:pt x="5334000" y="2489200"/>
                  </a:lnTo>
                  <a:cubicBezTo>
                    <a:pt x="5334000" y="2657475"/>
                    <a:pt x="5197475" y="2794000"/>
                    <a:pt x="5029200" y="2794000"/>
                  </a:cubicBezTo>
                  <a:lnTo>
                    <a:pt x="304800" y="2794000"/>
                  </a:lnTo>
                  <a:cubicBezTo>
                    <a:pt x="136525" y="2794000"/>
                    <a:pt x="0" y="2657475"/>
                    <a:pt x="0" y="2489200"/>
                  </a:cubicBezTo>
                  <a:close/>
                </a:path>
              </a:pathLst>
            </a:custGeom>
            <a:solidFill>
              <a:srgbClr val="5A5ED6"/>
            </a:solidFill>
          </p:spPr>
        </p:sp>
      </p:grpSp>
      <p:sp>
        <p:nvSpPr>
          <p:cNvPr name="TextBox 14" id="14"/>
          <p:cNvSpPr txBox="true"/>
          <p:nvPr/>
        </p:nvSpPr>
        <p:spPr>
          <a:xfrm rot="0">
            <a:off x="8522856" y="3882409"/>
            <a:ext cx="1242298" cy="565766"/>
          </a:xfrm>
          <a:prstGeom prst="rect">
            <a:avLst/>
          </a:prstGeom>
        </p:spPr>
        <p:txBody>
          <a:bodyPr anchor="t" rtlCol="false" tIns="0" lIns="0" bIns="0" rIns="0">
            <a:spAutoFit/>
          </a:bodyPr>
          <a:lstStyle/>
          <a:p>
            <a:pPr algn="ctr">
              <a:lnSpc>
                <a:spcPts val="3779"/>
              </a:lnSpc>
            </a:pPr>
            <a:r>
              <a:rPr lang="en-US" sz="2700" b="true">
                <a:solidFill>
                  <a:srgbClr val="FCFCFE"/>
                </a:solidFill>
                <a:latin typeface="DM Sans Bold"/>
                <a:ea typeface="DM Sans Bold"/>
                <a:cs typeface="DM Sans Bold"/>
                <a:sym typeface="DM Sans Bold"/>
              </a:rPr>
              <a:t>Model</a:t>
            </a:r>
          </a:p>
        </p:txBody>
      </p:sp>
      <p:sp>
        <p:nvSpPr>
          <p:cNvPr name="TextBox 15" id="15"/>
          <p:cNvSpPr txBox="true"/>
          <p:nvPr/>
        </p:nvSpPr>
        <p:spPr>
          <a:xfrm rot="0">
            <a:off x="8057893" y="4457700"/>
            <a:ext cx="2172148" cy="413366"/>
          </a:xfrm>
          <a:prstGeom prst="rect">
            <a:avLst/>
          </a:prstGeom>
        </p:spPr>
        <p:txBody>
          <a:bodyPr anchor="t" rtlCol="false" tIns="0" lIns="0" bIns="0" rIns="0">
            <a:spAutoFit/>
          </a:bodyPr>
          <a:lstStyle/>
          <a:p>
            <a:pPr algn="ctr">
              <a:lnSpc>
                <a:spcPts val="2730"/>
              </a:lnSpc>
            </a:pPr>
            <a:r>
              <a:rPr lang="en-US" sz="2100">
                <a:solidFill>
                  <a:srgbClr val="FCFCFE"/>
                </a:solidFill>
                <a:latin typeface="DM Sans"/>
                <a:ea typeface="DM Sans"/>
                <a:cs typeface="DM Sans"/>
                <a:sym typeface="DM Sans"/>
              </a:rPr>
              <a:t>acts with tools</a:t>
            </a:r>
          </a:p>
        </p:txBody>
      </p:sp>
      <p:grpSp>
        <p:nvGrpSpPr>
          <p:cNvPr name="Group 16" id="16"/>
          <p:cNvGrpSpPr/>
          <p:nvPr/>
        </p:nvGrpSpPr>
        <p:grpSpPr>
          <a:xfrm rot="0">
            <a:off x="12458700" y="3333750"/>
            <a:ext cx="4000500" cy="2095500"/>
            <a:chOff x="0" y="0"/>
            <a:chExt cx="5334000" cy="2794000"/>
          </a:xfrm>
        </p:grpSpPr>
        <p:sp>
          <p:nvSpPr>
            <p:cNvPr name="Freeform 17" id="17"/>
            <p:cNvSpPr/>
            <p:nvPr/>
          </p:nvSpPr>
          <p:spPr>
            <a:xfrm flipH="false" flipV="false" rot="0">
              <a:off x="0" y="0"/>
              <a:ext cx="5334000" cy="2794000"/>
            </a:xfrm>
            <a:custGeom>
              <a:avLst/>
              <a:gdLst/>
              <a:ahLst/>
              <a:cxnLst/>
              <a:rect r="r" b="b" t="t" l="l"/>
              <a:pathLst>
                <a:path h="2794000" w="5334000">
                  <a:moveTo>
                    <a:pt x="0" y="304800"/>
                  </a:moveTo>
                  <a:cubicBezTo>
                    <a:pt x="0" y="136525"/>
                    <a:pt x="136525" y="0"/>
                    <a:pt x="304800" y="0"/>
                  </a:cubicBezTo>
                  <a:lnTo>
                    <a:pt x="5029200" y="0"/>
                  </a:lnTo>
                  <a:cubicBezTo>
                    <a:pt x="5197475" y="0"/>
                    <a:pt x="5334000" y="136525"/>
                    <a:pt x="5334000" y="304800"/>
                  </a:cubicBezTo>
                  <a:lnTo>
                    <a:pt x="5334000" y="2489200"/>
                  </a:lnTo>
                  <a:cubicBezTo>
                    <a:pt x="5334000" y="2657475"/>
                    <a:pt x="5197475" y="2794000"/>
                    <a:pt x="5029200" y="2794000"/>
                  </a:cubicBezTo>
                  <a:lnTo>
                    <a:pt x="304800" y="2794000"/>
                  </a:lnTo>
                  <a:cubicBezTo>
                    <a:pt x="136525" y="2794000"/>
                    <a:pt x="0" y="2657475"/>
                    <a:pt x="0" y="2489200"/>
                  </a:cubicBezTo>
                  <a:close/>
                </a:path>
              </a:pathLst>
            </a:custGeom>
            <a:solidFill>
              <a:srgbClr val="ECEDF1"/>
            </a:solidFill>
          </p:spPr>
        </p:sp>
      </p:grpSp>
      <p:grpSp>
        <p:nvGrpSpPr>
          <p:cNvPr name="Group 18" id="18"/>
          <p:cNvGrpSpPr/>
          <p:nvPr/>
        </p:nvGrpSpPr>
        <p:grpSpPr>
          <a:xfrm rot="0">
            <a:off x="12763500" y="3663334"/>
            <a:ext cx="457200" cy="457200"/>
            <a:chOff x="0" y="0"/>
            <a:chExt cx="609600" cy="609600"/>
          </a:xfrm>
        </p:grpSpPr>
        <p:sp>
          <p:nvSpPr>
            <p:cNvPr name="Freeform 19" id="19" descr="CheckCircle"/>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4"/>
              <a:stretch>
                <a:fillRect l="0" t="0" r="0" b="0"/>
              </a:stretch>
            </a:blipFill>
          </p:spPr>
        </p:sp>
      </p:grpSp>
      <p:sp>
        <p:nvSpPr>
          <p:cNvPr name="TextBox 20" id="20"/>
          <p:cNvSpPr txBox="true"/>
          <p:nvPr/>
        </p:nvSpPr>
        <p:spPr>
          <a:xfrm rot="0">
            <a:off x="12763500" y="4149109"/>
            <a:ext cx="3492627" cy="565766"/>
          </a:xfrm>
          <a:prstGeom prst="rect">
            <a:avLst/>
          </a:prstGeom>
        </p:spPr>
        <p:txBody>
          <a:bodyPr anchor="t" rtlCol="false" tIns="0" lIns="0" bIns="0" rIns="0">
            <a:spAutoFit/>
          </a:bodyPr>
          <a:lstStyle/>
          <a:p>
            <a:pPr algn="l">
              <a:lnSpc>
                <a:spcPts val="3779"/>
              </a:lnSpc>
            </a:pPr>
            <a:r>
              <a:rPr lang="en-US" sz="2700" b="true">
                <a:solidFill>
                  <a:srgbClr val="4A4F63"/>
                </a:solidFill>
                <a:latin typeface="DM Sans Bold"/>
                <a:ea typeface="DM Sans Bold"/>
                <a:cs typeface="DM Sans Bold"/>
                <a:sym typeface="DM Sans Bold"/>
              </a:rPr>
              <a:t>Sensors</a:t>
            </a:r>
          </a:p>
        </p:txBody>
      </p:sp>
      <p:sp>
        <p:nvSpPr>
          <p:cNvPr name="TextBox 21" id="21"/>
          <p:cNvSpPr txBox="true"/>
          <p:nvPr/>
        </p:nvSpPr>
        <p:spPr>
          <a:xfrm rot="0">
            <a:off x="12763500" y="4724400"/>
            <a:ext cx="3492627" cy="413366"/>
          </a:xfrm>
          <a:prstGeom prst="rect">
            <a:avLst/>
          </a:prstGeom>
        </p:spPr>
        <p:txBody>
          <a:bodyPr anchor="t" rtlCol="false" tIns="0" lIns="0" bIns="0" rIns="0">
            <a:spAutoFit/>
          </a:bodyPr>
          <a:lstStyle/>
          <a:p>
            <a:pPr algn="l">
              <a:lnSpc>
                <a:spcPts val="2730"/>
              </a:lnSpc>
            </a:pPr>
            <a:r>
              <a:rPr lang="en-US" sz="2100">
                <a:solidFill>
                  <a:srgbClr val="2B2F45"/>
                </a:solidFill>
                <a:latin typeface="DM Sans"/>
                <a:ea typeface="DM Sans"/>
                <a:cs typeface="DM Sans"/>
                <a:sym typeface="DM Sans"/>
              </a:rPr>
              <a:t>Tests, linters, reviewers</a:t>
            </a:r>
          </a:p>
        </p:txBody>
      </p:sp>
      <p:sp>
        <p:nvSpPr>
          <p:cNvPr name="TextBox 22" id="22"/>
          <p:cNvSpPr txBox="true"/>
          <p:nvPr/>
        </p:nvSpPr>
        <p:spPr>
          <a:xfrm rot="0">
            <a:off x="5791200" y="3886200"/>
            <a:ext cx="1390650" cy="396183"/>
          </a:xfrm>
          <a:prstGeom prst="rect">
            <a:avLst/>
          </a:prstGeom>
        </p:spPr>
        <p:txBody>
          <a:bodyPr anchor="t" rtlCol="false" tIns="0" lIns="0" bIns="0" rIns="0">
            <a:spAutoFit/>
          </a:bodyPr>
          <a:lstStyle/>
          <a:p>
            <a:pPr algn="ctr">
              <a:lnSpc>
                <a:spcPts val="2520"/>
              </a:lnSpc>
            </a:pPr>
            <a:r>
              <a:rPr lang="en-US" sz="1800">
                <a:solidFill>
                  <a:srgbClr val="646983"/>
                </a:solidFill>
                <a:latin typeface="DM Sans"/>
                <a:ea typeface="DM Sans"/>
                <a:cs typeface="DM Sans"/>
                <a:sym typeface="DM Sans"/>
              </a:rPr>
              <a:t>steer</a:t>
            </a:r>
          </a:p>
        </p:txBody>
      </p:sp>
      <p:sp>
        <p:nvSpPr>
          <p:cNvPr name="TextBox 23" id="23"/>
          <p:cNvSpPr txBox="true"/>
          <p:nvPr/>
        </p:nvSpPr>
        <p:spPr>
          <a:xfrm rot="0">
            <a:off x="11106150" y="3886200"/>
            <a:ext cx="1390650" cy="396183"/>
          </a:xfrm>
          <a:prstGeom prst="rect">
            <a:avLst/>
          </a:prstGeom>
        </p:spPr>
        <p:txBody>
          <a:bodyPr anchor="t" rtlCol="false" tIns="0" lIns="0" bIns="0" rIns="0">
            <a:spAutoFit/>
          </a:bodyPr>
          <a:lstStyle/>
          <a:p>
            <a:pPr algn="ctr">
              <a:lnSpc>
                <a:spcPts val="2520"/>
              </a:lnSpc>
            </a:pPr>
            <a:r>
              <a:rPr lang="en-US" sz="1800">
                <a:solidFill>
                  <a:srgbClr val="646983"/>
                </a:solidFill>
                <a:latin typeface="DM Sans"/>
                <a:ea typeface="DM Sans"/>
                <a:cs typeface="DM Sans"/>
                <a:sym typeface="DM Sans"/>
              </a:rPr>
              <a:t>check</a:t>
            </a:r>
          </a:p>
        </p:txBody>
      </p:sp>
      <p:grpSp>
        <p:nvGrpSpPr>
          <p:cNvPr name="Group 24" id="24"/>
          <p:cNvGrpSpPr/>
          <p:nvPr/>
        </p:nvGrpSpPr>
        <p:grpSpPr>
          <a:xfrm rot="0">
            <a:off x="5753100" y="4305300"/>
            <a:ext cx="1466850" cy="152400"/>
            <a:chOff x="0" y="0"/>
            <a:chExt cx="1955800" cy="203200"/>
          </a:xfrm>
        </p:grpSpPr>
        <p:sp>
          <p:nvSpPr>
            <p:cNvPr name="Freeform 25" id="25" descr="connector"/>
            <p:cNvSpPr/>
            <p:nvPr/>
          </p:nvSpPr>
          <p:spPr>
            <a:xfrm flipH="false" flipV="false" rot="0">
              <a:off x="0" y="0"/>
              <a:ext cx="1955800" cy="203200"/>
            </a:xfrm>
            <a:custGeom>
              <a:avLst/>
              <a:gdLst/>
              <a:ahLst/>
              <a:cxnLst/>
              <a:rect r="r" b="b" t="t" l="l"/>
              <a:pathLst>
                <a:path h="203200" w="1955800">
                  <a:moveTo>
                    <a:pt x="0" y="0"/>
                  </a:moveTo>
                  <a:lnTo>
                    <a:pt x="1955800" y="0"/>
                  </a:lnTo>
                  <a:lnTo>
                    <a:pt x="1955800" y="203200"/>
                  </a:lnTo>
                  <a:lnTo>
                    <a:pt x="0" y="203200"/>
                  </a:lnTo>
                  <a:lnTo>
                    <a:pt x="0" y="0"/>
                  </a:lnTo>
                  <a:close/>
                </a:path>
              </a:pathLst>
            </a:custGeom>
            <a:blipFill>
              <a:blip r:embed="rId5"/>
              <a:stretch>
                <a:fillRect l="0" t="0" r="0" b="0"/>
              </a:stretch>
            </a:blipFill>
          </p:spPr>
        </p:sp>
      </p:grpSp>
      <p:grpSp>
        <p:nvGrpSpPr>
          <p:cNvPr name="Group 26" id="26"/>
          <p:cNvGrpSpPr/>
          <p:nvPr/>
        </p:nvGrpSpPr>
        <p:grpSpPr>
          <a:xfrm rot="0">
            <a:off x="11068050" y="4305300"/>
            <a:ext cx="1466850" cy="152400"/>
            <a:chOff x="0" y="0"/>
            <a:chExt cx="1955800" cy="203200"/>
          </a:xfrm>
        </p:grpSpPr>
        <p:sp>
          <p:nvSpPr>
            <p:cNvPr name="Freeform 27" id="27" descr="connector"/>
            <p:cNvSpPr/>
            <p:nvPr/>
          </p:nvSpPr>
          <p:spPr>
            <a:xfrm flipH="false" flipV="false" rot="0">
              <a:off x="0" y="0"/>
              <a:ext cx="1955800" cy="203200"/>
            </a:xfrm>
            <a:custGeom>
              <a:avLst/>
              <a:gdLst/>
              <a:ahLst/>
              <a:cxnLst/>
              <a:rect r="r" b="b" t="t" l="l"/>
              <a:pathLst>
                <a:path h="203200" w="1955800">
                  <a:moveTo>
                    <a:pt x="0" y="0"/>
                  </a:moveTo>
                  <a:lnTo>
                    <a:pt x="1955800" y="0"/>
                  </a:lnTo>
                  <a:lnTo>
                    <a:pt x="1955800" y="203200"/>
                  </a:lnTo>
                  <a:lnTo>
                    <a:pt x="0" y="203200"/>
                  </a:lnTo>
                  <a:lnTo>
                    <a:pt x="0" y="0"/>
                  </a:lnTo>
                  <a:close/>
                </a:path>
              </a:pathLst>
            </a:custGeom>
            <a:blipFill>
              <a:blip r:embed="rId5"/>
              <a:stretch>
                <a:fillRect l="0" t="0" r="0" b="0"/>
              </a:stretch>
            </a:blipFill>
          </p:spPr>
        </p:sp>
      </p:grpSp>
      <p:grpSp>
        <p:nvGrpSpPr>
          <p:cNvPr name="Group 28" id="28"/>
          <p:cNvGrpSpPr/>
          <p:nvPr/>
        </p:nvGrpSpPr>
        <p:grpSpPr>
          <a:xfrm rot="0">
            <a:off x="14382750" y="5353050"/>
            <a:ext cx="152400" cy="819150"/>
            <a:chOff x="0" y="0"/>
            <a:chExt cx="203200" cy="1092200"/>
          </a:xfrm>
        </p:grpSpPr>
        <p:sp>
          <p:nvSpPr>
            <p:cNvPr name="Freeform 29" id="29" descr="connector"/>
            <p:cNvSpPr/>
            <p:nvPr/>
          </p:nvSpPr>
          <p:spPr>
            <a:xfrm flipH="false" flipV="false" rot="0">
              <a:off x="0" y="0"/>
              <a:ext cx="203200" cy="1092200"/>
            </a:xfrm>
            <a:custGeom>
              <a:avLst/>
              <a:gdLst/>
              <a:ahLst/>
              <a:cxnLst/>
              <a:rect r="r" b="b" t="t" l="l"/>
              <a:pathLst>
                <a:path h="1092200" w="203200">
                  <a:moveTo>
                    <a:pt x="0" y="0"/>
                  </a:moveTo>
                  <a:lnTo>
                    <a:pt x="203200" y="0"/>
                  </a:lnTo>
                  <a:lnTo>
                    <a:pt x="203200" y="1092200"/>
                  </a:lnTo>
                  <a:lnTo>
                    <a:pt x="0" y="1092200"/>
                  </a:lnTo>
                  <a:lnTo>
                    <a:pt x="0" y="0"/>
                  </a:lnTo>
                  <a:close/>
                </a:path>
              </a:pathLst>
            </a:custGeom>
            <a:blipFill>
              <a:blip r:embed="rId6"/>
              <a:stretch>
                <a:fillRect l="0" t="0" r="0" b="0"/>
              </a:stretch>
            </a:blipFill>
          </p:spPr>
        </p:sp>
      </p:grpSp>
      <p:grpSp>
        <p:nvGrpSpPr>
          <p:cNvPr name="Group 30" id="30"/>
          <p:cNvGrpSpPr/>
          <p:nvPr/>
        </p:nvGrpSpPr>
        <p:grpSpPr>
          <a:xfrm rot="0">
            <a:off x="9067800" y="6019800"/>
            <a:ext cx="5467350" cy="152400"/>
            <a:chOff x="0" y="0"/>
            <a:chExt cx="7289800" cy="203200"/>
          </a:xfrm>
        </p:grpSpPr>
        <p:sp>
          <p:nvSpPr>
            <p:cNvPr name="Freeform 31" id="31" descr="connector"/>
            <p:cNvSpPr/>
            <p:nvPr/>
          </p:nvSpPr>
          <p:spPr>
            <a:xfrm flipH="false" flipV="false" rot="0">
              <a:off x="0" y="0"/>
              <a:ext cx="7289800" cy="203200"/>
            </a:xfrm>
            <a:custGeom>
              <a:avLst/>
              <a:gdLst/>
              <a:ahLst/>
              <a:cxnLst/>
              <a:rect r="r" b="b" t="t" l="l"/>
              <a:pathLst>
                <a:path h="203200" w="7289800">
                  <a:moveTo>
                    <a:pt x="0" y="0"/>
                  </a:moveTo>
                  <a:lnTo>
                    <a:pt x="7289800" y="0"/>
                  </a:lnTo>
                  <a:lnTo>
                    <a:pt x="7289800" y="203200"/>
                  </a:lnTo>
                  <a:lnTo>
                    <a:pt x="0" y="203200"/>
                  </a:lnTo>
                  <a:lnTo>
                    <a:pt x="0" y="0"/>
                  </a:lnTo>
                  <a:close/>
                </a:path>
              </a:pathLst>
            </a:custGeom>
            <a:blipFill>
              <a:blip r:embed="rId7"/>
              <a:stretch>
                <a:fillRect l="0" t="0" r="0" b="0"/>
              </a:stretch>
            </a:blipFill>
          </p:spPr>
        </p:sp>
      </p:grpSp>
      <p:grpSp>
        <p:nvGrpSpPr>
          <p:cNvPr name="Group 32" id="32"/>
          <p:cNvGrpSpPr/>
          <p:nvPr/>
        </p:nvGrpSpPr>
        <p:grpSpPr>
          <a:xfrm rot="0">
            <a:off x="9067800" y="5353050"/>
            <a:ext cx="152400" cy="819150"/>
            <a:chOff x="0" y="0"/>
            <a:chExt cx="203200" cy="1092200"/>
          </a:xfrm>
        </p:grpSpPr>
        <p:sp>
          <p:nvSpPr>
            <p:cNvPr name="Freeform 33" id="33" descr="connector"/>
            <p:cNvSpPr/>
            <p:nvPr/>
          </p:nvSpPr>
          <p:spPr>
            <a:xfrm flipH="false" flipV="false" rot="0">
              <a:off x="0" y="0"/>
              <a:ext cx="203200" cy="1092200"/>
            </a:xfrm>
            <a:custGeom>
              <a:avLst/>
              <a:gdLst/>
              <a:ahLst/>
              <a:cxnLst/>
              <a:rect r="r" b="b" t="t" l="l"/>
              <a:pathLst>
                <a:path h="1092200" w="203200">
                  <a:moveTo>
                    <a:pt x="0" y="0"/>
                  </a:moveTo>
                  <a:lnTo>
                    <a:pt x="203200" y="0"/>
                  </a:lnTo>
                  <a:lnTo>
                    <a:pt x="203200" y="1092200"/>
                  </a:lnTo>
                  <a:lnTo>
                    <a:pt x="0" y="1092200"/>
                  </a:lnTo>
                  <a:lnTo>
                    <a:pt x="0" y="0"/>
                  </a:lnTo>
                  <a:close/>
                </a:path>
              </a:pathLst>
            </a:custGeom>
            <a:blipFill>
              <a:blip r:embed="rId8"/>
              <a:stretch>
                <a:fillRect l="0" t="0" r="0" b="0"/>
              </a:stretch>
            </a:blipFill>
          </p:spPr>
        </p:sp>
      </p:grpSp>
      <p:sp>
        <p:nvSpPr>
          <p:cNvPr name="TextBox 34" id="34"/>
          <p:cNvSpPr txBox="true"/>
          <p:nvPr/>
        </p:nvSpPr>
        <p:spPr>
          <a:xfrm rot="0">
            <a:off x="9348788" y="6172200"/>
            <a:ext cx="4905375" cy="396183"/>
          </a:xfrm>
          <a:prstGeom prst="rect">
            <a:avLst/>
          </a:prstGeom>
        </p:spPr>
        <p:txBody>
          <a:bodyPr anchor="t" rtlCol="false" tIns="0" lIns="0" bIns="0" rIns="0">
            <a:spAutoFit/>
          </a:bodyPr>
          <a:lstStyle/>
          <a:p>
            <a:pPr algn="ctr">
              <a:lnSpc>
                <a:spcPts val="2520"/>
              </a:lnSpc>
            </a:pPr>
            <a:r>
              <a:rPr lang="en-US" sz="1800">
                <a:solidFill>
                  <a:srgbClr val="4A4F63"/>
                </a:solidFill>
                <a:latin typeface="DM Sans"/>
                <a:ea typeface="DM Sans"/>
                <a:cs typeface="DM Sans"/>
                <a:sym typeface="DM Sans"/>
              </a:rPr>
              <a:t>feedback: fix and retry</a:t>
            </a:r>
          </a:p>
        </p:txBody>
      </p:sp>
      <p:grpSp>
        <p:nvGrpSpPr>
          <p:cNvPr name="Group 35" id="35"/>
          <p:cNvGrpSpPr/>
          <p:nvPr/>
        </p:nvGrpSpPr>
        <p:grpSpPr>
          <a:xfrm rot="0">
            <a:off x="2133600" y="6972300"/>
            <a:ext cx="381000" cy="381000"/>
            <a:chOff x="0" y="0"/>
            <a:chExt cx="508000" cy="508000"/>
          </a:xfrm>
        </p:grpSpPr>
        <p:sp>
          <p:nvSpPr>
            <p:cNvPr name="Freeform 36" id="36" descr="Settings"/>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9"/>
              <a:stretch>
                <a:fillRect l="0" t="0" r="0" b="0"/>
              </a:stretch>
            </a:blipFill>
          </p:spPr>
        </p:sp>
      </p:grpSp>
      <p:sp>
        <p:nvSpPr>
          <p:cNvPr name="TextBox 37" id="37"/>
          <p:cNvSpPr txBox="true"/>
          <p:nvPr/>
        </p:nvSpPr>
        <p:spPr>
          <a:xfrm rot="0">
            <a:off x="2743200" y="6928466"/>
            <a:ext cx="1897704"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Environment</a:t>
            </a:r>
          </a:p>
        </p:txBody>
      </p:sp>
      <p:sp>
        <p:nvSpPr>
          <p:cNvPr name="TextBox 38" id="38"/>
          <p:cNvSpPr txBox="true"/>
          <p:nvPr/>
        </p:nvSpPr>
        <p:spPr>
          <a:xfrm rot="0">
            <a:off x="4640904" y="6928466"/>
            <a:ext cx="6406963" cy="459057"/>
          </a:xfrm>
          <a:prstGeom prst="rect">
            <a:avLst/>
          </a:prstGeom>
        </p:spPr>
        <p:txBody>
          <a:bodyPr anchor="t" rtlCol="false" tIns="0" lIns="0" bIns="0" rIns="0">
            <a:spAutoFit/>
          </a:bodyPr>
          <a:lstStyle/>
          <a:p>
            <a:pPr algn="l">
              <a:lnSpc>
                <a:spcPts val="2940"/>
              </a:lnSpc>
            </a:pPr>
            <a:r>
              <a:rPr lang="en-US" sz="2100">
                <a:solidFill>
                  <a:srgbClr val="4D5270"/>
                </a:solidFill>
                <a:latin typeface="DM Sans"/>
                <a:ea typeface="DM Sans"/>
                <a:cs typeface="DM Sans"/>
                <a:sym typeface="DM Sans"/>
              </a:rPr>
              <a:t>tools · sandbox · permissions · memory files</a:t>
            </a:r>
          </a:p>
        </p:txBody>
      </p:sp>
      <p:sp>
        <p:nvSpPr>
          <p:cNvPr name="TextBox 39" id="39"/>
          <p:cNvSpPr txBox="true"/>
          <p:nvPr/>
        </p:nvSpPr>
        <p:spPr>
          <a:xfrm rot="0">
            <a:off x="1219200" y="9319317"/>
            <a:ext cx="9689602"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Böckeler (Apr 2026); de Macedo (Jun 2026); LangChain (Mar 2026)</a:t>
            </a:r>
          </a:p>
        </p:txBody>
      </p:sp>
      <p:sp>
        <p:nvSpPr>
          <p:cNvPr name="TextBox 40" id="40"/>
          <p:cNvSpPr txBox="true"/>
          <p:nvPr/>
        </p:nvSpPr>
        <p:spPr>
          <a:xfrm rot="0">
            <a:off x="16717347" y="9319317"/>
            <a:ext cx="351453"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07</a:t>
            </a:r>
          </a:p>
        </p:txBody>
      </p:sp>
      <p:sp>
        <p:nvSpPr>
          <p:cNvPr name="TextBox 41" id="41"/>
          <p:cNvSpPr txBox="true"/>
          <p:nvPr/>
        </p:nvSpPr>
        <p:spPr>
          <a:xfrm rot="0">
            <a:off x="1828800" y="8162925"/>
            <a:ext cx="16325088" cy="640080"/>
          </a:xfrm>
          <a:prstGeom prst="rect">
            <a:avLst/>
          </a:prstGeom>
        </p:spPr>
        <p:txBody>
          <a:bodyPr anchor="t" rtlCol="false" tIns="0" lIns="0" bIns="0" rIns="0">
            <a:spAutoFit/>
          </a:bodyPr>
          <a:lstStyle/>
          <a:p>
            <a:pPr algn="l">
              <a:lnSpc>
                <a:spcPts val="2565"/>
              </a:lnSpc>
            </a:pPr>
            <a:r>
              <a:rPr lang="en-US" sz="1900">
                <a:solidFill>
                  <a:srgbClr val="2B2F45"/>
                </a:solidFill>
                <a:latin typeface="DM Sans"/>
                <a:ea typeface="DM Sans"/>
                <a:cs typeface="DM Sans"/>
                <a:sym typeface="DM Sans"/>
              </a:rPr>
              <a:t>When a mistake repeats, add a guide or a sensor*</a:t>
            </a:r>
          </a:p>
          <a:p>
            <a:pPr algn="l">
              <a:lnSpc>
                <a:spcPts val="256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Freeform 2" id="2"/>
          <p:cNvSpPr/>
          <p:nvPr/>
        </p:nvSpPr>
        <p:spPr>
          <a:xfrm flipH="false" flipV="false" rot="0">
            <a:off x="4130068" y="2001840"/>
            <a:ext cx="10027863" cy="6430328"/>
          </a:xfrm>
          <a:custGeom>
            <a:avLst/>
            <a:gdLst/>
            <a:ahLst/>
            <a:cxnLst/>
            <a:rect r="r" b="b" t="t" l="l"/>
            <a:pathLst>
              <a:path h="6430328" w="10027863">
                <a:moveTo>
                  <a:pt x="0" y="0"/>
                </a:moveTo>
                <a:lnTo>
                  <a:pt x="10027864" y="0"/>
                </a:lnTo>
                <a:lnTo>
                  <a:pt x="10027864" y="6430328"/>
                </a:lnTo>
                <a:lnTo>
                  <a:pt x="0" y="6430328"/>
                </a:lnTo>
                <a:lnTo>
                  <a:pt x="0" y="0"/>
                </a:lnTo>
                <a:close/>
              </a:path>
            </a:pathLst>
          </a:custGeom>
          <a:blipFill>
            <a:blip r:embed="rId2"/>
            <a:stretch>
              <a:fillRect l="0" t="0" r="0" b="-18878"/>
            </a:stretch>
          </a:blipFill>
        </p:spPr>
      </p:sp>
      <p:sp>
        <p:nvSpPr>
          <p:cNvPr name="TextBox 3" id="3"/>
          <p:cNvSpPr txBox="true"/>
          <p:nvPr/>
        </p:nvSpPr>
        <p:spPr>
          <a:xfrm rot="0">
            <a:off x="5152951" y="8590989"/>
            <a:ext cx="7982099" cy="407669"/>
          </a:xfrm>
          <a:prstGeom prst="rect">
            <a:avLst/>
          </a:prstGeom>
        </p:spPr>
        <p:txBody>
          <a:bodyPr anchor="t" rtlCol="false" tIns="0" lIns="0" bIns="0" rIns="0">
            <a:spAutoFit/>
          </a:bodyPr>
          <a:lstStyle/>
          <a:p>
            <a:pPr algn="ctr">
              <a:lnSpc>
                <a:spcPts val="1680"/>
              </a:lnSpc>
            </a:pPr>
            <a:r>
              <a:rPr lang="en-US" sz="1200" i="true">
                <a:solidFill>
                  <a:srgbClr val="000000"/>
                </a:solidFill>
                <a:latin typeface="Canva Sans Italics"/>
                <a:ea typeface="Canva Sans Italics"/>
                <a:cs typeface="Canva Sans Italics"/>
                <a:sym typeface="Canva Sans Italics"/>
              </a:rPr>
              <a:t>Figure 1. From “What makes a harness a harness: necessary and sufficient conditions for an agent harness”. </a:t>
            </a:r>
          </a:p>
          <a:p>
            <a:pPr algn="ctr">
              <a:lnSpc>
                <a:spcPts val="1680"/>
              </a:lnSpc>
            </a:pPr>
            <a:r>
              <a:rPr lang="en-US" sz="1200" i="true">
                <a:solidFill>
                  <a:srgbClr val="000000"/>
                </a:solidFill>
                <a:latin typeface="Canva Sans Italics"/>
                <a:ea typeface="Canva Sans Italics"/>
                <a:cs typeface="Canva Sans Italics"/>
                <a:sym typeface="Canva Sans Italics"/>
              </a:rPr>
              <a:t>By Macedo, S. O. (2026). arXiv. </a:t>
            </a:r>
            <a:r>
              <a:rPr lang="en-US" sz="1200" i="true" u="sng">
                <a:solidFill>
                  <a:srgbClr val="000000"/>
                </a:solidFill>
                <a:latin typeface="Canva Sans Italics"/>
                <a:ea typeface="Canva Sans Italics"/>
                <a:cs typeface="Canva Sans Italics"/>
                <a:sym typeface="Canva Sans Italics"/>
                <a:hlinkClick r:id="rId3" tooltip="https://arxiv.org/abs/2606.10106"/>
              </a:rPr>
              <a:t>https://arxiv.org/abs/2606.10106</a:t>
            </a:r>
          </a:p>
        </p:txBody>
      </p:sp>
      <p:sp>
        <p:nvSpPr>
          <p:cNvPr name="TextBox 4" id="4"/>
          <p:cNvSpPr txBox="true"/>
          <p:nvPr/>
        </p:nvSpPr>
        <p:spPr>
          <a:xfrm rot="0">
            <a:off x="1219200" y="1266825"/>
            <a:ext cx="4856559" cy="680085"/>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Harness in action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0950625" cy="680085"/>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Five instances when utilizing a harness </a:t>
            </a:r>
          </a:p>
        </p:txBody>
      </p:sp>
      <p:grpSp>
        <p:nvGrpSpPr>
          <p:cNvPr name="Group 3" id="3"/>
          <p:cNvGrpSpPr/>
          <p:nvPr/>
        </p:nvGrpSpPr>
        <p:grpSpPr>
          <a:xfrm rot="0">
            <a:off x="1219200" y="4284316"/>
            <a:ext cx="2986983" cy="2617441"/>
            <a:chOff x="0" y="0"/>
            <a:chExt cx="3982644" cy="3489922"/>
          </a:xfrm>
        </p:grpSpPr>
        <p:sp>
          <p:nvSpPr>
            <p:cNvPr name="Freeform 4" id="4"/>
            <p:cNvSpPr/>
            <p:nvPr/>
          </p:nvSpPr>
          <p:spPr>
            <a:xfrm flipH="false" flipV="false" rot="0">
              <a:off x="0" y="0"/>
              <a:ext cx="3982720" cy="3489960"/>
            </a:xfrm>
            <a:custGeom>
              <a:avLst/>
              <a:gdLst/>
              <a:ahLst/>
              <a:cxnLst/>
              <a:rect r="r" b="b" t="t" l="l"/>
              <a:pathLst>
                <a:path h="3489960" w="3982720">
                  <a:moveTo>
                    <a:pt x="0" y="299593"/>
                  </a:moveTo>
                  <a:cubicBezTo>
                    <a:pt x="0" y="134112"/>
                    <a:pt x="134112" y="0"/>
                    <a:pt x="299593" y="0"/>
                  </a:cubicBezTo>
                  <a:lnTo>
                    <a:pt x="3683127" y="0"/>
                  </a:lnTo>
                  <a:cubicBezTo>
                    <a:pt x="3848608" y="0"/>
                    <a:pt x="3982720" y="134112"/>
                    <a:pt x="3982720" y="299593"/>
                  </a:cubicBezTo>
                  <a:lnTo>
                    <a:pt x="3982720" y="3190367"/>
                  </a:lnTo>
                  <a:cubicBezTo>
                    <a:pt x="3982720" y="3355848"/>
                    <a:pt x="3848608" y="3489960"/>
                    <a:pt x="3683127" y="3489960"/>
                  </a:cubicBezTo>
                  <a:lnTo>
                    <a:pt x="299593" y="3489960"/>
                  </a:lnTo>
                  <a:cubicBezTo>
                    <a:pt x="134112" y="3489960"/>
                    <a:pt x="0" y="3355848"/>
                    <a:pt x="0" y="3190367"/>
                  </a:cubicBezTo>
                  <a:close/>
                </a:path>
              </a:pathLst>
            </a:custGeom>
            <a:solidFill>
              <a:srgbClr val="FCFCFE"/>
            </a:solidFill>
            <a:ln w="9525" cap="sq">
              <a:solidFill>
                <a:srgbClr val="E1E4F2"/>
              </a:solidFill>
              <a:prstDash val="solid"/>
              <a:miter/>
            </a:ln>
          </p:spPr>
        </p:sp>
      </p:grpSp>
      <p:grpSp>
        <p:nvGrpSpPr>
          <p:cNvPr name="Group 5" id="5"/>
          <p:cNvGrpSpPr/>
          <p:nvPr/>
        </p:nvGrpSpPr>
        <p:grpSpPr>
          <a:xfrm rot="0">
            <a:off x="1533525" y="4674841"/>
            <a:ext cx="914400" cy="914400"/>
            <a:chOff x="0" y="0"/>
            <a:chExt cx="1219200" cy="1219200"/>
          </a:xfrm>
        </p:grpSpPr>
        <p:sp>
          <p:nvSpPr>
            <p:cNvPr name="Freeform 6" id="6"/>
            <p:cNvSpPr/>
            <p:nvPr/>
          </p:nvSpPr>
          <p:spPr>
            <a:xfrm flipH="false" flipV="false" rot="0">
              <a:off x="0" y="0"/>
              <a:ext cx="1219200" cy="1219200"/>
            </a:xfrm>
            <a:custGeom>
              <a:avLst/>
              <a:gdLst/>
              <a:ahLst/>
              <a:cxnLst/>
              <a:rect r="r" b="b" t="t" l="l"/>
              <a:pathLst>
                <a:path h="1219200" w="1219200">
                  <a:moveTo>
                    <a:pt x="0" y="304800"/>
                  </a:moveTo>
                  <a:cubicBezTo>
                    <a:pt x="0" y="136525"/>
                    <a:pt x="136525" y="0"/>
                    <a:pt x="304800" y="0"/>
                  </a:cubicBezTo>
                  <a:lnTo>
                    <a:pt x="914400" y="0"/>
                  </a:lnTo>
                  <a:cubicBezTo>
                    <a:pt x="1082675" y="0"/>
                    <a:pt x="1219200" y="136525"/>
                    <a:pt x="1219200" y="304800"/>
                  </a:cubicBezTo>
                  <a:lnTo>
                    <a:pt x="1219200" y="914400"/>
                  </a:lnTo>
                  <a:cubicBezTo>
                    <a:pt x="1219200" y="1082675"/>
                    <a:pt x="1082675" y="1219200"/>
                    <a:pt x="914400" y="1219200"/>
                  </a:cubicBezTo>
                  <a:lnTo>
                    <a:pt x="304800" y="1219200"/>
                  </a:lnTo>
                  <a:cubicBezTo>
                    <a:pt x="136525" y="1219200"/>
                    <a:pt x="0" y="1082675"/>
                    <a:pt x="0" y="914400"/>
                  </a:cubicBezTo>
                  <a:close/>
                </a:path>
              </a:pathLst>
            </a:custGeom>
            <a:solidFill>
              <a:srgbClr val="E6E4FA"/>
            </a:solidFill>
          </p:spPr>
        </p:sp>
      </p:grpSp>
      <p:grpSp>
        <p:nvGrpSpPr>
          <p:cNvPr name="Group 7" id="7"/>
          <p:cNvGrpSpPr/>
          <p:nvPr/>
        </p:nvGrpSpPr>
        <p:grpSpPr>
          <a:xfrm rot="0">
            <a:off x="1724025" y="4865341"/>
            <a:ext cx="533400" cy="533400"/>
            <a:chOff x="0" y="0"/>
            <a:chExt cx="711200" cy="711200"/>
          </a:xfrm>
        </p:grpSpPr>
        <p:sp>
          <p:nvSpPr>
            <p:cNvPr name="Freeform 8" id="8" descr="Book"/>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3"/>
              <a:stretch>
                <a:fillRect l="0" t="0" r="0" b="0"/>
              </a:stretch>
            </a:blipFill>
          </p:spPr>
        </p:sp>
      </p:grpSp>
      <p:sp>
        <p:nvSpPr>
          <p:cNvPr name="TextBox 9" id="9"/>
          <p:cNvSpPr txBox="true"/>
          <p:nvPr/>
        </p:nvSpPr>
        <p:spPr>
          <a:xfrm rot="0">
            <a:off x="1533525" y="5789266"/>
            <a:ext cx="2434533" cy="7600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A map, not a manual</a:t>
            </a:r>
          </a:p>
        </p:txBody>
      </p:sp>
      <p:grpSp>
        <p:nvGrpSpPr>
          <p:cNvPr name="Group 10" id="10"/>
          <p:cNvGrpSpPr/>
          <p:nvPr/>
        </p:nvGrpSpPr>
        <p:grpSpPr>
          <a:xfrm rot="0">
            <a:off x="4434783" y="4284316"/>
            <a:ext cx="2987059" cy="2617441"/>
            <a:chOff x="0" y="0"/>
            <a:chExt cx="3982745" cy="3489922"/>
          </a:xfrm>
        </p:grpSpPr>
        <p:sp>
          <p:nvSpPr>
            <p:cNvPr name="Freeform 11" id="11"/>
            <p:cNvSpPr/>
            <p:nvPr/>
          </p:nvSpPr>
          <p:spPr>
            <a:xfrm flipH="false" flipV="false" rot="0">
              <a:off x="0" y="0"/>
              <a:ext cx="3982847" cy="3489960"/>
            </a:xfrm>
            <a:custGeom>
              <a:avLst/>
              <a:gdLst/>
              <a:ahLst/>
              <a:cxnLst/>
              <a:rect r="r" b="b" t="t" l="l"/>
              <a:pathLst>
                <a:path h="3489960" w="3982847">
                  <a:moveTo>
                    <a:pt x="0" y="299593"/>
                  </a:moveTo>
                  <a:cubicBezTo>
                    <a:pt x="0" y="134112"/>
                    <a:pt x="134112" y="0"/>
                    <a:pt x="299593" y="0"/>
                  </a:cubicBezTo>
                  <a:lnTo>
                    <a:pt x="3683254" y="0"/>
                  </a:lnTo>
                  <a:cubicBezTo>
                    <a:pt x="3848735" y="0"/>
                    <a:pt x="3982847" y="134112"/>
                    <a:pt x="3982847" y="299593"/>
                  </a:cubicBezTo>
                  <a:lnTo>
                    <a:pt x="3982847" y="3190367"/>
                  </a:lnTo>
                  <a:cubicBezTo>
                    <a:pt x="3982847" y="3355848"/>
                    <a:pt x="3848735" y="3489960"/>
                    <a:pt x="3683254" y="3489960"/>
                  </a:cubicBezTo>
                  <a:lnTo>
                    <a:pt x="299593" y="3489960"/>
                  </a:lnTo>
                  <a:cubicBezTo>
                    <a:pt x="134112" y="3489960"/>
                    <a:pt x="0" y="3355848"/>
                    <a:pt x="0" y="3190367"/>
                  </a:cubicBezTo>
                  <a:close/>
                </a:path>
              </a:pathLst>
            </a:custGeom>
            <a:solidFill>
              <a:srgbClr val="FCFCFE"/>
            </a:solidFill>
            <a:ln w="9525" cap="sq">
              <a:solidFill>
                <a:srgbClr val="E1E4F2"/>
              </a:solidFill>
              <a:prstDash val="solid"/>
              <a:miter/>
            </a:ln>
          </p:spPr>
        </p:sp>
      </p:grpSp>
      <p:grpSp>
        <p:nvGrpSpPr>
          <p:cNvPr name="Group 12" id="12"/>
          <p:cNvGrpSpPr/>
          <p:nvPr/>
        </p:nvGrpSpPr>
        <p:grpSpPr>
          <a:xfrm rot="0">
            <a:off x="4749108" y="4674841"/>
            <a:ext cx="914400" cy="914400"/>
            <a:chOff x="0" y="0"/>
            <a:chExt cx="1219200" cy="1219200"/>
          </a:xfrm>
        </p:grpSpPr>
        <p:sp>
          <p:nvSpPr>
            <p:cNvPr name="Freeform 13" id="13"/>
            <p:cNvSpPr/>
            <p:nvPr/>
          </p:nvSpPr>
          <p:spPr>
            <a:xfrm flipH="false" flipV="false" rot="0">
              <a:off x="0" y="0"/>
              <a:ext cx="1219200" cy="1219200"/>
            </a:xfrm>
            <a:custGeom>
              <a:avLst/>
              <a:gdLst/>
              <a:ahLst/>
              <a:cxnLst/>
              <a:rect r="r" b="b" t="t" l="l"/>
              <a:pathLst>
                <a:path h="1219200" w="1219200">
                  <a:moveTo>
                    <a:pt x="0" y="304800"/>
                  </a:moveTo>
                  <a:cubicBezTo>
                    <a:pt x="0" y="136525"/>
                    <a:pt x="136525" y="0"/>
                    <a:pt x="304800" y="0"/>
                  </a:cubicBezTo>
                  <a:lnTo>
                    <a:pt x="914400" y="0"/>
                  </a:lnTo>
                  <a:cubicBezTo>
                    <a:pt x="1082675" y="0"/>
                    <a:pt x="1219200" y="136525"/>
                    <a:pt x="1219200" y="304800"/>
                  </a:cubicBezTo>
                  <a:lnTo>
                    <a:pt x="1219200" y="914400"/>
                  </a:lnTo>
                  <a:cubicBezTo>
                    <a:pt x="1219200" y="1082675"/>
                    <a:pt x="1082675" y="1219200"/>
                    <a:pt x="914400" y="1219200"/>
                  </a:cubicBezTo>
                  <a:lnTo>
                    <a:pt x="304800" y="1219200"/>
                  </a:lnTo>
                  <a:cubicBezTo>
                    <a:pt x="136525" y="1219200"/>
                    <a:pt x="0" y="1082675"/>
                    <a:pt x="0" y="914400"/>
                  </a:cubicBezTo>
                  <a:close/>
                </a:path>
              </a:pathLst>
            </a:custGeom>
            <a:solidFill>
              <a:srgbClr val="E6E4FA"/>
            </a:solidFill>
          </p:spPr>
        </p:sp>
      </p:grpSp>
      <p:grpSp>
        <p:nvGrpSpPr>
          <p:cNvPr name="Group 14" id="14"/>
          <p:cNvGrpSpPr/>
          <p:nvPr/>
        </p:nvGrpSpPr>
        <p:grpSpPr>
          <a:xfrm rot="0">
            <a:off x="4939608" y="4865341"/>
            <a:ext cx="533400" cy="533400"/>
            <a:chOff x="0" y="0"/>
            <a:chExt cx="711200" cy="711200"/>
          </a:xfrm>
        </p:grpSpPr>
        <p:sp>
          <p:nvSpPr>
            <p:cNvPr name="Freeform 15" id="15" descr="Lock"/>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4"/>
              <a:stretch>
                <a:fillRect l="0" t="0" r="0" b="0"/>
              </a:stretch>
            </a:blipFill>
          </p:spPr>
        </p:sp>
      </p:grpSp>
      <p:sp>
        <p:nvSpPr>
          <p:cNvPr name="TextBox 16" id="16"/>
          <p:cNvSpPr txBox="true"/>
          <p:nvPr/>
        </p:nvSpPr>
        <p:spPr>
          <a:xfrm rot="0">
            <a:off x="4749108" y="5789266"/>
            <a:ext cx="2434609" cy="7600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Enforce with code, not prose</a:t>
            </a:r>
          </a:p>
        </p:txBody>
      </p:sp>
      <p:grpSp>
        <p:nvGrpSpPr>
          <p:cNvPr name="Group 17" id="17"/>
          <p:cNvGrpSpPr/>
          <p:nvPr/>
        </p:nvGrpSpPr>
        <p:grpSpPr>
          <a:xfrm rot="0">
            <a:off x="7650432" y="4284316"/>
            <a:ext cx="2987059" cy="2617441"/>
            <a:chOff x="0" y="0"/>
            <a:chExt cx="3982745" cy="3489922"/>
          </a:xfrm>
        </p:grpSpPr>
        <p:sp>
          <p:nvSpPr>
            <p:cNvPr name="Freeform 18" id="18"/>
            <p:cNvSpPr/>
            <p:nvPr/>
          </p:nvSpPr>
          <p:spPr>
            <a:xfrm flipH="false" flipV="false" rot="0">
              <a:off x="0" y="0"/>
              <a:ext cx="3982847" cy="3489960"/>
            </a:xfrm>
            <a:custGeom>
              <a:avLst/>
              <a:gdLst/>
              <a:ahLst/>
              <a:cxnLst/>
              <a:rect r="r" b="b" t="t" l="l"/>
              <a:pathLst>
                <a:path h="3489960" w="3982847">
                  <a:moveTo>
                    <a:pt x="0" y="299593"/>
                  </a:moveTo>
                  <a:cubicBezTo>
                    <a:pt x="0" y="134112"/>
                    <a:pt x="134112" y="0"/>
                    <a:pt x="299593" y="0"/>
                  </a:cubicBezTo>
                  <a:lnTo>
                    <a:pt x="3683254" y="0"/>
                  </a:lnTo>
                  <a:cubicBezTo>
                    <a:pt x="3848735" y="0"/>
                    <a:pt x="3982847" y="134112"/>
                    <a:pt x="3982847" y="299593"/>
                  </a:cubicBezTo>
                  <a:lnTo>
                    <a:pt x="3982847" y="3190367"/>
                  </a:lnTo>
                  <a:cubicBezTo>
                    <a:pt x="3982847" y="3355848"/>
                    <a:pt x="3848735" y="3489960"/>
                    <a:pt x="3683254" y="3489960"/>
                  </a:cubicBezTo>
                  <a:lnTo>
                    <a:pt x="299593" y="3489960"/>
                  </a:lnTo>
                  <a:cubicBezTo>
                    <a:pt x="134112" y="3489960"/>
                    <a:pt x="0" y="3355848"/>
                    <a:pt x="0" y="3190367"/>
                  </a:cubicBezTo>
                  <a:close/>
                </a:path>
              </a:pathLst>
            </a:custGeom>
            <a:solidFill>
              <a:srgbClr val="FCFCFE"/>
            </a:solidFill>
            <a:ln w="9525" cap="sq">
              <a:solidFill>
                <a:srgbClr val="E1E4F2"/>
              </a:solidFill>
              <a:prstDash val="solid"/>
              <a:miter/>
            </a:ln>
          </p:spPr>
        </p:sp>
      </p:grpSp>
      <p:grpSp>
        <p:nvGrpSpPr>
          <p:cNvPr name="Group 19" id="19"/>
          <p:cNvGrpSpPr/>
          <p:nvPr/>
        </p:nvGrpSpPr>
        <p:grpSpPr>
          <a:xfrm rot="0">
            <a:off x="7964757" y="4674841"/>
            <a:ext cx="914400" cy="914400"/>
            <a:chOff x="0" y="0"/>
            <a:chExt cx="1219200" cy="1219200"/>
          </a:xfrm>
        </p:grpSpPr>
        <p:sp>
          <p:nvSpPr>
            <p:cNvPr name="Freeform 20" id="20"/>
            <p:cNvSpPr/>
            <p:nvPr/>
          </p:nvSpPr>
          <p:spPr>
            <a:xfrm flipH="false" flipV="false" rot="0">
              <a:off x="0" y="0"/>
              <a:ext cx="1219200" cy="1219200"/>
            </a:xfrm>
            <a:custGeom>
              <a:avLst/>
              <a:gdLst/>
              <a:ahLst/>
              <a:cxnLst/>
              <a:rect r="r" b="b" t="t" l="l"/>
              <a:pathLst>
                <a:path h="1219200" w="1219200">
                  <a:moveTo>
                    <a:pt x="0" y="304800"/>
                  </a:moveTo>
                  <a:cubicBezTo>
                    <a:pt x="0" y="136525"/>
                    <a:pt x="136525" y="0"/>
                    <a:pt x="304800" y="0"/>
                  </a:cubicBezTo>
                  <a:lnTo>
                    <a:pt x="914400" y="0"/>
                  </a:lnTo>
                  <a:cubicBezTo>
                    <a:pt x="1082675" y="0"/>
                    <a:pt x="1219200" y="136525"/>
                    <a:pt x="1219200" y="304800"/>
                  </a:cubicBezTo>
                  <a:lnTo>
                    <a:pt x="1219200" y="914400"/>
                  </a:lnTo>
                  <a:cubicBezTo>
                    <a:pt x="1219200" y="1082675"/>
                    <a:pt x="1082675" y="1219200"/>
                    <a:pt x="914400" y="1219200"/>
                  </a:cubicBezTo>
                  <a:lnTo>
                    <a:pt x="304800" y="1219200"/>
                  </a:lnTo>
                  <a:cubicBezTo>
                    <a:pt x="136525" y="1219200"/>
                    <a:pt x="0" y="1082675"/>
                    <a:pt x="0" y="914400"/>
                  </a:cubicBezTo>
                  <a:close/>
                </a:path>
              </a:pathLst>
            </a:custGeom>
            <a:solidFill>
              <a:srgbClr val="E6E4FA"/>
            </a:solidFill>
          </p:spPr>
        </p:sp>
      </p:grpSp>
      <p:grpSp>
        <p:nvGrpSpPr>
          <p:cNvPr name="Group 21" id="21"/>
          <p:cNvGrpSpPr/>
          <p:nvPr/>
        </p:nvGrpSpPr>
        <p:grpSpPr>
          <a:xfrm rot="0">
            <a:off x="8155257" y="4865341"/>
            <a:ext cx="533400" cy="533400"/>
            <a:chOff x="0" y="0"/>
            <a:chExt cx="711200" cy="711200"/>
          </a:xfrm>
        </p:grpSpPr>
        <p:sp>
          <p:nvSpPr>
            <p:cNvPr name="Freeform 22" id="22" descr="Lightning"/>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5"/>
              <a:stretch>
                <a:fillRect l="0" t="0" r="0" b="0"/>
              </a:stretch>
            </a:blipFill>
          </p:spPr>
        </p:sp>
      </p:grpSp>
      <p:sp>
        <p:nvSpPr>
          <p:cNvPr name="TextBox 23" id="23"/>
          <p:cNvSpPr txBox="true"/>
          <p:nvPr/>
        </p:nvSpPr>
        <p:spPr>
          <a:xfrm rot="0">
            <a:off x="7964757" y="5789266"/>
            <a:ext cx="2434609" cy="7600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Fast checks on every change</a:t>
            </a:r>
          </a:p>
        </p:txBody>
      </p:sp>
      <p:grpSp>
        <p:nvGrpSpPr>
          <p:cNvPr name="Group 24" id="24"/>
          <p:cNvGrpSpPr/>
          <p:nvPr/>
        </p:nvGrpSpPr>
        <p:grpSpPr>
          <a:xfrm rot="0">
            <a:off x="10866091" y="4284316"/>
            <a:ext cx="2987059" cy="2617441"/>
            <a:chOff x="0" y="0"/>
            <a:chExt cx="3982745" cy="3489922"/>
          </a:xfrm>
        </p:grpSpPr>
        <p:sp>
          <p:nvSpPr>
            <p:cNvPr name="Freeform 25" id="25"/>
            <p:cNvSpPr/>
            <p:nvPr/>
          </p:nvSpPr>
          <p:spPr>
            <a:xfrm flipH="false" flipV="false" rot="0">
              <a:off x="0" y="0"/>
              <a:ext cx="3982847" cy="3489960"/>
            </a:xfrm>
            <a:custGeom>
              <a:avLst/>
              <a:gdLst/>
              <a:ahLst/>
              <a:cxnLst/>
              <a:rect r="r" b="b" t="t" l="l"/>
              <a:pathLst>
                <a:path h="3489960" w="3982847">
                  <a:moveTo>
                    <a:pt x="0" y="299593"/>
                  </a:moveTo>
                  <a:cubicBezTo>
                    <a:pt x="0" y="134112"/>
                    <a:pt x="134112" y="0"/>
                    <a:pt x="299593" y="0"/>
                  </a:cubicBezTo>
                  <a:lnTo>
                    <a:pt x="3683254" y="0"/>
                  </a:lnTo>
                  <a:cubicBezTo>
                    <a:pt x="3848735" y="0"/>
                    <a:pt x="3982847" y="134112"/>
                    <a:pt x="3982847" y="299593"/>
                  </a:cubicBezTo>
                  <a:lnTo>
                    <a:pt x="3982847" y="3190367"/>
                  </a:lnTo>
                  <a:cubicBezTo>
                    <a:pt x="3982847" y="3355848"/>
                    <a:pt x="3848735" y="3489960"/>
                    <a:pt x="3683254" y="3489960"/>
                  </a:cubicBezTo>
                  <a:lnTo>
                    <a:pt x="299593" y="3489960"/>
                  </a:lnTo>
                  <a:cubicBezTo>
                    <a:pt x="134112" y="3489960"/>
                    <a:pt x="0" y="3355848"/>
                    <a:pt x="0" y="3190367"/>
                  </a:cubicBezTo>
                  <a:close/>
                </a:path>
              </a:pathLst>
            </a:custGeom>
            <a:solidFill>
              <a:srgbClr val="FCFCFE"/>
            </a:solidFill>
            <a:ln w="9525" cap="sq">
              <a:solidFill>
                <a:srgbClr val="E1E4F2"/>
              </a:solidFill>
              <a:prstDash val="solid"/>
              <a:miter/>
            </a:ln>
          </p:spPr>
        </p:sp>
      </p:grpSp>
      <p:grpSp>
        <p:nvGrpSpPr>
          <p:cNvPr name="Group 26" id="26"/>
          <p:cNvGrpSpPr/>
          <p:nvPr/>
        </p:nvGrpSpPr>
        <p:grpSpPr>
          <a:xfrm rot="0">
            <a:off x="11180416" y="4674841"/>
            <a:ext cx="914400" cy="914400"/>
            <a:chOff x="0" y="0"/>
            <a:chExt cx="1219200" cy="1219200"/>
          </a:xfrm>
        </p:grpSpPr>
        <p:sp>
          <p:nvSpPr>
            <p:cNvPr name="Freeform 27" id="27"/>
            <p:cNvSpPr/>
            <p:nvPr/>
          </p:nvSpPr>
          <p:spPr>
            <a:xfrm flipH="false" flipV="false" rot="0">
              <a:off x="0" y="0"/>
              <a:ext cx="1219200" cy="1219200"/>
            </a:xfrm>
            <a:custGeom>
              <a:avLst/>
              <a:gdLst/>
              <a:ahLst/>
              <a:cxnLst/>
              <a:rect r="r" b="b" t="t" l="l"/>
              <a:pathLst>
                <a:path h="1219200" w="1219200">
                  <a:moveTo>
                    <a:pt x="0" y="304800"/>
                  </a:moveTo>
                  <a:cubicBezTo>
                    <a:pt x="0" y="136525"/>
                    <a:pt x="136525" y="0"/>
                    <a:pt x="304800" y="0"/>
                  </a:cubicBezTo>
                  <a:lnTo>
                    <a:pt x="914400" y="0"/>
                  </a:lnTo>
                  <a:cubicBezTo>
                    <a:pt x="1082675" y="0"/>
                    <a:pt x="1219200" y="136525"/>
                    <a:pt x="1219200" y="304800"/>
                  </a:cubicBezTo>
                  <a:lnTo>
                    <a:pt x="1219200" y="914400"/>
                  </a:lnTo>
                  <a:cubicBezTo>
                    <a:pt x="1219200" y="1082675"/>
                    <a:pt x="1082675" y="1219200"/>
                    <a:pt x="914400" y="1219200"/>
                  </a:cubicBezTo>
                  <a:lnTo>
                    <a:pt x="304800" y="1219200"/>
                  </a:lnTo>
                  <a:cubicBezTo>
                    <a:pt x="136525" y="1219200"/>
                    <a:pt x="0" y="1082675"/>
                    <a:pt x="0" y="914400"/>
                  </a:cubicBezTo>
                  <a:close/>
                </a:path>
              </a:pathLst>
            </a:custGeom>
            <a:solidFill>
              <a:srgbClr val="E6E4FA"/>
            </a:solidFill>
          </p:spPr>
        </p:sp>
      </p:grpSp>
      <p:grpSp>
        <p:nvGrpSpPr>
          <p:cNvPr name="Group 28" id="28"/>
          <p:cNvGrpSpPr/>
          <p:nvPr/>
        </p:nvGrpSpPr>
        <p:grpSpPr>
          <a:xfrm rot="0">
            <a:off x="11370916" y="4865341"/>
            <a:ext cx="533400" cy="533400"/>
            <a:chOff x="0" y="0"/>
            <a:chExt cx="711200" cy="711200"/>
          </a:xfrm>
        </p:grpSpPr>
        <p:sp>
          <p:nvSpPr>
            <p:cNvPr name="Freeform 29" id="29" descr="Database"/>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6"/>
              <a:stretch>
                <a:fillRect l="0" t="0" r="0" b="0"/>
              </a:stretch>
            </a:blipFill>
          </p:spPr>
        </p:sp>
      </p:grpSp>
      <p:sp>
        <p:nvSpPr>
          <p:cNvPr name="TextBox 30" id="30"/>
          <p:cNvSpPr txBox="true"/>
          <p:nvPr/>
        </p:nvSpPr>
        <p:spPr>
          <a:xfrm rot="0">
            <a:off x="11180416" y="5789266"/>
            <a:ext cx="2434609" cy="7600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State in files and git</a:t>
            </a:r>
          </a:p>
        </p:txBody>
      </p:sp>
      <p:grpSp>
        <p:nvGrpSpPr>
          <p:cNvPr name="Group 31" id="31"/>
          <p:cNvGrpSpPr/>
          <p:nvPr/>
        </p:nvGrpSpPr>
        <p:grpSpPr>
          <a:xfrm rot="0">
            <a:off x="14081741" y="4284316"/>
            <a:ext cx="2987059" cy="2617441"/>
            <a:chOff x="0" y="0"/>
            <a:chExt cx="3982745" cy="3489922"/>
          </a:xfrm>
        </p:grpSpPr>
        <p:sp>
          <p:nvSpPr>
            <p:cNvPr name="Freeform 32" id="32"/>
            <p:cNvSpPr/>
            <p:nvPr/>
          </p:nvSpPr>
          <p:spPr>
            <a:xfrm flipH="false" flipV="false" rot="0">
              <a:off x="0" y="0"/>
              <a:ext cx="3982847" cy="3489960"/>
            </a:xfrm>
            <a:custGeom>
              <a:avLst/>
              <a:gdLst/>
              <a:ahLst/>
              <a:cxnLst/>
              <a:rect r="r" b="b" t="t" l="l"/>
              <a:pathLst>
                <a:path h="3489960" w="3982847">
                  <a:moveTo>
                    <a:pt x="0" y="299593"/>
                  </a:moveTo>
                  <a:cubicBezTo>
                    <a:pt x="0" y="134112"/>
                    <a:pt x="134112" y="0"/>
                    <a:pt x="299593" y="0"/>
                  </a:cubicBezTo>
                  <a:lnTo>
                    <a:pt x="3683254" y="0"/>
                  </a:lnTo>
                  <a:cubicBezTo>
                    <a:pt x="3848735" y="0"/>
                    <a:pt x="3982847" y="134112"/>
                    <a:pt x="3982847" y="299593"/>
                  </a:cubicBezTo>
                  <a:lnTo>
                    <a:pt x="3982847" y="3190367"/>
                  </a:lnTo>
                  <a:cubicBezTo>
                    <a:pt x="3982847" y="3355848"/>
                    <a:pt x="3848735" y="3489960"/>
                    <a:pt x="3683254" y="3489960"/>
                  </a:cubicBezTo>
                  <a:lnTo>
                    <a:pt x="299593" y="3489960"/>
                  </a:lnTo>
                  <a:cubicBezTo>
                    <a:pt x="134112" y="3489960"/>
                    <a:pt x="0" y="3355848"/>
                    <a:pt x="0" y="3190367"/>
                  </a:cubicBezTo>
                  <a:close/>
                </a:path>
              </a:pathLst>
            </a:custGeom>
            <a:solidFill>
              <a:srgbClr val="FCFCFE"/>
            </a:solidFill>
            <a:ln w="9525" cap="sq">
              <a:solidFill>
                <a:srgbClr val="E1E4F2"/>
              </a:solidFill>
              <a:prstDash val="solid"/>
              <a:miter/>
            </a:ln>
          </p:spPr>
        </p:sp>
      </p:grpSp>
      <p:grpSp>
        <p:nvGrpSpPr>
          <p:cNvPr name="Group 33" id="33"/>
          <p:cNvGrpSpPr/>
          <p:nvPr/>
        </p:nvGrpSpPr>
        <p:grpSpPr>
          <a:xfrm rot="0">
            <a:off x="14396066" y="4674841"/>
            <a:ext cx="914400" cy="914400"/>
            <a:chOff x="0" y="0"/>
            <a:chExt cx="1219200" cy="1219200"/>
          </a:xfrm>
        </p:grpSpPr>
        <p:sp>
          <p:nvSpPr>
            <p:cNvPr name="Freeform 34" id="34"/>
            <p:cNvSpPr/>
            <p:nvPr/>
          </p:nvSpPr>
          <p:spPr>
            <a:xfrm flipH="false" flipV="false" rot="0">
              <a:off x="0" y="0"/>
              <a:ext cx="1219200" cy="1219200"/>
            </a:xfrm>
            <a:custGeom>
              <a:avLst/>
              <a:gdLst/>
              <a:ahLst/>
              <a:cxnLst/>
              <a:rect r="r" b="b" t="t" l="l"/>
              <a:pathLst>
                <a:path h="1219200" w="1219200">
                  <a:moveTo>
                    <a:pt x="0" y="304800"/>
                  </a:moveTo>
                  <a:cubicBezTo>
                    <a:pt x="0" y="136525"/>
                    <a:pt x="136525" y="0"/>
                    <a:pt x="304800" y="0"/>
                  </a:cubicBezTo>
                  <a:lnTo>
                    <a:pt x="914400" y="0"/>
                  </a:lnTo>
                  <a:cubicBezTo>
                    <a:pt x="1082675" y="0"/>
                    <a:pt x="1219200" y="136525"/>
                    <a:pt x="1219200" y="304800"/>
                  </a:cubicBezTo>
                  <a:lnTo>
                    <a:pt x="1219200" y="914400"/>
                  </a:lnTo>
                  <a:cubicBezTo>
                    <a:pt x="1219200" y="1082675"/>
                    <a:pt x="1082675" y="1219200"/>
                    <a:pt x="914400" y="1219200"/>
                  </a:cubicBezTo>
                  <a:lnTo>
                    <a:pt x="304800" y="1219200"/>
                  </a:lnTo>
                  <a:cubicBezTo>
                    <a:pt x="136525" y="1219200"/>
                    <a:pt x="0" y="1082675"/>
                    <a:pt x="0" y="914400"/>
                  </a:cubicBezTo>
                  <a:close/>
                </a:path>
              </a:pathLst>
            </a:custGeom>
            <a:solidFill>
              <a:srgbClr val="E6E4FA"/>
            </a:solidFill>
          </p:spPr>
        </p:sp>
      </p:grpSp>
      <p:grpSp>
        <p:nvGrpSpPr>
          <p:cNvPr name="Group 35" id="35"/>
          <p:cNvGrpSpPr/>
          <p:nvPr/>
        </p:nvGrpSpPr>
        <p:grpSpPr>
          <a:xfrm rot="0">
            <a:off x="14586566" y="4865341"/>
            <a:ext cx="533400" cy="533400"/>
            <a:chOff x="0" y="0"/>
            <a:chExt cx="711200" cy="711200"/>
          </a:xfrm>
        </p:grpSpPr>
        <p:sp>
          <p:nvSpPr>
            <p:cNvPr name="Freeform 36" id="36" descr="Wrench"/>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7"/>
              <a:stretch>
                <a:fillRect l="0" t="0" r="0" b="0"/>
              </a:stretch>
            </a:blipFill>
          </p:spPr>
        </p:sp>
      </p:grpSp>
      <p:sp>
        <p:nvSpPr>
          <p:cNvPr name="TextBox 37" id="37"/>
          <p:cNvSpPr txBox="true"/>
          <p:nvPr/>
        </p:nvSpPr>
        <p:spPr>
          <a:xfrm rot="0">
            <a:off x="14396066" y="5789266"/>
            <a:ext cx="2434609" cy="4133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Build to delete</a:t>
            </a:r>
          </a:p>
        </p:txBody>
      </p:sp>
      <p:sp>
        <p:nvSpPr>
          <p:cNvPr name="TextBox 38" id="38"/>
          <p:cNvSpPr txBox="true"/>
          <p:nvPr/>
        </p:nvSpPr>
        <p:spPr>
          <a:xfrm rot="0">
            <a:off x="1219200" y="9319317"/>
            <a:ext cx="10295306"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Evidence for each in the speaker notes · OpenAI, Marmelab, LangChain, Anthropic</a:t>
            </a:r>
          </a:p>
        </p:txBody>
      </p:sp>
      <p:sp>
        <p:nvSpPr>
          <p:cNvPr name="TextBox 39" id="39"/>
          <p:cNvSpPr txBox="true"/>
          <p:nvPr/>
        </p:nvSpPr>
        <p:spPr>
          <a:xfrm rot="0">
            <a:off x="16782450" y="9319317"/>
            <a:ext cx="286350"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14</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EF0FA"/>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Will better models eat the harness?</a:t>
            </a:r>
          </a:p>
        </p:txBody>
      </p:sp>
      <p:grpSp>
        <p:nvGrpSpPr>
          <p:cNvPr name="Group 3" id="3"/>
          <p:cNvGrpSpPr/>
          <p:nvPr/>
        </p:nvGrpSpPr>
        <p:grpSpPr>
          <a:xfrm rot="0">
            <a:off x="1219200" y="3766242"/>
            <a:ext cx="7772400" cy="2750639"/>
            <a:chOff x="0" y="0"/>
            <a:chExt cx="10363200" cy="3667519"/>
          </a:xfrm>
        </p:grpSpPr>
        <p:sp>
          <p:nvSpPr>
            <p:cNvPr name="Freeform 4" id="4"/>
            <p:cNvSpPr/>
            <p:nvPr/>
          </p:nvSpPr>
          <p:spPr>
            <a:xfrm flipH="false" flipV="false" rot="0">
              <a:off x="0" y="0"/>
              <a:ext cx="10363200" cy="3667506"/>
            </a:xfrm>
            <a:custGeom>
              <a:avLst/>
              <a:gdLst/>
              <a:ahLst/>
              <a:cxnLst/>
              <a:rect r="r" b="b" t="t" l="l"/>
              <a:pathLst>
                <a:path h="3667506" w="10363200">
                  <a:moveTo>
                    <a:pt x="0" y="304800"/>
                  </a:moveTo>
                  <a:cubicBezTo>
                    <a:pt x="0" y="136525"/>
                    <a:pt x="136525" y="0"/>
                    <a:pt x="304800" y="0"/>
                  </a:cubicBezTo>
                  <a:lnTo>
                    <a:pt x="10058400" y="0"/>
                  </a:lnTo>
                  <a:cubicBezTo>
                    <a:pt x="10226802" y="0"/>
                    <a:pt x="10363200" y="136525"/>
                    <a:pt x="10363200" y="304800"/>
                  </a:cubicBezTo>
                  <a:lnTo>
                    <a:pt x="10363200" y="3362706"/>
                  </a:lnTo>
                  <a:cubicBezTo>
                    <a:pt x="10363200" y="3531108"/>
                    <a:pt x="10226675" y="3667506"/>
                    <a:pt x="10058400" y="3667506"/>
                  </a:cubicBezTo>
                  <a:lnTo>
                    <a:pt x="304800" y="3667506"/>
                  </a:lnTo>
                  <a:cubicBezTo>
                    <a:pt x="136398" y="3667506"/>
                    <a:pt x="0" y="3530981"/>
                    <a:pt x="0" y="3362706"/>
                  </a:cubicBezTo>
                  <a:close/>
                </a:path>
              </a:pathLst>
            </a:custGeom>
            <a:solidFill>
              <a:srgbClr val="FCFCFE"/>
            </a:solidFill>
          </p:spPr>
        </p:sp>
      </p:grpSp>
      <p:sp>
        <p:nvSpPr>
          <p:cNvPr name="TextBox 5" id="5"/>
          <p:cNvSpPr txBox="true"/>
          <p:nvPr/>
        </p:nvSpPr>
        <p:spPr>
          <a:xfrm rot="0">
            <a:off x="1676400" y="4185342"/>
            <a:ext cx="7063740" cy="396183"/>
          </a:xfrm>
          <a:prstGeom prst="rect">
            <a:avLst/>
          </a:prstGeom>
        </p:spPr>
        <p:txBody>
          <a:bodyPr anchor="t" rtlCol="false" tIns="0" lIns="0" bIns="0" rIns="0">
            <a:spAutoFit/>
          </a:bodyPr>
          <a:lstStyle/>
          <a:p>
            <a:pPr algn="l">
              <a:lnSpc>
                <a:spcPts val="2520"/>
              </a:lnSpc>
            </a:pPr>
            <a:r>
              <a:rPr lang="en-US" sz="1800" spc="149">
                <a:solidFill>
                  <a:srgbClr val="4E52B8"/>
                </a:solidFill>
                <a:latin typeface="JetBrains Mono"/>
                <a:ea typeface="JetBrains Mono"/>
                <a:cs typeface="JetBrains Mono"/>
                <a:sym typeface="JetBrains Mono"/>
              </a:rPr>
              <a:t>YES, IT GETS ABSORBED</a:t>
            </a:r>
          </a:p>
        </p:txBody>
      </p:sp>
      <p:sp>
        <p:nvSpPr>
          <p:cNvPr name="TextBox 6" id="6"/>
          <p:cNvSpPr txBox="true"/>
          <p:nvPr/>
        </p:nvSpPr>
        <p:spPr>
          <a:xfrm rot="0">
            <a:off x="1676400" y="4667250"/>
            <a:ext cx="7315200" cy="512416"/>
          </a:xfrm>
          <a:prstGeom prst="rect">
            <a:avLst/>
          </a:prstGeom>
        </p:spPr>
        <p:txBody>
          <a:bodyPr anchor="t" rtlCol="false" tIns="0" lIns="0" bIns="0" rIns="0">
            <a:spAutoFit/>
          </a:bodyPr>
          <a:lstStyle/>
          <a:p>
            <a:pPr algn="l">
              <a:lnSpc>
                <a:spcPts val="3510"/>
              </a:lnSpc>
            </a:pPr>
            <a:r>
              <a:rPr lang="en-US" sz="2700">
                <a:solidFill>
                  <a:srgbClr val="2B2F45"/>
                </a:solidFill>
                <a:latin typeface="DM Sans"/>
                <a:ea typeface="DM Sans"/>
                <a:cs typeface="DM Sans"/>
                <a:sym typeface="DM Sans"/>
              </a:rPr>
              <a:t>Scaffolds get replaced as models improve.</a:t>
            </a:r>
          </a:p>
        </p:txBody>
      </p:sp>
      <p:sp>
        <p:nvSpPr>
          <p:cNvPr name="TextBox 7" id="7"/>
          <p:cNvSpPr txBox="true"/>
          <p:nvPr/>
        </p:nvSpPr>
        <p:spPr>
          <a:xfrm rot="0">
            <a:off x="1676400" y="5255866"/>
            <a:ext cx="706374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Noam Brown, via Latent Space</a:t>
            </a:r>
          </a:p>
        </p:txBody>
      </p:sp>
      <p:grpSp>
        <p:nvGrpSpPr>
          <p:cNvPr name="Group 8" id="8"/>
          <p:cNvGrpSpPr/>
          <p:nvPr/>
        </p:nvGrpSpPr>
        <p:grpSpPr>
          <a:xfrm rot="0">
            <a:off x="9296400" y="3766242"/>
            <a:ext cx="7772400" cy="2750639"/>
            <a:chOff x="0" y="0"/>
            <a:chExt cx="10363200" cy="3667519"/>
          </a:xfrm>
        </p:grpSpPr>
        <p:sp>
          <p:nvSpPr>
            <p:cNvPr name="Freeform 9" id="9"/>
            <p:cNvSpPr/>
            <p:nvPr/>
          </p:nvSpPr>
          <p:spPr>
            <a:xfrm flipH="false" flipV="false" rot="0">
              <a:off x="0" y="0"/>
              <a:ext cx="10363200" cy="3667506"/>
            </a:xfrm>
            <a:custGeom>
              <a:avLst/>
              <a:gdLst/>
              <a:ahLst/>
              <a:cxnLst/>
              <a:rect r="r" b="b" t="t" l="l"/>
              <a:pathLst>
                <a:path h="3667506" w="10363200">
                  <a:moveTo>
                    <a:pt x="0" y="304800"/>
                  </a:moveTo>
                  <a:cubicBezTo>
                    <a:pt x="0" y="136525"/>
                    <a:pt x="136525" y="0"/>
                    <a:pt x="304800" y="0"/>
                  </a:cubicBezTo>
                  <a:lnTo>
                    <a:pt x="10058400" y="0"/>
                  </a:lnTo>
                  <a:cubicBezTo>
                    <a:pt x="10226802" y="0"/>
                    <a:pt x="10363200" y="136525"/>
                    <a:pt x="10363200" y="304800"/>
                  </a:cubicBezTo>
                  <a:lnTo>
                    <a:pt x="10363200" y="3362706"/>
                  </a:lnTo>
                  <a:cubicBezTo>
                    <a:pt x="10363200" y="3531108"/>
                    <a:pt x="10226675" y="3667506"/>
                    <a:pt x="10058400" y="3667506"/>
                  </a:cubicBezTo>
                  <a:lnTo>
                    <a:pt x="304800" y="3667506"/>
                  </a:lnTo>
                  <a:cubicBezTo>
                    <a:pt x="136398" y="3667506"/>
                    <a:pt x="0" y="3530981"/>
                    <a:pt x="0" y="3362706"/>
                  </a:cubicBezTo>
                  <a:close/>
                </a:path>
              </a:pathLst>
            </a:custGeom>
            <a:solidFill>
              <a:srgbClr val="FCFCFE"/>
            </a:solidFill>
          </p:spPr>
        </p:sp>
      </p:grpSp>
      <p:sp>
        <p:nvSpPr>
          <p:cNvPr name="TextBox 10" id="10"/>
          <p:cNvSpPr txBox="true"/>
          <p:nvPr/>
        </p:nvSpPr>
        <p:spPr>
          <a:xfrm rot="0">
            <a:off x="9753600" y="4185342"/>
            <a:ext cx="7063740" cy="396183"/>
          </a:xfrm>
          <a:prstGeom prst="rect">
            <a:avLst/>
          </a:prstGeom>
        </p:spPr>
        <p:txBody>
          <a:bodyPr anchor="t" rtlCol="false" tIns="0" lIns="0" bIns="0" rIns="0">
            <a:spAutoFit/>
          </a:bodyPr>
          <a:lstStyle/>
          <a:p>
            <a:pPr algn="l">
              <a:lnSpc>
                <a:spcPts val="2520"/>
              </a:lnSpc>
            </a:pPr>
            <a:r>
              <a:rPr lang="en-US" sz="1800" spc="149">
                <a:solidFill>
                  <a:srgbClr val="4A4F63"/>
                </a:solidFill>
                <a:latin typeface="JetBrains Mono"/>
                <a:ea typeface="JetBrains Mono"/>
                <a:cs typeface="JetBrains Mono"/>
                <a:sym typeface="JetBrains Mono"/>
              </a:rPr>
              <a:t>NO, IT KEEPS MOVING</a:t>
            </a:r>
          </a:p>
        </p:txBody>
      </p:sp>
      <p:sp>
        <p:nvSpPr>
          <p:cNvPr name="TextBox 11" id="11"/>
          <p:cNvSpPr txBox="true"/>
          <p:nvPr/>
        </p:nvSpPr>
        <p:spPr>
          <a:xfrm rot="0">
            <a:off x="9753600" y="4667250"/>
            <a:ext cx="7063740" cy="958158"/>
          </a:xfrm>
          <a:prstGeom prst="rect">
            <a:avLst/>
          </a:prstGeom>
        </p:spPr>
        <p:txBody>
          <a:bodyPr anchor="t" rtlCol="false" tIns="0" lIns="0" bIns="0" rIns="0">
            <a:spAutoFit/>
          </a:bodyPr>
          <a:lstStyle/>
          <a:p>
            <a:pPr algn="l">
              <a:lnSpc>
                <a:spcPts val="3510"/>
              </a:lnSpc>
            </a:pPr>
            <a:r>
              <a:rPr lang="en-US" sz="2700">
                <a:solidFill>
                  <a:srgbClr val="2B2F45"/>
                </a:solidFill>
                <a:latin typeface="DM Sans"/>
                <a:ea typeface="DM Sans"/>
                <a:cs typeface="DM Sans"/>
                <a:sym typeface="DM Sans"/>
              </a:rPr>
              <a:t>Useful harnesses change shape rather than shrink.</a:t>
            </a:r>
          </a:p>
        </p:txBody>
      </p:sp>
      <p:sp>
        <p:nvSpPr>
          <p:cNvPr name="TextBox 12" id="12"/>
          <p:cNvSpPr txBox="true"/>
          <p:nvPr/>
        </p:nvSpPr>
        <p:spPr>
          <a:xfrm rot="0">
            <a:off x="9753600" y="5701608"/>
            <a:ext cx="706374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Anthropic</a:t>
            </a:r>
          </a:p>
        </p:txBody>
      </p:sp>
      <p:sp>
        <p:nvSpPr>
          <p:cNvPr name="TextBox 13" id="13"/>
          <p:cNvSpPr txBox="true"/>
          <p:nvPr/>
        </p:nvSpPr>
        <p:spPr>
          <a:xfrm rot="0">
            <a:off x="1219200" y="6945516"/>
            <a:ext cx="16325088" cy="512416"/>
          </a:xfrm>
          <a:prstGeom prst="rect">
            <a:avLst/>
          </a:prstGeom>
        </p:spPr>
        <p:txBody>
          <a:bodyPr anchor="t" rtlCol="false" tIns="0" lIns="0" bIns="0" rIns="0">
            <a:spAutoFit/>
          </a:bodyPr>
          <a:lstStyle/>
          <a:p>
            <a:pPr algn="l">
              <a:lnSpc>
                <a:spcPts val="3510"/>
              </a:lnSpc>
            </a:pPr>
            <a:r>
              <a:rPr lang="en-US" sz="2700" b="true">
                <a:solidFill>
                  <a:srgbClr val="2B2F45"/>
                </a:solidFill>
                <a:latin typeface="DM Sans Bold"/>
                <a:ea typeface="DM Sans Bold"/>
                <a:cs typeface="DM Sans Bold"/>
                <a:sym typeface="DM Sans Bold"/>
              </a:rPr>
              <a:t>So far, each model generation reshapes the harness rather than removing it.</a:t>
            </a:r>
          </a:p>
        </p:txBody>
      </p:sp>
      <p:sp>
        <p:nvSpPr>
          <p:cNvPr name="TextBox 14" id="14"/>
          <p:cNvSpPr txBox="true"/>
          <p:nvPr/>
        </p:nvSpPr>
        <p:spPr>
          <a:xfrm rot="0">
            <a:off x="1219200" y="9319317"/>
            <a:ext cx="721635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Latent Space (Mar 2026); Anthropic (Mar 2026)</a:t>
            </a:r>
          </a:p>
        </p:txBody>
      </p:sp>
      <p:sp>
        <p:nvSpPr>
          <p:cNvPr name="TextBox 15" id="15"/>
          <p:cNvSpPr txBox="true"/>
          <p:nvPr/>
        </p:nvSpPr>
        <p:spPr>
          <a:xfrm rot="0">
            <a:off x="16781783" y="9319317"/>
            <a:ext cx="287017"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15</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Lots of instructions, little enforcement</a:t>
            </a:r>
          </a:p>
        </p:txBody>
      </p:sp>
      <p:sp>
        <p:nvSpPr>
          <p:cNvPr name="TextBox 3" id="3"/>
          <p:cNvSpPr txBox="true"/>
          <p:nvPr/>
        </p:nvSpPr>
        <p:spPr>
          <a:xfrm rot="0">
            <a:off x="1219200" y="3511077"/>
            <a:ext cx="549402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Ship an agent instruction file</a:t>
            </a:r>
          </a:p>
        </p:txBody>
      </p:sp>
      <p:sp>
        <p:nvSpPr>
          <p:cNvPr name="TextBox 4" id="4"/>
          <p:cNvSpPr txBox="true"/>
          <p:nvPr/>
        </p:nvSpPr>
        <p:spPr>
          <a:xfrm rot="0">
            <a:off x="1219200" y="3932034"/>
            <a:ext cx="549402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of 145 large open-source projects</a:t>
            </a:r>
          </a:p>
        </p:txBody>
      </p:sp>
      <p:grpSp>
        <p:nvGrpSpPr>
          <p:cNvPr name="Group 5" id="5"/>
          <p:cNvGrpSpPr/>
          <p:nvPr/>
        </p:nvGrpSpPr>
        <p:grpSpPr>
          <a:xfrm rot="0">
            <a:off x="6858000" y="3714826"/>
            <a:ext cx="8572500" cy="419100"/>
            <a:chOff x="0" y="0"/>
            <a:chExt cx="11430000" cy="558800"/>
          </a:xfrm>
        </p:grpSpPr>
        <p:sp>
          <p:nvSpPr>
            <p:cNvPr name="Freeform 6" id="6"/>
            <p:cNvSpPr/>
            <p:nvPr/>
          </p:nvSpPr>
          <p:spPr>
            <a:xfrm flipH="false" flipV="false" rot="0">
              <a:off x="0" y="0"/>
              <a:ext cx="11430000" cy="558800"/>
            </a:xfrm>
            <a:custGeom>
              <a:avLst/>
              <a:gdLst/>
              <a:ahLst/>
              <a:cxnLst/>
              <a:rect r="r" b="b" t="t" l="l"/>
              <a:pathLst>
                <a:path h="558800" w="11430000">
                  <a:moveTo>
                    <a:pt x="0" y="152400"/>
                  </a:moveTo>
                  <a:cubicBezTo>
                    <a:pt x="0" y="68199"/>
                    <a:pt x="68199" y="0"/>
                    <a:pt x="152400" y="0"/>
                  </a:cubicBezTo>
                  <a:lnTo>
                    <a:pt x="11277600" y="0"/>
                  </a:lnTo>
                  <a:cubicBezTo>
                    <a:pt x="11361801" y="0"/>
                    <a:pt x="11430000" y="68199"/>
                    <a:pt x="11430000" y="152400"/>
                  </a:cubicBezTo>
                  <a:lnTo>
                    <a:pt x="11430000" y="406400"/>
                  </a:lnTo>
                  <a:cubicBezTo>
                    <a:pt x="11430000" y="490601"/>
                    <a:pt x="11361801" y="558800"/>
                    <a:pt x="11277600" y="558800"/>
                  </a:cubicBezTo>
                  <a:lnTo>
                    <a:pt x="152400" y="558800"/>
                  </a:lnTo>
                  <a:cubicBezTo>
                    <a:pt x="68199" y="558800"/>
                    <a:pt x="0" y="490601"/>
                    <a:pt x="0" y="406400"/>
                  </a:cubicBezTo>
                  <a:close/>
                </a:path>
              </a:pathLst>
            </a:custGeom>
            <a:solidFill>
              <a:srgbClr val="E1E4F2"/>
            </a:solidFill>
          </p:spPr>
        </p:sp>
      </p:grpSp>
      <p:grpSp>
        <p:nvGrpSpPr>
          <p:cNvPr name="Group 7" id="7"/>
          <p:cNvGrpSpPr/>
          <p:nvPr/>
        </p:nvGrpSpPr>
        <p:grpSpPr>
          <a:xfrm rot="0">
            <a:off x="6858000" y="3714826"/>
            <a:ext cx="5400675" cy="419100"/>
            <a:chOff x="0" y="0"/>
            <a:chExt cx="7200900" cy="558800"/>
          </a:xfrm>
        </p:grpSpPr>
        <p:sp>
          <p:nvSpPr>
            <p:cNvPr name="Freeform 8" id="8"/>
            <p:cNvSpPr/>
            <p:nvPr/>
          </p:nvSpPr>
          <p:spPr>
            <a:xfrm flipH="false" flipV="false" rot="0">
              <a:off x="0" y="0"/>
              <a:ext cx="7200900" cy="558800"/>
            </a:xfrm>
            <a:custGeom>
              <a:avLst/>
              <a:gdLst/>
              <a:ahLst/>
              <a:cxnLst/>
              <a:rect r="r" b="b" t="t" l="l"/>
              <a:pathLst>
                <a:path h="558800" w="7200900">
                  <a:moveTo>
                    <a:pt x="0" y="152400"/>
                  </a:moveTo>
                  <a:cubicBezTo>
                    <a:pt x="0" y="68199"/>
                    <a:pt x="68199" y="0"/>
                    <a:pt x="152400" y="0"/>
                  </a:cubicBezTo>
                  <a:lnTo>
                    <a:pt x="7048500" y="0"/>
                  </a:lnTo>
                  <a:cubicBezTo>
                    <a:pt x="7132701" y="0"/>
                    <a:pt x="7200900" y="68199"/>
                    <a:pt x="7200900" y="152400"/>
                  </a:cubicBezTo>
                  <a:lnTo>
                    <a:pt x="7200900" y="406400"/>
                  </a:lnTo>
                  <a:cubicBezTo>
                    <a:pt x="7200900" y="490601"/>
                    <a:pt x="7132701" y="558800"/>
                    <a:pt x="7048500" y="558800"/>
                  </a:cubicBezTo>
                  <a:lnTo>
                    <a:pt x="152400" y="558800"/>
                  </a:lnTo>
                  <a:cubicBezTo>
                    <a:pt x="68199" y="558800"/>
                    <a:pt x="0" y="490601"/>
                    <a:pt x="0" y="406400"/>
                  </a:cubicBezTo>
                  <a:close/>
                </a:path>
              </a:pathLst>
            </a:custGeom>
            <a:solidFill>
              <a:srgbClr val="6C70E0"/>
            </a:solidFill>
          </p:spPr>
        </p:sp>
      </p:grpSp>
      <p:sp>
        <p:nvSpPr>
          <p:cNvPr name="TextBox 9" id="9"/>
          <p:cNvSpPr txBox="true"/>
          <p:nvPr/>
        </p:nvSpPr>
        <p:spPr>
          <a:xfrm rot="0">
            <a:off x="15735300" y="3636759"/>
            <a:ext cx="877433" cy="565766"/>
          </a:xfrm>
          <a:prstGeom prst="rect">
            <a:avLst/>
          </a:prstGeom>
        </p:spPr>
        <p:txBody>
          <a:bodyPr anchor="t" rtlCol="false" tIns="0" lIns="0" bIns="0" rIns="0">
            <a:spAutoFit/>
          </a:bodyPr>
          <a:lstStyle/>
          <a:p>
            <a:pPr algn="l">
              <a:lnSpc>
                <a:spcPts val="3779"/>
              </a:lnSpc>
            </a:pPr>
            <a:r>
              <a:rPr lang="en-US" sz="2700" b="true">
                <a:solidFill>
                  <a:srgbClr val="4E52B8"/>
                </a:solidFill>
                <a:latin typeface="DM Sans Bold"/>
                <a:ea typeface="DM Sans Bold"/>
                <a:cs typeface="DM Sans Bold"/>
                <a:sym typeface="DM Sans Bold"/>
              </a:rPr>
              <a:t>63%</a:t>
            </a:r>
          </a:p>
        </p:txBody>
      </p:sp>
      <p:sp>
        <p:nvSpPr>
          <p:cNvPr name="TextBox 10" id="10"/>
          <p:cNvSpPr txBox="true"/>
          <p:nvPr/>
        </p:nvSpPr>
        <p:spPr>
          <a:xfrm rot="0">
            <a:off x="1219200" y="4623492"/>
            <a:ext cx="549402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Declare a subagent</a:t>
            </a:r>
          </a:p>
        </p:txBody>
      </p:sp>
      <p:sp>
        <p:nvSpPr>
          <p:cNvPr name="TextBox 11" id="11"/>
          <p:cNvSpPr txBox="true"/>
          <p:nvPr/>
        </p:nvSpPr>
        <p:spPr>
          <a:xfrm rot="0">
            <a:off x="1219200" y="5044459"/>
            <a:ext cx="549402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of the same 145 projects</a:t>
            </a:r>
          </a:p>
        </p:txBody>
      </p:sp>
      <p:grpSp>
        <p:nvGrpSpPr>
          <p:cNvPr name="Group 12" id="12"/>
          <p:cNvGrpSpPr/>
          <p:nvPr/>
        </p:nvGrpSpPr>
        <p:grpSpPr>
          <a:xfrm rot="0">
            <a:off x="6858000" y="4827241"/>
            <a:ext cx="8572500" cy="419100"/>
            <a:chOff x="0" y="0"/>
            <a:chExt cx="11430000" cy="558800"/>
          </a:xfrm>
        </p:grpSpPr>
        <p:sp>
          <p:nvSpPr>
            <p:cNvPr name="Freeform 13" id="13"/>
            <p:cNvSpPr/>
            <p:nvPr/>
          </p:nvSpPr>
          <p:spPr>
            <a:xfrm flipH="false" flipV="false" rot="0">
              <a:off x="0" y="0"/>
              <a:ext cx="11430000" cy="558800"/>
            </a:xfrm>
            <a:custGeom>
              <a:avLst/>
              <a:gdLst/>
              <a:ahLst/>
              <a:cxnLst/>
              <a:rect r="r" b="b" t="t" l="l"/>
              <a:pathLst>
                <a:path h="558800" w="11430000">
                  <a:moveTo>
                    <a:pt x="0" y="152400"/>
                  </a:moveTo>
                  <a:cubicBezTo>
                    <a:pt x="0" y="68199"/>
                    <a:pt x="68199" y="0"/>
                    <a:pt x="152400" y="0"/>
                  </a:cubicBezTo>
                  <a:lnTo>
                    <a:pt x="11277600" y="0"/>
                  </a:lnTo>
                  <a:cubicBezTo>
                    <a:pt x="11361801" y="0"/>
                    <a:pt x="11430000" y="68199"/>
                    <a:pt x="11430000" y="152400"/>
                  </a:cubicBezTo>
                  <a:lnTo>
                    <a:pt x="11430000" y="406400"/>
                  </a:lnTo>
                  <a:cubicBezTo>
                    <a:pt x="11430000" y="490601"/>
                    <a:pt x="11361801" y="558800"/>
                    <a:pt x="11277600" y="558800"/>
                  </a:cubicBezTo>
                  <a:lnTo>
                    <a:pt x="152400" y="558800"/>
                  </a:lnTo>
                  <a:cubicBezTo>
                    <a:pt x="68199" y="558800"/>
                    <a:pt x="0" y="490601"/>
                    <a:pt x="0" y="406400"/>
                  </a:cubicBezTo>
                  <a:close/>
                </a:path>
              </a:pathLst>
            </a:custGeom>
            <a:solidFill>
              <a:srgbClr val="E1E4F2"/>
            </a:solidFill>
          </p:spPr>
        </p:sp>
      </p:grpSp>
      <p:grpSp>
        <p:nvGrpSpPr>
          <p:cNvPr name="Group 14" id="14"/>
          <p:cNvGrpSpPr/>
          <p:nvPr/>
        </p:nvGrpSpPr>
        <p:grpSpPr>
          <a:xfrm rot="0">
            <a:off x="6858000" y="4827241"/>
            <a:ext cx="238125" cy="419100"/>
            <a:chOff x="0" y="0"/>
            <a:chExt cx="317500" cy="558800"/>
          </a:xfrm>
        </p:grpSpPr>
        <p:sp>
          <p:nvSpPr>
            <p:cNvPr name="Freeform 15" id="15"/>
            <p:cNvSpPr/>
            <p:nvPr/>
          </p:nvSpPr>
          <p:spPr>
            <a:xfrm flipH="false" flipV="false" rot="0">
              <a:off x="0" y="0"/>
              <a:ext cx="317500" cy="558800"/>
            </a:xfrm>
            <a:custGeom>
              <a:avLst/>
              <a:gdLst/>
              <a:ahLst/>
              <a:cxnLst/>
              <a:rect r="r" b="b" t="t" l="l"/>
              <a:pathLst>
                <a:path h="558800" w="317500">
                  <a:moveTo>
                    <a:pt x="0" y="152400"/>
                  </a:moveTo>
                  <a:cubicBezTo>
                    <a:pt x="0" y="68199"/>
                    <a:pt x="68199" y="0"/>
                    <a:pt x="152400" y="0"/>
                  </a:cubicBezTo>
                  <a:lnTo>
                    <a:pt x="165100" y="0"/>
                  </a:lnTo>
                  <a:cubicBezTo>
                    <a:pt x="249301" y="0"/>
                    <a:pt x="317500" y="68199"/>
                    <a:pt x="317500" y="152400"/>
                  </a:cubicBezTo>
                  <a:lnTo>
                    <a:pt x="317500" y="406400"/>
                  </a:lnTo>
                  <a:cubicBezTo>
                    <a:pt x="317500" y="490601"/>
                    <a:pt x="249301" y="558800"/>
                    <a:pt x="165100" y="558800"/>
                  </a:cubicBezTo>
                  <a:lnTo>
                    <a:pt x="152400" y="558800"/>
                  </a:lnTo>
                  <a:cubicBezTo>
                    <a:pt x="68199" y="558800"/>
                    <a:pt x="0" y="490601"/>
                    <a:pt x="0" y="406400"/>
                  </a:cubicBezTo>
                  <a:close/>
                </a:path>
              </a:pathLst>
            </a:custGeom>
            <a:solidFill>
              <a:srgbClr val="6C70E0"/>
            </a:solidFill>
          </p:spPr>
        </p:sp>
      </p:grpSp>
      <p:sp>
        <p:nvSpPr>
          <p:cNvPr name="TextBox 16" id="16"/>
          <p:cNvSpPr txBox="true"/>
          <p:nvPr/>
        </p:nvSpPr>
        <p:spPr>
          <a:xfrm rot="0">
            <a:off x="15735300" y="4749184"/>
            <a:ext cx="616591" cy="565766"/>
          </a:xfrm>
          <a:prstGeom prst="rect">
            <a:avLst/>
          </a:prstGeom>
        </p:spPr>
        <p:txBody>
          <a:bodyPr anchor="t" rtlCol="false" tIns="0" lIns="0" bIns="0" rIns="0">
            <a:spAutoFit/>
          </a:bodyPr>
          <a:lstStyle/>
          <a:p>
            <a:pPr algn="l">
              <a:lnSpc>
                <a:spcPts val="3779"/>
              </a:lnSpc>
            </a:pPr>
            <a:r>
              <a:rPr lang="en-US" sz="2700" b="true">
                <a:solidFill>
                  <a:srgbClr val="4E52B8"/>
                </a:solidFill>
                <a:latin typeface="DM Sans Bold"/>
                <a:ea typeface="DM Sans Bold"/>
                <a:cs typeface="DM Sans Bold"/>
                <a:sym typeface="DM Sans Bold"/>
              </a:rPr>
              <a:t>3%</a:t>
            </a:r>
          </a:p>
        </p:txBody>
      </p:sp>
      <p:sp>
        <p:nvSpPr>
          <p:cNvPr name="TextBox 17" id="17"/>
          <p:cNvSpPr txBox="true"/>
          <p:nvPr/>
        </p:nvSpPr>
        <p:spPr>
          <a:xfrm rot="0">
            <a:off x="1219200" y="5735907"/>
            <a:ext cx="549402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Commit a deny rule</a:t>
            </a:r>
          </a:p>
        </p:txBody>
      </p:sp>
      <p:sp>
        <p:nvSpPr>
          <p:cNvPr name="TextBox 18" id="18"/>
          <p:cNvSpPr txBox="true"/>
          <p:nvPr/>
        </p:nvSpPr>
        <p:spPr>
          <a:xfrm rot="0">
            <a:off x="1219200" y="6156874"/>
            <a:ext cx="549402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of 391 repositories</a:t>
            </a:r>
          </a:p>
        </p:txBody>
      </p:sp>
      <p:grpSp>
        <p:nvGrpSpPr>
          <p:cNvPr name="Group 19" id="19"/>
          <p:cNvGrpSpPr/>
          <p:nvPr/>
        </p:nvGrpSpPr>
        <p:grpSpPr>
          <a:xfrm rot="0">
            <a:off x="6858000" y="5939657"/>
            <a:ext cx="8572500" cy="419100"/>
            <a:chOff x="0" y="0"/>
            <a:chExt cx="11430000" cy="558800"/>
          </a:xfrm>
        </p:grpSpPr>
        <p:sp>
          <p:nvSpPr>
            <p:cNvPr name="Freeform 20" id="20"/>
            <p:cNvSpPr/>
            <p:nvPr/>
          </p:nvSpPr>
          <p:spPr>
            <a:xfrm flipH="false" flipV="false" rot="0">
              <a:off x="0" y="0"/>
              <a:ext cx="11430000" cy="558800"/>
            </a:xfrm>
            <a:custGeom>
              <a:avLst/>
              <a:gdLst/>
              <a:ahLst/>
              <a:cxnLst/>
              <a:rect r="r" b="b" t="t" l="l"/>
              <a:pathLst>
                <a:path h="558800" w="11430000">
                  <a:moveTo>
                    <a:pt x="0" y="152400"/>
                  </a:moveTo>
                  <a:cubicBezTo>
                    <a:pt x="0" y="68199"/>
                    <a:pt x="68199" y="0"/>
                    <a:pt x="152400" y="0"/>
                  </a:cubicBezTo>
                  <a:lnTo>
                    <a:pt x="11277600" y="0"/>
                  </a:lnTo>
                  <a:cubicBezTo>
                    <a:pt x="11361801" y="0"/>
                    <a:pt x="11430000" y="68199"/>
                    <a:pt x="11430000" y="152400"/>
                  </a:cubicBezTo>
                  <a:lnTo>
                    <a:pt x="11430000" y="406400"/>
                  </a:lnTo>
                  <a:cubicBezTo>
                    <a:pt x="11430000" y="490601"/>
                    <a:pt x="11361801" y="558800"/>
                    <a:pt x="11277600" y="558800"/>
                  </a:cubicBezTo>
                  <a:lnTo>
                    <a:pt x="152400" y="558800"/>
                  </a:lnTo>
                  <a:cubicBezTo>
                    <a:pt x="68199" y="558800"/>
                    <a:pt x="0" y="490601"/>
                    <a:pt x="0" y="406400"/>
                  </a:cubicBezTo>
                  <a:close/>
                </a:path>
              </a:pathLst>
            </a:custGeom>
            <a:solidFill>
              <a:srgbClr val="E1E4F2"/>
            </a:solidFill>
          </p:spPr>
        </p:sp>
      </p:grpSp>
      <p:grpSp>
        <p:nvGrpSpPr>
          <p:cNvPr name="Group 21" id="21"/>
          <p:cNvGrpSpPr/>
          <p:nvPr/>
        </p:nvGrpSpPr>
        <p:grpSpPr>
          <a:xfrm rot="0">
            <a:off x="6858000" y="5939657"/>
            <a:ext cx="266700" cy="419100"/>
            <a:chOff x="0" y="0"/>
            <a:chExt cx="355600" cy="558800"/>
          </a:xfrm>
        </p:grpSpPr>
        <p:sp>
          <p:nvSpPr>
            <p:cNvPr name="Freeform 22" id="22"/>
            <p:cNvSpPr/>
            <p:nvPr/>
          </p:nvSpPr>
          <p:spPr>
            <a:xfrm flipH="false" flipV="false" rot="0">
              <a:off x="0" y="0"/>
              <a:ext cx="355600" cy="558800"/>
            </a:xfrm>
            <a:custGeom>
              <a:avLst/>
              <a:gdLst/>
              <a:ahLst/>
              <a:cxnLst/>
              <a:rect r="r" b="b" t="t" l="l"/>
              <a:pathLst>
                <a:path h="558800" w="355600">
                  <a:moveTo>
                    <a:pt x="0" y="152400"/>
                  </a:moveTo>
                  <a:cubicBezTo>
                    <a:pt x="0" y="68199"/>
                    <a:pt x="68199" y="0"/>
                    <a:pt x="152400" y="0"/>
                  </a:cubicBezTo>
                  <a:lnTo>
                    <a:pt x="203200" y="0"/>
                  </a:lnTo>
                  <a:cubicBezTo>
                    <a:pt x="287401" y="0"/>
                    <a:pt x="355600" y="68199"/>
                    <a:pt x="355600" y="152400"/>
                  </a:cubicBezTo>
                  <a:lnTo>
                    <a:pt x="355600" y="406400"/>
                  </a:lnTo>
                  <a:cubicBezTo>
                    <a:pt x="355600" y="490601"/>
                    <a:pt x="287401" y="558800"/>
                    <a:pt x="203200" y="558800"/>
                  </a:cubicBezTo>
                  <a:lnTo>
                    <a:pt x="152400" y="558800"/>
                  </a:lnTo>
                  <a:cubicBezTo>
                    <a:pt x="68199" y="558800"/>
                    <a:pt x="0" y="490601"/>
                    <a:pt x="0" y="406400"/>
                  </a:cubicBezTo>
                  <a:close/>
                </a:path>
              </a:pathLst>
            </a:custGeom>
            <a:solidFill>
              <a:srgbClr val="6C70E0"/>
            </a:solidFill>
          </p:spPr>
        </p:sp>
      </p:grpSp>
      <p:sp>
        <p:nvSpPr>
          <p:cNvPr name="TextBox 23" id="23"/>
          <p:cNvSpPr txBox="true"/>
          <p:nvPr/>
        </p:nvSpPr>
        <p:spPr>
          <a:xfrm rot="0">
            <a:off x="15735300" y="5861599"/>
            <a:ext cx="616591" cy="565766"/>
          </a:xfrm>
          <a:prstGeom prst="rect">
            <a:avLst/>
          </a:prstGeom>
        </p:spPr>
        <p:txBody>
          <a:bodyPr anchor="t" rtlCol="false" tIns="0" lIns="0" bIns="0" rIns="0">
            <a:spAutoFit/>
          </a:bodyPr>
          <a:lstStyle/>
          <a:p>
            <a:pPr algn="l">
              <a:lnSpc>
                <a:spcPts val="3779"/>
              </a:lnSpc>
            </a:pPr>
            <a:r>
              <a:rPr lang="en-US" sz="2700" b="true">
                <a:solidFill>
                  <a:srgbClr val="4E52B8"/>
                </a:solidFill>
                <a:latin typeface="DM Sans Bold"/>
                <a:ea typeface="DM Sans Bold"/>
                <a:cs typeface="DM Sans Bold"/>
                <a:sym typeface="DM Sans Bold"/>
              </a:rPr>
              <a:t>3%</a:t>
            </a:r>
          </a:p>
        </p:txBody>
      </p:sp>
      <p:sp>
        <p:nvSpPr>
          <p:cNvPr name="TextBox 24" id="24"/>
          <p:cNvSpPr txBox="true"/>
          <p:nvPr/>
        </p:nvSpPr>
        <p:spPr>
          <a:xfrm rot="0">
            <a:off x="1219200" y="6848323"/>
            <a:ext cx="549402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Have any tests or evals</a:t>
            </a:r>
          </a:p>
        </p:txBody>
      </p:sp>
      <p:sp>
        <p:nvSpPr>
          <p:cNvPr name="TextBox 25" id="25"/>
          <p:cNvSpPr txBox="true"/>
          <p:nvPr/>
        </p:nvSpPr>
        <p:spPr>
          <a:xfrm rot="0">
            <a:off x="1219200" y="7269290"/>
            <a:ext cx="549402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of 97 testable harnesses</a:t>
            </a:r>
          </a:p>
        </p:txBody>
      </p:sp>
      <p:grpSp>
        <p:nvGrpSpPr>
          <p:cNvPr name="Group 26" id="26"/>
          <p:cNvGrpSpPr/>
          <p:nvPr/>
        </p:nvGrpSpPr>
        <p:grpSpPr>
          <a:xfrm rot="0">
            <a:off x="6858000" y="7052072"/>
            <a:ext cx="8572500" cy="419100"/>
            <a:chOff x="0" y="0"/>
            <a:chExt cx="11430000" cy="558800"/>
          </a:xfrm>
        </p:grpSpPr>
        <p:sp>
          <p:nvSpPr>
            <p:cNvPr name="Freeform 27" id="27"/>
            <p:cNvSpPr/>
            <p:nvPr/>
          </p:nvSpPr>
          <p:spPr>
            <a:xfrm flipH="false" flipV="false" rot="0">
              <a:off x="0" y="0"/>
              <a:ext cx="11430000" cy="558800"/>
            </a:xfrm>
            <a:custGeom>
              <a:avLst/>
              <a:gdLst/>
              <a:ahLst/>
              <a:cxnLst/>
              <a:rect r="r" b="b" t="t" l="l"/>
              <a:pathLst>
                <a:path h="558800" w="11430000">
                  <a:moveTo>
                    <a:pt x="0" y="152400"/>
                  </a:moveTo>
                  <a:cubicBezTo>
                    <a:pt x="0" y="68199"/>
                    <a:pt x="68199" y="0"/>
                    <a:pt x="152400" y="0"/>
                  </a:cubicBezTo>
                  <a:lnTo>
                    <a:pt x="11277600" y="0"/>
                  </a:lnTo>
                  <a:cubicBezTo>
                    <a:pt x="11361801" y="0"/>
                    <a:pt x="11430000" y="68199"/>
                    <a:pt x="11430000" y="152400"/>
                  </a:cubicBezTo>
                  <a:lnTo>
                    <a:pt x="11430000" y="406400"/>
                  </a:lnTo>
                  <a:cubicBezTo>
                    <a:pt x="11430000" y="490601"/>
                    <a:pt x="11361801" y="558800"/>
                    <a:pt x="11277600" y="558800"/>
                  </a:cubicBezTo>
                  <a:lnTo>
                    <a:pt x="152400" y="558800"/>
                  </a:lnTo>
                  <a:cubicBezTo>
                    <a:pt x="68199" y="558800"/>
                    <a:pt x="0" y="490601"/>
                    <a:pt x="0" y="406400"/>
                  </a:cubicBezTo>
                  <a:close/>
                </a:path>
              </a:pathLst>
            </a:custGeom>
            <a:solidFill>
              <a:srgbClr val="E1E4F2"/>
            </a:solidFill>
          </p:spPr>
        </p:sp>
      </p:grpSp>
      <p:grpSp>
        <p:nvGrpSpPr>
          <p:cNvPr name="Group 28" id="28"/>
          <p:cNvGrpSpPr/>
          <p:nvPr/>
        </p:nvGrpSpPr>
        <p:grpSpPr>
          <a:xfrm rot="0">
            <a:off x="6858000" y="7052072"/>
            <a:ext cx="3429000" cy="419100"/>
            <a:chOff x="0" y="0"/>
            <a:chExt cx="4572000" cy="558800"/>
          </a:xfrm>
        </p:grpSpPr>
        <p:sp>
          <p:nvSpPr>
            <p:cNvPr name="Freeform 29" id="29"/>
            <p:cNvSpPr/>
            <p:nvPr/>
          </p:nvSpPr>
          <p:spPr>
            <a:xfrm flipH="false" flipV="false" rot="0">
              <a:off x="0" y="0"/>
              <a:ext cx="4572000" cy="558800"/>
            </a:xfrm>
            <a:custGeom>
              <a:avLst/>
              <a:gdLst/>
              <a:ahLst/>
              <a:cxnLst/>
              <a:rect r="r" b="b" t="t" l="l"/>
              <a:pathLst>
                <a:path h="558800" w="4572000">
                  <a:moveTo>
                    <a:pt x="0" y="152400"/>
                  </a:moveTo>
                  <a:cubicBezTo>
                    <a:pt x="0" y="68199"/>
                    <a:pt x="68199" y="0"/>
                    <a:pt x="152400" y="0"/>
                  </a:cubicBezTo>
                  <a:lnTo>
                    <a:pt x="4419600" y="0"/>
                  </a:lnTo>
                  <a:cubicBezTo>
                    <a:pt x="4503801" y="0"/>
                    <a:pt x="4572000" y="68199"/>
                    <a:pt x="4572000" y="152400"/>
                  </a:cubicBezTo>
                  <a:lnTo>
                    <a:pt x="4572000" y="406400"/>
                  </a:lnTo>
                  <a:cubicBezTo>
                    <a:pt x="4572000" y="490601"/>
                    <a:pt x="4503801" y="558800"/>
                    <a:pt x="4419600" y="558800"/>
                  </a:cubicBezTo>
                  <a:lnTo>
                    <a:pt x="152400" y="558800"/>
                  </a:lnTo>
                  <a:cubicBezTo>
                    <a:pt x="68199" y="558800"/>
                    <a:pt x="0" y="490601"/>
                    <a:pt x="0" y="406400"/>
                  </a:cubicBezTo>
                  <a:close/>
                </a:path>
              </a:pathLst>
            </a:custGeom>
            <a:solidFill>
              <a:srgbClr val="6C70E0"/>
            </a:solidFill>
          </p:spPr>
        </p:sp>
      </p:grpSp>
      <p:sp>
        <p:nvSpPr>
          <p:cNvPr name="TextBox 30" id="30"/>
          <p:cNvSpPr txBox="true"/>
          <p:nvPr/>
        </p:nvSpPr>
        <p:spPr>
          <a:xfrm rot="0">
            <a:off x="15735300" y="6974015"/>
            <a:ext cx="928507" cy="565766"/>
          </a:xfrm>
          <a:prstGeom prst="rect">
            <a:avLst/>
          </a:prstGeom>
        </p:spPr>
        <p:txBody>
          <a:bodyPr anchor="t" rtlCol="false" tIns="0" lIns="0" bIns="0" rIns="0">
            <a:spAutoFit/>
          </a:bodyPr>
          <a:lstStyle/>
          <a:p>
            <a:pPr algn="l">
              <a:lnSpc>
                <a:spcPts val="3779"/>
              </a:lnSpc>
            </a:pPr>
            <a:r>
              <a:rPr lang="en-US" sz="2700" b="true">
                <a:solidFill>
                  <a:srgbClr val="4E52B8"/>
                </a:solidFill>
                <a:latin typeface="DM Sans Bold"/>
                <a:ea typeface="DM Sans Bold"/>
                <a:cs typeface="DM Sans Bold"/>
                <a:sym typeface="DM Sans Bold"/>
              </a:rPr>
              <a:t>40%</a:t>
            </a:r>
          </a:p>
        </p:txBody>
      </p:sp>
      <p:sp>
        <p:nvSpPr>
          <p:cNvPr name="TextBox 31" id="31"/>
          <p:cNvSpPr txBox="true"/>
          <p:nvPr/>
        </p:nvSpPr>
        <p:spPr>
          <a:xfrm rot="0">
            <a:off x="1219200" y="9319317"/>
            <a:ext cx="11956847"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 Marmelab audit of 246 harness repos and 145 large open-source projects (Sept 2026)</a:t>
            </a:r>
          </a:p>
        </p:txBody>
      </p:sp>
      <p:sp>
        <p:nvSpPr>
          <p:cNvPr name="TextBox 32" id="32"/>
          <p:cNvSpPr txBox="true"/>
          <p:nvPr/>
        </p:nvSpPr>
        <p:spPr>
          <a:xfrm rot="0">
            <a:off x="16777687" y="9319317"/>
            <a:ext cx="291113"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16</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7986861" cy="680085"/>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Must we build it on our own?</a:t>
            </a:r>
          </a:p>
        </p:txBody>
      </p:sp>
      <p:sp>
        <p:nvSpPr>
          <p:cNvPr name="TextBox 3" id="3"/>
          <p:cNvSpPr txBox="true"/>
          <p:nvPr/>
        </p:nvSpPr>
        <p:spPr>
          <a:xfrm rot="0">
            <a:off x="1219200" y="2928195"/>
            <a:ext cx="16325088" cy="512416"/>
          </a:xfrm>
          <a:prstGeom prst="rect">
            <a:avLst/>
          </a:prstGeom>
        </p:spPr>
        <p:txBody>
          <a:bodyPr anchor="t" rtlCol="false" tIns="0" lIns="0" bIns="0" rIns="0">
            <a:spAutoFit/>
          </a:bodyPr>
          <a:lstStyle/>
          <a:p>
            <a:pPr algn="l">
              <a:lnSpc>
                <a:spcPts val="3510"/>
              </a:lnSpc>
            </a:pPr>
            <a:r>
              <a:rPr lang="en-US" sz="2700" b="true">
                <a:solidFill>
                  <a:srgbClr val="3E42A0"/>
                </a:solidFill>
                <a:latin typeface="DM Sans Bold"/>
                <a:ea typeface="DM Sans Bold"/>
                <a:cs typeface="DM Sans Bold"/>
                <a:sym typeface="DM Sans Bold"/>
              </a:rPr>
              <a:t>Not from scratch. Start with your tool's harness and add a thin layer.</a:t>
            </a:r>
          </a:p>
        </p:txBody>
      </p:sp>
      <p:grpSp>
        <p:nvGrpSpPr>
          <p:cNvPr name="Group 4" id="4"/>
          <p:cNvGrpSpPr/>
          <p:nvPr/>
        </p:nvGrpSpPr>
        <p:grpSpPr>
          <a:xfrm rot="0">
            <a:off x="1219200" y="3783511"/>
            <a:ext cx="4654525" cy="3318196"/>
            <a:chOff x="0" y="0"/>
            <a:chExt cx="6206033" cy="4424261"/>
          </a:xfrm>
        </p:grpSpPr>
        <p:sp>
          <p:nvSpPr>
            <p:cNvPr name="Freeform 5" id="5"/>
            <p:cNvSpPr/>
            <p:nvPr/>
          </p:nvSpPr>
          <p:spPr>
            <a:xfrm flipH="false" flipV="false" rot="0">
              <a:off x="0" y="0"/>
              <a:ext cx="6206109" cy="4424299"/>
            </a:xfrm>
            <a:custGeom>
              <a:avLst/>
              <a:gdLst/>
              <a:ahLst/>
              <a:cxnLst/>
              <a:rect r="r" b="b" t="t" l="l"/>
              <a:pathLst>
                <a:path h="4424299" w="6206109">
                  <a:moveTo>
                    <a:pt x="0" y="304800"/>
                  </a:moveTo>
                  <a:cubicBezTo>
                    <a:pt x="0" y="136398"/>
                    <a:pt x="136398" y="0"/>
                    <a:pt x="304800" y="0"/>
                  </a:cubicBezTo>
                  <a:lnTo>
                    <a:pt x="5901309" y="0"/>
                  </a:lnTo>
                  <a:cubicBezTo>
                    <a:pt x="6069584" y="0"/>
                    <a:pt x="6206109" y="136398"/>
                    <a:pt x="6206109" y="304800"/>
                  </a:cubicBezTo>
                  <a:lnTo>
                    <a:pt x="6206109" y="4119499"/>
                  </a:lnTo>
                  <a:cubicBezTo>
                    <a:pt x="6206109" y="4287774"/>
                    <a:pt x="6069711" y="4424299"/>
                    <a:pt x="5901309" y="4424299"/>
                  </a:cubicBezTo>
                  <a:lnTo>
                    <a:pt x="304800" y="4424299"/>
                  </a:lnTo>
                  <a:cubicBezTo>
                    <a:pt x="136525" y="4424299"/>
                    <a:pt x="0" y="4287901"/>
                    <a:pt x="0" y="4119499"/>
                  </a:cubicBezTo>
                  <a:close/>
                </a:path>
              </a:pathLst>
            </a:custGeom>
            <a:solidFill>
              <a:srgbClr val="ECEDF1"/>
            </a:solidFill>
          </p:spPr>
        </p:sp>
      </p:grpSp>
      <p:sp>
        <p:nvSpPr>
          <p:cNvPr name="TextBox 6" id="6"/>
          <p:cNvSpPr txBox="true"/>
          <p:nvPr/>
        </p:nvSpPr>
        <p:spPr>
          <a:xfrm rot="0">
            <a:off x="1600200" y="4126411"/>
            <a:ext cx="4009301" cy="306705"/>
          </a:xfrm>
          <a:prstGeom prst="rect">
            <a:avLst/>
          </a:prstGeom>
        </p:spPr>
        <p:txBody>
          <a:bodyPr anchor="t" rtlCol="false" tIns="0" lIns="0" bIns="0" rIns="0">
            <a:spAutoFit/>
          </a:bodyPr>
          <a:lstStyle/>
          <a:p>
            <a:pPr algn="l">
              <a:lnSpc>
                <a:spcPts val="2520"/>
              </a:lnSpc>
            </a:pPr>
            <a:r>
              <a:rPr lang="en-US" sz="1800" spc="149">
                <a:solidFill>
                  <a:srgbClr val="4A4F63"/>
                </a:solidFill>
                <a:latin typeface="JetBrains Mono"/>
                <a:ea typeface="JetBrains Mono"/>
                <a:cs typeface="JetBrains Mono"/>
                <a:sym typeface="JetBrains Mono"/>
              </a:rPr>
              <a:t>Option 1</a:t>
            </a:r>
          </a:p>
        </p:txBody>
      </p:sp>
      <p:sp>
        <p:nvSpPr>
          <p:cNvPr name="TextBox 7" id="7"/>
          <p:cNvSpPr txBox="true"/>
          <p:nvPr/>
        </p:nvSpPr>
        <p:spPr>
          <a:xfrm rot="0">
            <a:off x="1600200" y="4551159"/>
            <a:ext cx="4009301"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Use it as is</a:t>
            </a:r>
          </a:p>
        </p:txBody>
      </p:sp>
      <p:sp>
        <p:nvSpPr>
          <p:cNvPr name="TextBox 8" id="8"/>
          <p:cNvSpPr txBox="true"/>
          <p:nvPr/>
        </p:nvSpPr>
        <p:spPr>
          <a:xfrm rot="0">
            <a:off x="1600200" y="5608368"/>
            <a:ext cx="4009301" cy="716166"/>
          </a:xfrm>
          <a:prstGeom prst="rect">
            <a:avLst/>
          </a:prstGeom>
        </p:spPr>
        <p:txBody>
          <a:bodyPr anchor="t" rtlCol="false" tIns="0" lIns="0" bIns="0" rIns="0">
            <a:spAutoFit/>
          </a:bodyPr>
          <a:lstStyle/>
          <a:p>
            <a:pPr algn="l">
              <a:lnSpc>
                <a:spcPts val="2520"/>
              </a:lnSpc>
            </a:pPr>
            <a:r>
              <a:rPr lang="en-US" sz="1800">
                <a:solidFill>
                  <a:srgbClr val="2B2F45"/>
                </a:solidFill>
                <a:latin typeface="DM Sans"/>
                <a:ea typeface="DM Sans"/>
                <a:cs typeface="DM Sans"/>
                <a:sym typeface="DM Sans"/>
              </a:rPr>
              <a:t>Vendors ship the inner harness; users build the outer one around it</a:t>
            </a:r>
          </a:p>
        </p:txBody>
      </p:sp>
      <p:sp>
        <p:nvSpPr>
          <p:cNvPr name="TextBox 9" id="9"/>
          <p:cNvSpPr txBox="true"/>
          <p:nvPr/>
        </p:nvSpPr>
        <p:spPr>
          <a:xfrm rot="0">
            <a:off x="1600200" y="6362624"/>
            <a:ext cx="4009301" cy="396183"/>
          </a:xfrm>
          <a:prstGeom prst="rect">
            <a:avLst/>
          </a:prstGeom>
        </p:spPr>
        <p:txBody>
          <a:bodyPr anchor="t" rtlCol="false" tIns="0" lIns="0" bIns="0" rIns="0">
            <a:spAutoFit/>
          </a:bodyPr>
          <a:lstStyle/>
          <a:p>
            <a:pPr algn="l">
              <a:lnSpc>
                <a:spcPts val="2520"/>
              </a:lnSpc>
            </a:pPr>
            <a:r>
              <a:rPr lang="en-US" sz="1800">
                <a:solidFill>
                  <a:srgbClr val="4D5270"/>
                </a:solidFill>
                <a:latin typeface="DM Sans"/>
                <a:ea typeface="DM Sans"/>
                <a:cs typeface="DM Sans"/>
                <a:sym typeface="DM Sans"/>
              </a:rPr>
              <a:t>Birgitta Böckeler, Apr 2026</a:t>
            </a:r>
          </a:p>
        </p:txBody>
      </p:sp>
      <p:grpSp>
        <p:nvGrpSpPr>
          <p:cNvPr name="Group 10" id="10"/>
          <p:cNvGrpSpPr/>
          <p:nvPr/>
        </p:nvGrpSpPr>
        <p:grpSpPr>
          <a:xfrm rot="0">
            <a:off x="6788125" y="3783511"/>
            <a:ext cx="4692701" cy="3318196"/>
            <a:chOff x="0" y="0"/>
            <a:chExt cx="6256934" cy="4424261"/>
          </a:xfrm>
        </p:grpSpPr>
        <p:sp>
          <p:nvSpPr>
            <p:cNvPr name="Freeform 11" id="11"/>
            <p:cNvSpPr/>
            <p:nvPr/>
          </p:nvSpPr>
          <p:spPr>
            <a:xfrm flipH="false" flipV="false" rot="0">
              <a:off x="0" y="0"/>
              <a:ext cx="6256909" cy="4424172"/>
            </a:xfrm>
            <a:custGeom>
              <a:avLst/>
              <a:gdLst/>
              <a:ahLst/>
              <a:cxnLst/>
              <a:rect r="r" b="b" t="t" l="l"/>
              <a:pathLst>
                <a:path h="4424172" w="6256909">
                  <a:moveTo>
                    <a:pt x="0" y="293751"/>
                  </a:moveTo>
                  <a:cubicBezTo>
                    <a:pt x="0" y="131572"/>
                    <a:pt x="131572" y="0"/>
                    <a:pt x="293751" y="0"/>
                  </a:cubicBezTo>
                  <a:lnTo>
                    <a:pt x="5963158" y="0"/>
                  </a:lnTo>
                  <a:cubicBezTo>
                    <a:pt x="6125464" y="0"/>
                    <a:pt x="6256909" y="131572"/>
                    <a:pt x="6256909" y="293751"/>
                  </a:cubicBezTo>
                  <a:lnTo>
                    <a:pt x="6256909" y="4130421"/>
                  </a:lnTo>
                  <a:cubicBezTo>
                    <a:pt x="6256909" y="4292727"/>
                    <a:pt x="6125337" y="4424172"/>
                    <a:pt x="5963158" y="4424172"/>
                  </a:cubicBezTo>
                  <a:lnTo>
                    <a:pt x="293751" y="4424172"/>
                  </a:lnTo>
                  <a:cubicBezTo>
                    <a:pt x="131572" y="4424299"/>
                    <a:pt x="0" y="4292727"/>
                    <a:pt x="0" y="4130548"/>
                  </a:cubicBezTo>
                  <a:close/>
                </a:path>
              </a:pathLst>
            </a:custGeom>
            <a:solidFill>
              <a:srgbClr val="CFD6F6"/>
            </a:solidFill>
            <a:ln w="19050" cap="sq">
              <a:solidFill>
                <a:srgbClr val="5A5ED6"/>
              </a:solidFill>
              <a:prstDash val="solid"/>
              <a:miter/>
            </a:ln>
          </p:spPr>
        </p:sp>
      </p:grpSp>
      <p:sp>
        <p:nvSpPr>
          <p:cNvPr name="TextBox 12" id="12"/>
          <p:cNvSpPr txBox="true"/>
          <p:nvPr/>
        </p:nvSpPr>
        <p:spPr>
          <a:xfrm rot="0">
            <a:off x="7188175" y="4145461"/>
            <a:ext cx="4009377" cy="306705"/>
          </a:xfrm>
          <a:prstGeom prst="rect">
            <a:avLst/>
          </a:prstGeom>
        </p:spPr>
        <p:txBody>
          <a:bodyPr anchor="t" rtlCol="false" tIns="0" lIns="0" bIns="0" rIns="0">
            <a:spAutoFit/>
          </a:bodyPr>
          <a:lstStyle/>
          <a:p>
            <a:pPr algn="l">
              <a:lnSpc>
                <a:spcPts val="2520"/>
              </a:lnSpc>
            </a:pPr>
            <a:r>
              <a:rPr lang="en-US" sz="1800" spc="149">
                <a:solidFill>
                  <a:srgbClr val="3E42A0"/>
                </a:solidFill>
                <a:latin typeface="JetBrains Mono"/>
                <a:ea typeface="JetBrains Mono"/>
                <a:cs typeface="JetBrains Mono"/>
                <a:sym typeface="JetBrains Mono"/>
              </a:rPr>
              <a:t>Option 2</a:t>
            </a:r>
          </a:p>
        </p:txBody>
      </p:sp>
      <p:sp>
        <p:nvSpPr>
          <p:cNvPr name="TextBox 13" id="13"/>
          <p:cNvSpPr txBox="true"/>
          <p:nvPr/>
        </p:nvSpPr>
        <p:spPr>
          <a:xfrm rot="0">
            <a:off x="7188175" y="4570209"/>
            <a:ext cx="4009377"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Add a thin layer</a:t>
            </a:r>
          </a:p>
        </p:txBody>
      </p:sp>
      <p:sp>
        <p:nvSpPr>
          <p:cNvPr name="TextBox 14" id="14"/>
          <p:cNvSpPr txBox="true"/>
          <p:nvPr/>
        </p:nvSpPr>
        <p:spPr>
          <a:xfrm rot="0">
            <a:off x="7188175" y="5589318"/>
            <a:ext cx="4009377" cy="716166"/>
          </a:xfrm>
          <a:prstGeom prst="rect">
            <a:avLst/>
          </a:prstGeom>
        </p:spPr>
        <p:txBody>
          <a:bodyPr anchor="t" rtlCol="false" tIns="0" lIns="0" bIns="0" rIns="0">
            <a:spAutoFit/>
          </a:bodyPr>
          <a:lstStyle/>
          <a:p>
            <a:pPr algn="l">
              <a:lnSpc>
                <a:spcPts val="2520"/>
              </a:lnSpc>
            </a:pPr>
            <a:r>
              <a:rPr lang="en-US" sz="1800" i="true">
                <a:solidFill>
                  <a:srgbClr val="2B2F45"/>
                </a:solidFill>
                <a:latin typeface="DM Sans Italics"/>
                <a:ea typeface="DM Sans Italics"/>
                <a:cs typeface="DM Sans Italics"/>
                <a:sym typeface="DM Sans Italics"/>
              </a:rPr>
              <a:t>“The best agents might be the ones with the fewest tools.”</a:t>
            </a:r>
          </a:p>
        </p:txBody>
      </p:sp>
      <p:sp>
        <p:nvSpPr>
          <p:cNvPr name="TextBox 15" id="15"/>
          <p:cNvSpPr txBox="true"/>
          <p:nvPr/>
        </p:nvSpPr>
        <p:spPr>
          <a:xfrm rot="0">
            <a:off x="7188175" y="6343574"/>
            <a:ext cx="4009377" cy="396183"/>
          </a:xfrm>
          <a:prstGeom prst="rect">
            <a:avLst/>
          </a:prstGeom>
        </p:spPr>
        <p:txBody>
          <a:bodyPr anchor="t" rtlCol="false" tIns="0" lIns="0" bIns="0" rIns="0">
            <a:spAutoFit/>
          </a:bodyPr>
          <a:lstStyle/>
          <a:p>
            <a:pPr algn="l">
              <a:lnSpc>
                <a:spcPts val="2520"/>
              </a:lnSpc>
            </a:pPr>
            <a:r>
              <a:rPr lang="en-US" sz="1800">
                <a:solidFill>
                  <a:srgbClr val="4D5270"/>
                </a:solidFill>
                <a:latin typeface="DM Sans"/>
                <a:ea typeface="DM Sans"/>
                <a:cs typeface="DM Sans"/>
                <a:sym typeface="DM Sans"/>
              </a:rPr>
              <a:t>Andrew Qu, Vercel, Dec 2025</a:t>
            </a:r>
          </a:p>
        </p:txBody>
      </p:sp>
      <p:grpSp>
        <p:nvGrpSpPr>
          <p:cNvPr name="Group 16" id="16"/>
          <p:cNvGrpSpPr/>
          <p:nvPr/>
        </p:nvGrpSpPr>
        <p:grpSpPr>
          <a:xfrm rot="0">
            <a:off x="12395225" y="3783511"/>
            <a:ext cx="4673575" cy="3318196"/>
            <a:chOff x="0" y="0"/>
            <a:chExt cx="6231433" cy="4424261"/>
          </a:xfrm>
        </p:grpSpPr>
        <p:sp>
          <p:nvSpPr>
            <p:cNvPr name="Freeform 17" id="17"/>
            <p:cNvSpPr/>
            <p:nvPr/>
          </p:nvSpPr>
          <p:spPr>
            <a:xfrm flipH="false" flipV="false" rot="0">
              <a:off x="0" y="0"/>
              <a:ext cx="6231509" cy="4424299"/>
            </a:xfrm>
            <a:custGeom>
              <a:avLst/>
              <a:gdLst/>
              <a:ahLst/>
              <a:cxnLst/>
              <a:rect r="r" b="b" t="t" l="l"/>
              <a:pathLst>
                <a:path h="4424299" w="6231509">
                  <a:moveTo>
                    <a:pt x="0" y="299339"/>
                  </a:moveTo>
                  <a:cubicBezTo>
                    <a:pt x="0" y="133985"/>
                    <a:pt x="133985" y="0"/>
                    <a:pt x="299339" y="0"/>
                  </a:cubicBezTo>
                  <a:lnTo>
                    <a:pt x="5932170" y="0"/>
                  </a:lnTo>
                  <a:cubicBezTo>
                    <a:pt x="6097524" y="0"/>
                    <a:pt x="6231509" y="133985"/>
                    <a:pt x="6231509" y="299339"/>
                  </a:cubicBezTo>
                  <a:lnTo>
                    <a:pt x="6231509" y="4124960"/>
                  </a:lnTo>
                  <a:cubicBezTo>
                    <a:pt x="6231509" y="4290314"/>
                    <a:pt x="6097524" y="4424299"/>
                    <a:pt x="5932170" y="4424299"/>
                  </a:cubicBezTo>
                  <a:lnTo>
                    <a:pt x="299339" y="4424299"/>
                  </a:lnTo>
                  <a:cubicBezTo>
                    <a:pt x="133985" y="4424299"/>
                    <a:pt x="0" y="4290314"/>
                    <a:pt x="0" y="4124960"/>
                  </a:cubicBezTo>
                  <a:close/>
                </a:path>
              </a:pathLst>
            </a:custGeom>
            <a:solidFill>
              <a:srgbClr val="FCFCFE"/>
            </a:solidFill>
            <a:ln w="9525" cap="sq">
              <a:solidFill>
                <a:srgbClr val="E1E4F2"/>
              </a:solidFill>
              <a:prstDash val="solid"/>
              <a:miter/>
            </a:ln>
          </p:spPr>
        </p:sp>
      </p:grpSp>
      <p:sp>
        <p:nvSpPr>
          <p:cNvPr name="TextBox 18" id="18"/>
          <p:cNvSpPr txBox="true"/>
          <p:nvPr/>
        </p:nvSpPr>
        <p:spPr>
          <a:xfrm rot="0">
            <a:off x="12785750" y="4135936"/>
            <a:ext cx="4009301" cy="306705"/>
          </a:xfrm>
          <a:prstGeom prst="rect">
            <a:avLst/>
          </a:prstGeom>
        </p:spPr>
        <p:txBody>
          <a:bodyPr anchor="t" rtlCol="false" tIns="0" lIns="0" bIns="0" rIns="0">
            <a:spAutoFit/>
          </a:bodyPr>
          <a:lstStyle/>
          <a:p>
            <a:pPr algn="l">
              <a:lnSpc>
                <a:spcPts val="2520"/>
              </a:lnSpc>
            </a:pPr>
            <a:r>
              <a:rPr lang="en-US" sz="1800" spc="149">
                <a:solidFill>
                  <a:srgbClr val="4A4F63"/>
                </a:solidFill>
                <a:latin typeface="JetBrains Mono"/>
                <a:ea typeface="JetBrains Mono"/>
                <a:cs typeface="JetBrains Mono"/>
                <a:sym typeface="JetBrains Mono"/>
              </a:rPr>
              <a:t>Option 3</a:t>
            </a:r>
          </a:p>
        </p:txBody>
      </p:sp>
      <p:sp>
        <p:nvSpPr>
          <p:cNvPr name="TextBox 19" id="19"/>
          <p:cNvSpPr txBox="true"/>
          <p:nvPr/>
        </p:nvSpPr>
        <p:spPr>
          <a:xfrm rot="0">
            <a:off x="12785750" y="4560684"/>
            <a:ext cx="4009301" cy="565766"/>
          </a:xfrm>
          <a:prstGeom prst="rect">
            <a:avLst/>
          </a:prstGeom>
        </p:spPr>
        <p:txBody>
          <a:bodyPr anchor="t" rtlCol="false" tIns="0" lIns="0" bIns="0" rIns="0">
            <a:spAutoFit/>
          </a:bodyPr>
          <a:lstStyle/>
          <a:p>
            <a:pPr algn="l">
              <a:lnSpc>
                <a:spcPts val="3779"/>
              </a:lnSpc>
            </a:pPr>
            <a:r>
              <a:rPr lang="en-US" sz="2700" b="true">
                <a:solidFill>
                  <a:srgbClr val="2B2F45"/>
                </a:solidFill>
                <a:latin typeface="DM Sans Bold"/>
                <a:ea typeface="DM Sans Bold"/>
                <a:cs typeface="DM Sans Bold"/>
                <a:sym typeface="DM Sans Bold"/>
              </a:rPr>
              <a:t>Build your own</a:t>
            </a:r>
          </a:p>
        </p:txBody>
      </p:sp>
      <p:sp>
        <p:nvSpPr>
          <p:cNvPr name="TextBox 20" id="20"/>
          <p:cNvSpPr txBox="true"/>
          <p:nvPr/>
        </p:nvSpPr>
        <p:spPr>
          <a:xfrm rot="0">
            <a:off x="12785750" y="5278860"/>
            <a:ext cx="4009301" cy="716166"/>
          </a:xfrm>
          <a:prstGeom prst="rect">
            <a:avLst/>
          </a:prstGeom>
        </p:spPr>
        <p:txBody>
          <a:bodyPr anchor="t" rtlCol="false" tIns="0" lIns="0" bIns="0" rIns="0">
            <a:spAutoFit/>
          </a:bodyPr>
          <a:lstStyle/>
          <a:p>
            <a:pPr algn="l">
              <a:lnSpc>
                <a:spcPts val="2520"/>
              </a:lnSpc>
            </a:pPr>
            <a:r>
              <a:rPr lang="en-US" sz="1800">
                <a:solidFill>
                  <a:srgbClr val="2B2F45"/>
                </a:solidFill>
                <a:latin typeface="DM Sans"/>
                <a:ea typeface="DM Sans"/>
                <a:cs typeface="DM Sans"/>
                <a:sym typeface="DM Sans"/>
              </a:rPr>
              <a:t>OpenAI: ~1M agent-written lines. Anthropic: 6-hour, $200 runs.</a:t>
            </a:r>
          </a:p>
        </p:txBody>
      </p:sp>
      <p:sp>
        <p:nvSpPr>
          <p:cNvPr name="TextBox 21" id="21"/>
          <p:cNvSpPr txBox="true"/>
          <p:nvPr/>
        </p:nvSpPr>
        <p:spPr>
          <a:xfrm rot="0">
            <a:off x="12785750" y="6033116"/>
            <a:ext cx="4009301" cy="716166"/>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OpenAI, Feb 2026; Anthropic, Mar 2026</a:t>
            </a:r>
          </a:p>
        </p:txBody>
      </p:sp>
      <p:sp>
        <p:nvSpPr>
          <p:cNvPr name="TextBox 22" id="22"/>
          <p:cNvSpPr txBox="true"/>
          <p:nvPr/>
        </p:nvSpPr>
        <p:spPr>
          <a:xfrm rot="0">
            <a:off x="1219200" y="7435082"/>
            <a:ext cx="16325088" cy="832399"/>
          </a:xfrm>
          <a:prstGeom prst="rect">
            <a:avLst/>
          </a:prstGeom>
        </p:spPr>
        <p:txBody>
          <a:bodyPr anchor="t" rtlCol="false" tIns="0" lIns="0" bIns="0" rIns="0">
            <a:spAutoFit/>
          </a:bodyPr>
          <a:lstStyle/>
          <a:p>
            <a:pPr algn="l">
              <a:lnSpc>
                <a:spcPts val="2940"/>
              </a:lnSpc>
            </a:pPr>
            <a:r>
              <a:rPr lang="en-US" sz="2100">
                <a:solidFill>
                  <a:srgbClr val="2B2F45"/>
                </a:solidFill>
                <a:latin typeface="DM Sans"/>
                <a:ea typeface="DM Sans"/>
                <a:cs typeface="DM Sans"/>
                <a:sym typeface="DM Sans"/>
              </a:rPr>
              <a:t>Grow it one fix at a time. Each piece </a:t>
            </a:r>
            <a:r>
              <a:rPr lang="en-US" sz="2100" i="true">
                <a:solidFill>
                  <a:srgbClr val="2B2F45"/>
                </a:solidFill>
                <a:latin typeface="DM Sans Italics"/>
                <a:ea typeface="DM Sans Italics"/>
                <a:cs typeface="DM Sans Italics"/>
                <a:sym typeface="DM Sans Italics"/>
              </a:rPr>
              <a:t>“encodes an assumption about what the model can't do on its own”</a:t>
            </a:r>
            <a:r>
              <a:rPr lang="en-US" sz="2100">
                <a:solidFill>
                  <a:srgbClr val="2B2F45"/>
                </a:solidFill>
                <a:latin typeface="DM Sans"/>
                <a:ea typeface="DM Sans"/>
                <a:cs typeface="DM Sans"/>
                <a:sym typeface="DM Sans"/>
              </a:rPr>
              <a:t>: add it when needed, delete it when not. </a:t>
            </a:r>
            <a:r>
              <a:rPr lang="en-US" sz="2100">
                <a:solidFill>
                  <a:srgbClr val="646983"/>
                </a:solidFill>
                <a:latin typeface="DM Sans"/>
                <a:ea typeface="DM Sans"/>
                <a:cs typeface="DM Sans"/>
                <a:sym typeface="DM Sans"/>
              </a:rPr>
              <a:t>· Prithvi Rajasekaran, Anthropic</a:t>
            </a:r>
          </a:p>
        </p:txBody>
      </p:sp>
      <p:sp>
        <p:nvSpPr>
          <p:cNvPr name="TextBox 23" id="23"/>
          <p:cNvSpPr txBox="true"/>
          <p:nvPr/>
        </p:nvSpPr>
        <p:spPr>
          <a:xfrm rot="0">
            <a:off x="1219200" y="9319317"/>
            <a:ext cx="1271177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martinfowler.com (Apr 2026); Vercel (Dec 2025); OpenAI (Feb 2026); Anthropic (Mar 2026)</a:t>
            </a:r>
          </a:p>
        </p:txBody>
      </p:sp>
      <p:sp>
        <p:nvSpPr>
          <p:cNvPr name="TextBox 24" id="24"/>
          <p:cNvSpPr txBox="true"/>
          <p:nvPr/>
        </p:nvSpPr>
        <p:spPr>
          <a:xfrm rot="0">
            <a:off x="16777687" y="9319317"/>
            <a:ext cx="291113"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19</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1668125" cy="680085"/>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Do you need to learn Harness Engineering</a:t>
            </a:r>
          </a:p>
        </p:txBody>
      </p:sp>
      <p:sp>
        <p:nvSpPr>
          <p:cNvPr name="TextBox 3" id="3"/>
          <p:cNvSpPr txBox="true"/>
          <p:nvPr/>
        </p:nvSpPr>
        <p:spPr>
          <a:xfrm rot="0">
            <a:off x="1219200" y="2890018"/>
            <a:ext cx="16325088" cy="512416"/>
          </a:xfrm>
          <a:prstGeom prst="rect">
            <a:avLst/>
          </a:prstGeom>
        </p:spPr>
        <p:txBody>
          <a:bodyPr anchor="t" rtlCol="false" tIns="0" lIns="0" bIns="0" rIns="0">
            <a:spAutoFit/>
          </a:bodyPr>
          <a:lstStyle/>
          <a:p>
            <a:pPr algn="l">
              <a:lnSpc>
                <a:spcPts val="3510"/>
              </a:lnSpc>
            </a:pPr>
            <a:r>
              <a:rPr lang="en-US" sz="2700" b="true">
                <a:solidFill>
                  <a:srgbClr val="3E42A0"/>
                </a:solidFill>
                <a:latin typeface="DM Sans Bold"/>
                <a:ea typeface="DM Sans Bold"/>
                <a:cs typeface="DM Sans Bold"/>
                <a:sym typeface="DM Sans Bold"/>
              </a:rPr>
              <a:t>Yes, enough to steer one. Not to build one from scratch.</a:t>
            </a:r>
          </a:p>
        </p:txBody>
      </p:sp>
      <p:sp>
        <p:nvSpPr>
          <p:cNvPr name="TextBox 4" id="4"/>
          <p:cNvSpPr txBox="true"/>
          <p:nvPr/>
        </p:nvSpPr>
        <p:spPr>
          <a:xfrm rot="0">
            <a:off x="1219200" y="3402435"/>
            <a:ext cx="16325088" cy="396183"/>
          </a:xfrm>
          <a:prstGeom prst="rect">
            <a:avLst/>
          </a:prstGeom>
        </p:spPr>
        <p:txBody>
          <a:bodyPr anchor="t" rtlCol="false" tIns="0" lIns="0" bIns="0" rIns="0">
            <a:spAutoFit/>
          </a:bodyPr>
          <a:lstStyle/>
          <a:p>
            <a:pPr algn="l">
              <a:lnSpc>
                <a:spcPts val="2520"/>
              </a:lnSpc>
            </a:pPr>
            <a:r>
              <a:rPr lang="en-US" sz="1800" i="true">
                <a:solidFill>
                  <a:srgbClr val="646983"/>
                </a:solidFill>
                <a:latin typeface="DM Sans Italics"/>
                <a:ea typeface="DM Sans Italics"/>
                <a:cs typeface="DM Sans Italics"/>
                <a:sym typeface="DM Sans Italics"/>
              </a:rPr>
              <a:t>“Humans steer. Agents execute.”</a:t>
            </a:r>
            <a:r>
              <a:rPr lang="en-US" sz="1800">
                <a:solidFill>
                  <a:srgbClr val="646983"/>
                </a:solidFill>
                <a:latin typeface="DM Sans"/>
                <a:ea typeface="DM Sans"/>
                <a:cs typeface="DM Sans"/>
                <a:sym typeface="DM Sans"/>
              </a:rPr>
              <a:t> · Ryan Lopopolo, OpenAI</a:t>
            </a:r>
          </a:p>
        </p:txBody>
      </p:sp>
      <p:grpSp>
        <p:nvGrpSpPr>
          <p:cNvPr name="Group 5" id="5"/>
          <p:cNvGrpSpPr/>
          <p:nvPr/>
        </p:nvGrpSpPr>
        <p:grpSpPr>
          <a:xfrm rot="0">
            <a:off x="1219200" y="4217718"/>
            <a:ext cx="5079949" cy="4049763"/>
            <a:chOff x="0" y="0"/>
            <a:chExt cx="6773266" cy="5399684"/>
          </a:xfrm>
        </p:grpSpPr>
        <p:sp>
          <p:nvSpPr>
            <p:cNvPr name="Freeform 6" id="6"/>
            <p:cNvSpPr/>
            <p:nvPr/>
          </p:nvSpPr>
          <p:spPr>
            <a:xfrm flipH="false" flipV="false" rot="0">
              <a:off x="0" y="0"/>
              <a:ext cx="6773164" cy="5399659"/>
            </a:xfrm>
            <a:custGeom>
              <a:avLst/>
              <a:gdLst/>
              <a:ahLst/>
              <a:cxnLst/>
              <a:rect r="r" b="b" t="t" l="l"/>
              <a:pathLst>
                <a:path h="5399659" w="6773164">
                  <a:moveTo>
                    <a:pt x="0" y="299085"/>
                  </a:moveTo>
                  <a:cubicBezTo>
                    <a:pt x="0" y="133985"/>
                    <a:pt x="133985" y="0"/>
                    <a:pt x="299085" y="0"/>
                  </a:cubicBezTo>
                  <a:lnTo>
                    <a:pt x="6474079" y="0"/>
                  </a:lnTo>
                  <a:cubicBezTo>
                    <a:pt x="6639306" y="0"/>
                    <a:pt x="6773164" y="133985"/>
                    <a:pt x="6773164" y="299085"/>
                  </a:cubicBezTo>
                  <a:lnTo>
                    <a:pt x="6773164" y="5100574"/>
                  </a:lnTo>
                  <a:cubicBezTo>
                    <a:pt x="6773164" y="5265801"/>
                    <a:pt x="6639178" y="5399659"/>
                    <a:pt x="6474079" y="5399659"/>
                  </a:cubicBezTo>
                  <a:lnTo>
                    <a:pt x="299085" y="5399659"/>
                  </a:lnTo>
                  <a:cubicBezTo>
                    <a:pt x="133985" y="5399659"/>
                    <a:pt x="0" y="5265801"/>
                    <a:pt x="0" y="5100574"/>
                  </a:cubicBezTo>
                  <a:close/>
                </a:path>
              </a:pathLst>
            </a:custGeom>
            <a:solidFill>
              <a:srgbClr val="FCFCFE"/>
            </a:solidFill>
            <a:ln w="9525" cap="sq">
              <a:solidFill>
                <a:srgbClr val="E1E4F2"/>
              </a:solidFill>
              <a:prstDash val="solid"/>
              <a:miter/>
            </a:ln>
          </p:spPr>
        </p:sp>
      </p:grpSp>
      <p:grpSp>
        <p:nvGrpSpPr>
          <p:cNvPr name="Group 7" id="7"/>
          <p:cNvGrpSpPr/>
          <p:nvPr/>
        </p:nvGrpSpPr>
        <p:grpSpPr>
          <a:xfrm rot="0">
            <a:off x="1685925" y="4684443"/>
            <a:ext cx="533400" cy="533400"/>
            <a:chOff x="0" y="0"/>
            <a:chExt cx="711200" cy="711200"/>
          </a:xfrm>
        </p:grpSpPr>
        <p:sp>
          <p:nvSpPr>
            <p:cNvPr name="Freeform 8" id="8" descr="Chart"/>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3"/>
              <a:stretch>
                <a:fillRect l="0" t="0" r="0" b="0"/>
              </a:stretch>
            </a:blipFill>
          </p:spPr>
        </p:sp>
      </p:grpSp>
      <p:sp>
        <p:nvSpPr>
          <p:cNvPr name="TextBox 9" id="9"/>
          <p:cNvSpPr txBox="true"/>
          <p:nvPr/>
        </p:nvSpPr>
        <p:spPr>
          <a:xfrm rot="0">
            <a:off x="1685925" y="5341668"/>
            <a:ext cx="4270896" cy="7600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It changes results as much as the model</a:t>
            </a:r>
          </a:p>
        </p:txBody>
      </p:sp>
      <p:sp>
        <p:nvSpPr>
          <p:cNvPr name="TextBox 10" id="10"/>
          <p:cNvSpPr txBox="true"/>
          <p:nvPr/>
        </p:nvSpPr>
        <p:spPr>
          <a:xfrm rot="0">
            <a:off x="1685925" y="6330334"/>
            <a:ext cx="4270896" cy="1036139"/>
          </a:xfrm>
          <a:prstGeom prst="rect">
            <a:avLst/>
          </a:prstGeom>
        </p:spPr>
        <p:txBody>
          <a:bodyPr anchor="t" rtlCol="false" tIns="0" lIns="0" bIns="0" rIns="0">
            <a:spAutoFit/>
          </a:bodyPr>
          <a:lstStyle/>
          <a:p>
            <a:pPr algn="l">
              <a:lnSpc>
                <a:spcPts val="2520"/>
              </a:lnSpc>
            </a:pPr>
            <a:r>
              <a:rPr lang="en-US" sz="1800">
                <a:solidFill>
                  <a:srgbClr val="2B2F45"/>
                </a:solidFill>
                <a:latin typeface="DM Sans"/>
                <a:ea typeface="DM Sans"/>
                <a:cs typeface="DM Sans"/>
                <a:sym typeface="DM Sans"/>
              </a:rPr>
              <a:t>Same model, only the harness changed: 52.8% to 66.5% on Terminal-Bench 2.0</a:t>
            </a:r>
          </a:p>
        </p:txBody>
      </p:sp>
      <p:sp>
        <p:nvSpPr>
          <p:cNvPr name="TextBox 11" id="11"/>
          <p:cNvSpPr txBox="true"/>
          <p:nvPr/>
        </p:nvSpPr>
        <p:spPr>
          <a:xfrm rot="0">
            <a:off x="1685925" y="7442673"/>
            <a:ext cx="4270896"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LangChain, Feb 2026</a:t>
            </a:r>
          </a:p>
        </p:txBody>
      </p:sp>
      <p:grpSp>
        <p:nvGrpSpPr>
          <p:cNvPr name="Group 12" id="12"/>
          <p:cNvGrpSpPr/>
          <p:nvPr/>
        </p:nvGrpSpPr>
        <p:grpSpPr>
          <a:xfrm rot="0">
            <a:off x="6603949" y="4217718"/>
            <a:ext cx="5080025" cy="4049763"/>
            <a:chOff x="0" y="0"/>
            <a:chExt cx="6773367" cy="5399684"/>
          </a:xfrm>
        </p:grpSpPr>
        <p:sp>
          <p:nvSpPr>
            <p:cNvPr name="Freeform 13" id="13"/>
            <p:cNvSpPr/>
            <p:nvPr/>
          </p:nvSpPr>
          <p:spPr>
            <a:xfrm flipH="false" flipV="false" rot="0">
              <a:off x="0" y="0"/>
              <a:ext cx="6773291" cy="5399659"/>
            </a:xfrm>
            <a:custGeom>
              <a:avLst/>
              <a:gdLst/>
              <a:ahLst/>
              <a:cxnLst/>
              <a:rect r="r" b="b" t="t" l="l"/>
              <a:pathLst>
                <a:path h="5399659" w="6773291">
                  <a:moveTo>
                    <a:pt x="0" y="299085"/>
                  </a:moveTo>
                  <a:cubicBezTo>
                    <a:pt x="0" y="133985"/>
                    <a:pt x="133985" y="0"/>
                    <a:pt x="299085" y="0"/>
                  </a:cubicBezTo>
                  <a:lnTo>
                    <a:pt x="6474206" y="0"/>
                  </a:lnTo>
                  <a:cubicBezTo>
                    <a:pt x="6639433" y="0"/>
                    <a:pt x="6773291" y="133985"/>
                    <a:pt x="6773291" y="299085"/>
                  </a:cubicBezTo>
                  <a:lnTo>
                    <a:pt x="6773291" y="5100574"/>
                  </a:lnTo>
                  <a:cubicBezTo>
                    <a:pt x="6773291" y="5265801"/>
                    <a:pt x="6639306" y="5399659"/>
                    <a:pt x="6474206" y="5399659"/>
                  </a:cubicBezTo>
                  <a:lnTo>
                    <a:pt x="299085" y="5399659"/>
                  </a:lnTo>
                  <a:cubicBezTo>
                    <a:pt x="133985" y="5399659"/>
                    <a:pt x="0" y="5265801"/>
                    <a:pt x="0" y="5100574"/>
                  </a:cubicBezTo>
                  <a:close/>
                </a:path>
              </a:pathLst>
            </a:custGeom>
            <a:solidFill>
              <a:srgbClr val="FCFCFE"/>
            </a:solidFill>
            <a:ln w="9525" cap="sq">
              <a:solidFill>
                <a:srgbClr val="E1E4F2"/>
              </a:solidFill>
              <a:prstDash val="solid"/>
              <a:miter/>
            </a:ln>
          </p:spPr>
        </p:sp>
      </p:grpSp>
      <p:grpSp>
        <p:nvGrpSpPr>
          <p:cNvPr name="Group 14" id="14"/>
          <p:cNvGrpSpPr/>
          <p:nvPr/>
        </p:nvGrpSpPr>
        <p:grpSpPr>
          <a:xfrm rot="0">
            <a:off x="7070674" y="4684443"/>
            <a:ext cx="533400" cy="533400"/>
            <a:chOff x="0" y="0"/>
            <a:chExt cx="711200" cy="711200"/>
          </a:xfrm>
        </p:grpSpPr>
        <p:sp>
          <p:nvSpPr>
            <p:cNvPr name="Freeform 15" id="15" descr="Wrench"/>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4"/>
              <a:stretch>
                <a:fillRect l="0" t="0" r="0" b="0"/>
              </a:stretch>
            </a:blipFill>
          </p:spPr>
        </p:sp>
      </p:grpSp>
      <p:sp>
        <p:nvSpPr>
          <p:cNvPr name="TextBox 16" id="16"/>
          <p:cNvSpPr txBox="true"/>
          <p:nvPr/>
        </p:nvSpPr>
        <p:spPr>
          <a:xfrm rot="0">
            <a:off x="7070674" y="5341668"/>
            <a:ext cx="4270972" cy="4133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You already have one</a:t>
            </a:r>
          </a:p>
        </p:txBody>
      </p:sp>
      <p:sp>
        <p:nvSpPr>
          <p:cNvPr name="TextBox 17" id="17"/>
          <p:cNvSpPr txBox="true"/>
          <p:nvPr/>
        </p:nvSpPr>
        <p:spPr>
          <a:xfrm rot="0">
            <a:off x="7070674" y="6650307"/>
            <a:ext cx="4270972" cy="716166"/>
          </a:xfrm>
          <a:prstGeom prst="rect">
            <a:avLst/>
          </a:prstGeom>
        </p:spPr>
        <p:txBody>
          <a:bodyPr anchor="t" rtlCol="false" tIns="0" lIns="0" bIns="0" rIns="0">
            <a:spAutoFit/>
          </a:bodyPr>
          <a:lstStyle/>
          <a:p>
            <a:pPr algn="l">
              <a:lnSpc>
                <a:spcPts val="2520"/>
              </a:lnSpc>
            </a:pPr>
            <a:r>
              <a:rPr lang="en-US" sz="1800" i="true">
                <a:solidFill>
                  <a:srgbClr val="2B2F45"/>
                </a:solidFill>
                <a:latin typeface="DM Sans Italics"/>
                <a:ea typeface="DM Sans Italics"/>
                <a:cs typeface="DM Sans Italics"/>
                <a:sym typeface="DM Sans Italics"/>
              </a:rPr>
              <a:t>“If you're not the model, you're the harness.”</a:t>
            </a:r>
          </a:p>
        </p:txBody>
      </p:sp>
      <p:sp>
        <p:nvSpPr>
          <p:cNvPr name="TextBox 18" id="18"/>
          <p:cNvSpPr txBox="true"/>
          <p:nvPr/>
        </p:nvSpPr>
        <p:spPr>
          <a:xfrm rot="0">
            <a:off x="7070674" y="7442673"/>
            <a:ext cx="4270972"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Vivek Trivedy, LangChain, Mar 2026</a:t>
            </a:r>
          </a:p>
        </p:txBody>
      </p:sp>
      <p:grpSp>
        <p:nvGrpSpPr>
          <p:cNvPr name="Group 19" id="19"/>
          <p:cNvGrpSpPr/>
          <p:nvPr/>
        </p:nvGrpSpPr>
        <p:grpSpPr>
          <a:xfrm rot="0">
            <a:off x="11988775" y="4217718"/>
            <a:ext cx="5080025" cy="4049763"/>
            <a:chOff x="0" y="0"/>
            <a:chExt cx="6773367" cy="5399684"/>
          </a:xfrm>
        </p:grpSpPr>
        <p:sp>
          <p:nvSpPr>
            <p:cNvPr name="Freeform 20" id="20"/>
            <p:cNvSpPr/>
            <p:nvPr/>
          </p:nvSpPr>
          <p:spPr>
            <a:xfrm flipH="false" flipV="false" rot="0">
              <a:off x="0" y="0"/>
              <a:ext cx="6773291" cy="5399659"/>
            </a:xfrm>
            <a:custGeom>
              <a:avLst/>
              <a:gdLst/>
              <a:ahLst/>
              <a:cxnLst/>
              <a:rect r="r" b="b" t="t" l="l"/>
              <a:pathLst>
                <a:path h="5399659" w="6773291">
                  <a:moveTo>
                    <a:pt x="0" y="299085"/>
                  </a:moveTo>
                  <a:cubicBezTo>
                    <a:pt x="0" y="133985"/>
                    <a:pt x="133985" y="0"/>
                    <a:pt x="299085" y="0"/>
                  </a:cubicBezTo>
                  <a:lnTo>
                    <a:pt x="6474206" y="0"/>
                  </a:lnTo>
                  <a:cubicBezTo>
                    <a:pt x="6639433" y="0"/>
                    <a:pt x="6773291" y="133985"/>
                    <a:pt x="6773291" y="299085"/>
                  </a:cubicBezTo>
                  <a:lnTo>
                    <a:pt x="6773291" y="5100574"/>
                  </a:lnTo>
                  <a:cubicBezTo>
                    <a:pt x="6773291" y="5265801"/>
                    <a:pt x="6639306" y="5399659"/>
                    <a:pt x="6474206" y="5399659"/>
                  </a:cubicBezTo>
                  <a:lnTo>
                    <a:pt x="299085" y="5399659"/>
                  </a:lnTo>
                  <a:cubicBezTo>
                    <a:pt x="133985" y="5399659"/>
                    <a:pt x="0" y="5265801"/>
                    <a:pt x="0" y="5100574"/>
                  </a:cubicBezTo>
                  <a:close/>
                </a:path>
              </a:pathLst>
            </a:custGeom>
            <a:solidFill>
              <a:srgbClr val="FCFCFE"/>
            </a:solidFill>
            <a:ln w="9525" cap="sq">
              <a:solidFill>
                <a:srgbClr val="E1E4F2"/>
              </a:solidFill>
              <a:prstDash val="solid"/>
              <a:miter/>
            </a:ln>
          </p:spPr>
        </p:sp>
      </p:grpSp>
      <p:grpSp>
        <p:nvGrpSpPr>
          <p:cNvPr name="Group 21" id="21"/>
          <p:cNvGrpSpPr/>
          <p:nvPr/>
        </p:nvGrpSpPr>
        <p:grpSpPr>
          <a:xfrm rot="0">
            <a:off x="12455500" y="4684443"/>
            <a:ext cx="533400" cy="533400"/>
            <a:chOff x="0" y="0"/>
            <a:chExt cx="711200" cy="711200"/>
          </a:xfrm>
        </p:grpSpPr>
        <p:sp>
          <p:nvSpPr>
            <p:cNvPr name="Freeform 22" id="22" descr="Search"/>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5"/>
              <a:stretch>
                <a:fillRect l="0" t="0" r="0" b="0"/>
              </a:stretch>
            </a:blipFill>
          </p:spPr>
        </p:sp>
      </p:grpSp>
      <p:sp>
        <p:nvSpPr>
          <p:cNvPr name="TextBox 23" id="23"/>
          <p:cNvSpPr txBox="true"/>
          <p:nvPr/>
        </p:nvSpPr>
        <p:spPr>
          <a:xfrm rot="0">
            <a:off x="12455500" y="5341668"/>
            <a:ext cx="4270972" cy="413366"/>
          </a:xfrm>
          <a:prstGeom prst="rect">
            <a:avLst/>
          </a:prstGeom>
        </p:spPr>
        <p:txBody>
          <a:bodyPr anchor="t" rtlCol="false" tIns="0" lIns="0" bIns="0" rIns="0">
            <a:spAutoFit/>
          </a:bodyPr>
          <a:lstStyle/>
          <a:p>
            <a:pPr algn="l">
              <a:lnSpc>
                <a:spcPts val="2730"/>
              </a:lnSpc>
            </a:pPr>
            <a:r>
              <a:rPr lang="en-US" sz="2100" b="true">
                <a:solidFill>
                  <a:srgbClr val="2B2F45"/>
                </a:solidFill>
                <a:latin typeface="DM Sans Bold"/>
                <a:ea typeface="DM Sans Bold"/>
                <a:cs typeface="DM Sans Bold"/>
                <a:sym typeface="DM Sans Bold"/>
              </a:rPr>
              <a:t>It tells you what to fix</a:t>
            </a:r>
          </a:p>
        </p:txBody>
      </p:sp>
      <p:sp>
        <p:nvSpPr>
          <p:cNvPr name="TextBox 24" id="24"/>
          <p:cNvSpPr txBox="true"/>
          <p:nvPr/>
        </p:nvSpPr>
        <p:spPr>
          <a:xfrm rot="0">
            <a:off x="12455500" y="6330334"/>
            <a:ext cx="4270972" cy="1036139"/>
          </a:xfrm>
          <a:prstGeom prst="rect">
            <a:avLst/>
          </a:prstGeom>
        </p:spPr>
        <p:txBody>
          <a:bodyPr anchor="t" rtlCol="false" tIns="0" lIns="0" bIns="0" rIns="0">
            <a:spAutoFit/>
          </a:bodyPr>
          <a:lstStyle/>
          <a:p>
            <a:pPr algn="l">
              <a:lnSpc>
                <a:spcPts val="2520"/>
              </a:lnSpc>
            </a:pPr>
            <a:r>
              <a:rPr lang="en-US" sz="1800" i="true">
                <a:solidFill>
                  <a:srgbClr val="2B2F45"/>
                </a:solidFill>
                <a:latin typeface="DM Sans Italics"/>
                <a:ea typeface="DM Sans Italics"/>
                <a:cs typeface="DM Sans Italics"/>
                <a:sym typeface="DM Sans Italics"/>
              </a:rPr>
              <a:t>“…engineer a solution such that the agent never makes that mistake again.”</a:t>
            </a:r>
          </a:p>
        </p:txBody>
      </p:sp>
      <p:sp>
        <p:nvSpPr>
          <p:cNvPr name="TextBox 25" id="25"/>
          <p:cNvSpPr txBox="true"/>
          <p:nvPr/>
        </p:nvSpPr>
        <p:spPr>
          <a:xfrm rot="0">
            <a:off x="12455500" y="7442673"/>
            <a:ext cx="4270972"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Mitchell Hashimoto, Feb 2026</a:t>
            </a:r>
          </a:p>
        </p:txBody>
      </p:sp>
      <p:sp>
        <p:nvSpPr>
          <p:cNvPr name="TextBox 26" id="26"/>
          <p:cNvSpPr txBox="true"/>
          <p:nvPr/>
        </p:nvSpPr>
        <p:spPr>
          <a:xfrm rot="0">
            <a:off x="1219200" y="9319317"/>
            <a:ext cx="13416782"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Sources: OpenAI, “Harness engineering” (Feb 2026); LangChain (Feb, Mar 2026); mitchellh.com (Feb 2026)</a:t>
            </a:r>
          </a:p>
        </p:txBody>
      </p:sp>
      <p:sp>
        <p:nvSpPr>
          <p:cNvPr name="TextBox 27" id="27"/>
          <p:cNvSpPr txBox="true"/>
          <p:nvPr/>
        </p:nvSpPr>
        <p:spPr>
          <a:xfrm rot="0">
            <a:off x="16782231" y="9319317"/>
            <a:ext cx="286569"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18</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6FB"/>
        </a:solidFill>
      </p:bgPr>
    </p:bg>
    <p:spTree>
      <p:nvGrpSpPr>
        <p:cNvPr id="1" name=""/>
        <p:cNvGrpSpPr/>
        <p:nvPr/>
      </p:nvGrpSpPr>
      <p:grpSpPr>
        <a:xfrm>
          <a:off x="0" y="0"/>
          <a:ext cx="0" cy="0"/>
          <a:chOff x="0" y="0"/>
          <a:chExt cx="0" cy="0"/>
        </a:xfrm>
      </p:grpSpPr>
      <p:sp>
        <p:nvSpPr>
          <p:cNvPr name="TextBox 2" id="2"/>
          <p:cNvSpPr txBox="true"/>
          <p:nvPr/>
        </p:nvSpPr>
        <p:spPr>
          <a:xfrm rot="0">
            <a:off x="1219200" y="1266825"/>
            <a:ext cx="13286631" cy="680085"/>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For more in-depth illustrations and discussions</a:t>
            </a:r>
          </a:p>
        </p:txBody>
      </p:sp>
      <p:grpSp>
        <p:nvGrpSpPr>
          <p:cNvPr name="Group 3" id="3"/>
          <p:cNvGrpSpPr/>
          <p:nvPr/>
        </p:nvGrpSpPr>
        <p:grpSpPr>
          <a:xfrm rot="0">
            <a:off x="1219200" y="2994870"/>
            <a:ext cx="7810500" cy="1946748"/>
            <a:chOff x="0" y="0"/>
            <a:chExt cx="10414000" cy="2595664"/>
          </a:xfrm>
        </p:grpSpPr>
        <p:sp>
          <p:nvSpPr>
            <p:cNvPr name="Freeform 4" id="4"/>
            <p:cNvSpPr/>
            <p:nvPr/>
          </p:nvSpPr>
          <p:spPr>
            <a:xfrm flipH="false" flipV="false" rot="0">
              <a:off x="0" y="0"/>
              <a:ext cx="10414000" cy="2595753"/>
            </a:xfrm>
            <a:custGeom>
              <a:avLst/>
              <a:gdLst/>
              <a:ahLst/>
              <a:cxnLst/>
              <a:rect r="r" b="b" t="t" l="l"/>
              <a:pathLst>
                <a:path h="2595753" w="10414000">
                  <a:moveTo>
                    <a:pt x="0" y="299974"/>
                  </a:moveTo>
                  <a:cubicBezTo>
                    <a:pt x="0" y="134239"/>
                    <a:pt x="134239" y="0"/>
                    <a:pt x="299974" y="0"/>
                  </a:cubicBezTo>
                  <a:lnTo>
                    <a:pt x="10114026" y="0"/>
                  </a:lnTo>
                  <a:cubicBezTo>
                    <a:pt x="10279761" y="0"/>
                    <a:pt x="10414000" y="134239"/>
                    <a:pt x="10414000" y="299974"/>
                  </a:cubicBezTo>
                  <a:lnTo>
                    <a:pt x="10414000" y="2295779"/>
                  </a:lnTo>
                  <a:cubicBezTo>
                    <a:pt x="10414000" y="2461387"/>
                    <a:pt x="10279761" y="2595753"/>
                    <a:pt x="10114026" y="2595753"/>
                  </a:cubicBezTo>
                  <a:lnTo>
                    <a:pt x="299974" y="2595753"/>
                  </a:lnTo>
                  <a:cubicBezTo>
                    <a:pt x="134239" y="2595626"/>
                    <a:pt x="0" y="2461387"/>
                    <a:pt x="0" y="2295779"/>
                  </a:cubicBezTo>
                  <a:close/>
                </a:path>
              </a:pathLst>
            </a:custGeom>
            <a:solidFill>
              <a:srgbClr val="FCFCFE"/>
            </a:solidFill>
            <a:ln w="9525" cap="sq">
              <a:solidFill>
                <a:srgbClr val="E1E4F2"/>
              </a:solidFill>
              <a:prstDash val="solid"/>
              <a:miter/>
            </a:ln>
          </p:spPr>
        </p:sp>
      </p:grpSp>
      <p:grpSp>
        <p:nvGrpSpPr>
          <p:cNvPr name="Group 5" id="5"/>
          <p:cNvGrpSpPr/>
          <p:nvPr/>
        </p:nvGrpSpPr>
        <p:grpSpPr>
          <a:xfrm rot="0">
            <a:off x="1609725" y="3385395"/>
            <a:ext cx="457200" cy="457200"/>
            <a:chOff x="0" y="0"/>
            <a:chExt cx="609600" cy="609600"/>
          </a:xfrm>
        </p:grpSpPr>
        <p:sp>
          <p:nvSpPr>
            <p:cNvPr name="Freeform 6" id="6" descr="Lin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7" id="7"/>
          <p:cNvSpPr txBox="true"/>
          <p:nvPr/>
        </p:nvSpPr>
        <p:spPr>
          <a:xfrm rot="0">
            <a:off x="2295525" y="3337770"/>
            <a:ext cx="6533960" cy="737235"/>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Harn</a:t>
            </a:r>
            <a:r>
              <a:rPr lang="en-US" sz="2100" b="true">
                <a:solidFill>
                  <a:srgbClr val="2B2F45"/>
                </a:solidFill>
                <a:latin typeface="DM Sans Bold"/>
                <a:ea typeface="DM Sans Bold"/>
                <a:cs typeface="DM Sans Bold"/>
                <a:sym typeface="DM Sans Bold"/>
              </a:rPr>
              <a:t>ess engineering for coding agent users</a:t>
            </a:r>
          </a:p>
          <a:p>
            <a:pPr algn="l">
              <a:lnSpc>
                <a:spcPts val="2940"/>
              </a:lnSpc>
            </a:pPr>
          </a:p>
        </p:txBody>
      </p:sp>
      <p:sp>
        <p:nvSpPr>
          <p:cNvPr name="TextBox 8" id="8"/>
          <p:cNvSpPr txBox="true"/>
          <p:nvPr/>
        </p:nvSpPr>
        <p:spPr>
          <a:xfrm rot="0">
            <a:off x="2295525" y="3796827"/>
            <a:ext cx="653396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Birgitta Böckeler, martinfowler.com, Apr 2026</a:t>
            </a:r>
          </a:p>
        </p:txBody>
      </p:sp>
      <p:sp>
        <p:nvSpPr>
          <p:cNvPr name="TextBox 9" id="9"/>
          <p:cNvSpPr txBox="true"/>
          <p:nvPr/>
        </p:nvSpPr>
        <p:spPr>
          <a:xfrm rot="0">
            <a:off x="2295525" y="4193010"/>
            <a:ext cx="6533960" cy="396183"/>
          </a:xfrm>
          <a:prstGeom prst="rect">
            <a:avLst/>
          </a:prstGeom>
        </p:spPr>
        <p:txBody>
          <a:bodyPr anchor="t" rtlCol="false" tIns="0" lIns="0" bIns="0" rIns="0">
            <a:spAutoFit/>
          </a:bodyPr>
          <a:lstStyle/>
          <a:p>
            <a:pPr algn="l">
              <a:lnSpc>
                <a:spcPts val="2520"/>
              </a:lnSpc>
            </a:pPr>
            <a:r>
              <a:rPr lang="en-US" sz="1800" u="sng">
                <a:solidFill>
                  <a:srgbClr val="2B2F45"/>
                </a:solidFill>
                <a:latin typeface="DM Sans"/>
                <a:ea typeface="DM Sans"/>
                <a:cs typeface="DM Sans"/>
                <a:sym typeface="DM Sans"/>
                <a:hlinkClick r:id="rId4" tooltip="https://martinfowler.com/articles/harness-engineering.html"/>
              </a:rPr>
              <a:t>Open the article</a:t>
            </a:r>
          </a:p>
        </p:txBody>
      </p:sp>
      <p:grpSp>
        <p:nvGrpSpPr>
          <p:cNvPr name="Group 10" id="10"/>
          <p:cNvGrpSpPr/>
          <p:nvPr/>
        </p:nvGrpSpPr>
        <p:grpSpPr>
          <a:xfrm rot="0">
            <a:off x="9258300" y="2994870"/>
            <a:ext cx="7810500" cy="1946748"/>
            <a:chOff x="0" y="0"/>
            <a:chExt cx="10414000" cy="2595664"/>
          </a:xfrm>
        </p:grpSpPr>
        <p:sp>
          <p:nvSpPr>
            <p:cNvPr name="Freeform 11" id="11"/>
            <p:cNvSpPr/>
            <p:nvPr/>
          </p:nvSpPr>
          <p:spPr>
            <a:xfrm flipH="false" flipV="false" rot="0">
              <a:off x="0" y="0"/>
              <a:ext cx="10414000" cy="2595753"/>
            </a:xfrm>
            <a:custGeom>
              <a:avLst/>
              <a:gdLst/>
              <a:ahLst/>
              <a:cxnLst/>
              <a:rect r="r" b="b" t="t" l="l"/>
              <a:pathLst>
                <a:path h="2595753" w="10414000">
                  <a:moveTo>
                    <a:pt x="0" y="299974"/>
                  </a:moveTo>
                  <a:cubicBezTo>
                    <a:pt x="0" y="134239"/>
                    <a:pt x="134239" y="0"/>
                    <a:pt x="299974" y="0"/>
                  </a:cubicBezTo>
                  <a:lnTo>
                    <a:pt x="10114026" y="0"/>
                  </a:lnTo>
                  <a:cubicBezTo>
                    <a:pt x="10279761" y="0"/>
                    <a:pt x="10414000" y="134239"/>
                    <a:pt x="10414000" y="299974"/>
                  </a:cubicBezTo>
                  <a:lnTo>
                    <a:pt x="10414000" y="2295779"/>
                  </a:lnTo>
                  <a:cubicBezTo>
                    <a:pt x="10414000" y="2461387"/>
                    <a:pt x="10279761" y="2595753"/>
                    <a:pt x="10114026" y="2595753"/>
                  </a:cubicBezTo>
                  <a:lnTo>
                    <a:pt x="299974" y="2595753"/>
                  </a:lnTo>
                  <a:cubicBezTo>
                    <a:pt x="134239" y="2595626"/>
                    <a:pt x="0" y="2461387"/>
                    <a:pt x="0" y="2295779"/>
                  </a:cubicBezTo>
                  <a:close/>
                </a:path>
              </a:pathLst>
            </a:custGeom>
            <a:solidFill>
              <a:srgbClr val="FCFCFE"/>
            </a:solidFill>
            <a:ln w="9525" cap="sq">
              <a:solidFill>
                <a:srgbClr val="E1E4F2"/>
              </a:solidFill>
              <a:prstDash val="solid"/>
              <a:miter/>
            </a:ln>
          </p:spPr>
        </p:sp>
      </p:grpSp>
      <p:grpSp>
        <p:nvGrpSpPr>
          <p:cNvPr name="Group 12" id="12"/>
          <p:cNvGrpSpPr/>
          <p:nvPr/>
        </p:nvGrpSpPr>
        <p:grpSpPr>
          <a:xfrm rot="0">
            <a:off x="9648825" y="3385395"/>
            <a:ext cx="457200" cy="457200"/>
            <a:chOff x="0" y="0"/>
            <a:chExt cx="609600" cy="609600"/>
          </a:xfrm>
        </p:grpSpPr>
        <p:sp>
          <p:nvSpPr>
            <p:cNvPr name="Freeform 13" id="13" descr="Lin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14" id="14"/>
          <p:cNvSpPr txBox="true"/>
          <p:nvPr/>
        </p:nvSpPr>
        <p:spPr>
          <a:xfrm rot="0">
            <a:off x="10334625" y="3337770"/>
            <a:ext cx="653396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Horse-and-tack metaphor, Fig. 1</a:t>
            </a:r>
          </a:p>
        </p:txBody>
      </p:sp>
      <p:sp>
        <p:nvSpPr>
          <p:cNvPr name="TextBox 15" id="15"/>
          <p:cNvSpPr txBox="true"/>
          <p:nvPr/>
        </p:nvSpPr>
        <p:spPr>
          <a:xfrm rot="0">
            <a:off x="10334625" y="3796827"/>
            <a:ext cx="653396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Sanderson de Macedo, arXiv 2606.10106, Jun 2026</a:t>
            </a:r>
          </a:p>
        </p:txBody>
      </p:sp>
      <p:sp>
        <p:nvSpPr>
          <p:cNvPr name="TextBox 16" id="16"/>
          <p:cNvSpPr txBox="true"/>
          <p:nvPr/>
        </p:nvSpPr>
        <p:spPr>
          <a:xfrm rot="0">
            <a:off x="10334625" y="4193010"/>
            <a:ext cx="6533960" cy="396183"/>
          </a:xfrm>
          <a:prstGeom prst="rect">
            <a:avLst/>
          </a:prstGeom>
        </p:spPr>
        <p:txBody>
          <a:bodyPr anchor="t" rtlCol="false" tIns="0" lIns="0" bIns="0" rIns="0">
            <a:spAutoFit/>
          </a:bodyPr>
          <a:lstStyle/>
          <a:p>
            <a:pPr algn="l">
              <a:lnSpc>
                <a:spcPts val="2520"/>
              </a:lnSpc>
            </a:pPr>
            <a:r>
              <a:rPr lang="en-US" sz="1800" u="sng">
                <a:solidFill>
                  <a:srgbClr val="2B2F45"/>
                </a:solidFill>
                <a:latin typeface="DM Sans"/>
                <a:ea typeface="DM Sans"/>
                <a:cs typeface="DM Sans"/>
                <a:sym typeface="DM Sans"/>
                <a:hlinkClick r:id="rId5" tooltip="https://arxiv.org/abs/2606.10106"/>
              </a:rPr>
              <a:t>Open the paper</a:t>
            </a:r>
          </a:p>
        </p:txBody>
      </p:sp>
      <p:grpSp>
        <p:nvGrpSpPr>
          <p:cNvPr name="Group 17" id="17"/>
          <p:cNvGrpSpPr/>
          <p:nvPr/>
        </p:nvGrpSpPr>
        <p:grpSpPr>
          <a:xfrm rot="0">
            <a:off x="1219200" y="5170218"/>
            <a:ext cx="7810500" cy="2266731"/>
            <a:chOff x="0" y="0"/>
            <a:chExt cx="10414000" cy="3022308"/>
          </a:xfrm>
        </p:grpSpPr>
        <p:sp>
          <p:nvSpPr>
            <p:cNvPr name="Freeform 18" id="18"/>
            <p:cNvSpPr/>
            <p:nvPr/>
          </p:nvSpPr>
          <p:spPr>
            <a:xfrm flipH="false" flipV="false" rot="0">
              <a:off x="0" y="0"/>
              <a:ext cx="10414000" cy="3022346"/>
            </a:xfrm>
            <a:custGeom>
              <a:avLst/>
              <a:gdLst/>
              <a:ahLst/>
              <a:cxnLst/>
              <a:rect r="r" b="b" t="t" l="l"/>
              <a:pathLst>
                <a:path h="3022346" w="10414000">
                  <a:moveTo>
                    <a:pt x="0" y="299720"/>
                  </a:moveTo>
                  <a:cubicBezTo>
                    <a:pt x="0" y="134239"/>
                    <a:pt x="134239" y="0"/>
                    <a:pt x="299720" y="0"/>
                  </a:cubicBezTo>
                  <a:lnTo>
                    <a:pt x="10114280" y="0"/>
                  </a:lnTo>
                  <a:cubicBezTo>
                    <a:pt x="10279761" y="0"/>
                    <a:pt x="10414000" y="134239"/>
                    <a:pt x="10414000" y="299720"/>
                  </a:cubicBezTo>
                  <a:lnTo>
                    <a:pt x="10414000" y="2722626"/>
                  </a:lnTo>
                  <a:cubicBezTo>
                    <a:pt x="10414000" y="2888107"/>
                    <a:pt x="10279761" y="3022346"/>
                    <a:pt x="10114280" y="3022346"/>
                  </a:cubicBezTo>
                  <a:lnTo>
                    <a:pt x="299720" y="3022346"/>
                  </a:lnTo>
                  <a:cubicBezTo>
                    <a:pt x="134239" y="3022346"/>
                    <a:pt x="0" y="2888107"/>
                    <a:pt x="0" y="2722626"/>
                  </a:cubicBezTo>
                  <a:close/>
                </a:path>
              </a:pathLst>
            </a:custGeom>
            <a:solidFill>
              <a:srgbClr val="FCFCFE"/>
            </a:solidFill>
            <a:ln w="9525" cap="sq">
              <a:solidFill>
                <a:srgbClr val="E1E4F2"/>
              </a:solidFill>
              <a:prstDash val="solid"/>
              <a:miter/>
            </a:ln>
          </p:spPr>
        </p:sp>
      </p:grpSp>
      <p:grpSp>
        <p:nvGrpSpPr>
          <p:cNvPr name="Group 19" id="19"/>
          <p:cNvGrpSpPr/>
          <p:nvPr/>
        </p:nvGrpSpPr>
        <p:grpSpPr>
          <a:xfrm rot="0">
            <a:off x="1609725" y="5560743"/>
            <a:ext cx="457200" cy="457200"/>
            <a:chOff x="0" y="0"/>
            <a:chExt cx="609600" cy="609600"/>
          </a:xfrm>
        </p:grpSpPr>
        <p:sp>
          <p:nvSpPr>
            <p:cNvPr name="Freeform 20" id="20" descr="Lin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21" id="21"/>
          <p:cNvSpPr txBox="true"/>
          <p:nvPr/>
        </p:nvSpPr>
        <p:spPr>
          <a:xfrm rot="0">
            <a:off x="2295525" y="5513118"/>
            <a:ext cx="653396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Anatomy of an agent harness, Fig. 3</a:t>
            </a:r>
          </a:p>
        </p:txBody>
      </p:sp>
      <p:sp>
        <p:nvSpPr>
          <p:cNvPr name="TextBox 22" id="22"/>
          <p:cNvSpPr txBox="true"/>
          <p:nvPr/>
        </p:nvSpPr>
        <p:spPr>
          <a:xfrm rot="0">
            <a:off x="2295525" y="5972175"/>
            <a:ext cx="6533960" cy="396183"/>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Sanderson de Macedo, arXiv 2606.10106, Jun 2026</a:t>
            </a:r>
          </a:p>
        </p:txBody>
      </p:sp>
      <p:sp>
        <p:nvSpPr>
          <p:cNvPr name="TextBox 23" id="23"/>
          <p:cNvSpPr txBox="true"/>
          <p:nvPr/>
        </p:nvSpPr>
        <p:spPr>
          <a:xfrm rot="0">
            <a:off x="2295525" y="6368358"/>
            <a:ext cx="6533960" cy="396183"/>
          </a:xfrm>
          <a:prstGeom prst="rect">
            <a:avLst/>
          </a:prstGeom>
        </p:spPr>
        <p:txBody>
          <a:bodyPr anchor="t" rtlCol="false" tIns="0" lIns="0" bIns="0" rIns="0">
            <a:spAutoFit/>
          </a:bodyPr>
          <a:lstStyle/>
          <a:p>
            <a:pPr algn="l">
              <a:lnSpc>
                <a:spcPts val="2520"/>
              </a:lnSpc>
            </a:pPr>
            <a:r>
              <a:rPr lang="en-US" sz="1800" u="sng">
                <a:solidFill>
                  <a:srgbClr val="2B2F45"/>
                </a:solidFill>
                <a:latin typeface="DM Sans"/>
                <a:ea typeface="DM Sans"/>
                <a:cs typeface="DM Sans"/>
                <a:sym typeface="DM Sans"/>
                <a:hlinkClick r:id="rId6" tooltip="https://arxiv.org/abs/2606.10106"/>
              </a:rPr>
              <a:t>Open the paper</a:t>
            </a:r>
          </a:p>
        </p:txBody>
      </p:sp>
      <p:grpSp>
        <p:nvGrpSpPr>
          <p:cNvPr name="Group 24" id="24"/>
          <p:cNvGrpSpPr/>
          <p:nvPr/>
        </p:nvGrpSpPr>
        <p:grpSpPr>
          <a:xfrm rot="0">
            <a:off x="9258300" y="5170218"/>
            <a:ext cx="7810500" cy="2266731"/>
            <a:chOff x="0" y="0"/>
            <a:chExt cx="10414000" cy="3022308"/>
          </a:xfrm>
        </p:grpSpPr>
        <p:sp>
          <p:nvSpPr>
            <p:cNvPr name="Freeform 25" id="25"/>
            <p:cNvSpPr/>
            <p:nvPr/>
          </p:nvSpPr>
          <p:spPr>
            <a:xfrm flipH="false" flipV="false" rot="0">
              <a:off x="0" y="0"/>
              <a:ext cx="10414000" cy="3022346"/>
            </a:xfrm>
            <a:custGeom>
              <a:avLst/>
              <a:gdLst/>
              <a:ahLst/>
              <a:cxnLst/>
              <a:rect r="r" b="b" t="t" l="l"/>
              <a:pathLst>
                <a:path h="3022346" w="10414000">
                  <a:moveTo>
                    <a:pt x="0" y="299720"/>
                  </a:moveTo>
                  <a:cubicBezTo>
                    <a:pt x="0" y="134239"/>
                    <a:pt x="134239" y="0"/>
                    <a:pt x="299720" y="0"/>
                  </a:cubicBezTo>
                  <a:lnTo>
                    <a:pt x="10114280" y="0"/>
                  </a:lnTo>
                  <a:cubicBezTo>
                    <a:pt x="10279761" y="0"/>
                    <a:pt x="10414000" y="134239"/>
                    <a:pt x="10414000" y="299720"/>
                  </a:cubicBezTo>
                  <a:lnTo>
                    <a:pt x="10414000" y="2722626"/>
                  </a:lnTo>
                  <a:cubicBezTo>
                    <a:pt x="10414000" y="2888107"/>
                    <a:pt x="10279761" y="3022346"/>
                    <a:pt x="10114280" y="3022346"/>
                  </a:cubicBezTo>
                  <a:lnTo>
                    <a:pt x="299720" y="3022346"/>
                  </a:lnTo>
                  <a:cubicBezTo>
                    <a:pt x="134239" y="3022346"/>
                    <a:pt x="0" y="2888107"/>
                    <a:pt x="0" y="2722626"/>
                  </a:cubicBezTo>
                  <a:close/>
                </a:path>
              </a:pathLst>
            </a:custGeom>
            <a:solidFill>
              <a:srgbClr val="FCFCFE"/>
            </a:solidFill>
            <a:ln w="9525" cap="sq">
              <a:solidFill>
                <a:srgbClr val="E1E4F2"/>
              </a:solidFill>
              <a:prstDash val="solid"/>
              <a:miter/>
            </a:ln>
          </p:spPr>
        </p:sp>
      </p:grpSp>
      <p:grpSp>
        <p:nvGrpSpPr>
          <p:cNvPr name="Group 26" id="26"/>
          <p:cNvGrpSpPr/>
          <p:nvPr/>
        </p:nvGrpSpPr>
        <p:grpSpPr>
          <a:xfrm rot="0">
            <a:off x="9648825" y="5560743"/>
            <a:ext cx="457200" cy="457200"/>
            <a:chOff x="0" y="0"/>
            <a:chExt cx="609600" cy="609600"/>
          </a:xfrm>
        </p:grpSpPr>
        <p:sp>
          <p:nvSpPr>
            <p:cNvPr name="Freeform 27" id="27" descr="Link"/>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28" id="28"/>
          <p:cNvSpPr txBox="true"/>
          <p:nvPr/>
        </p:nvSpPr>
        <p:spPr>
          <a:xfrm rot="0">
            <a:off x="10334625" y="5513118"/>
            <a:ext cx="6533960" cy="459057"/>
          </a:xfrm>
          <a:prstGeom prst="rect">
            <a:avLst/>
          </a:prstGeom>
        </p:spPr>
        <p:txBody>
          <a:bodyPr anchor="t" rtlCol="false" tIns="0" lIns="0" bIns="0" rIns="0">
            <a:spAutoFit/>
          </a:bodyPr>
          <a:lstStyle/>
          <a:p>
            <a:pPr algn="l">
              <a:lnSpc>
                <a:spcPts val="2940"/>
              </a:lnSpc>
            </a:pPr>
            <a:r>
              <a:rPr lang="en-US" sz="2100" b="true">
                <a:solidFill>
                  <a:srgbClr val="2B2F45"/>
                </a:solidFill>
                <a:latin typeface="DM Sans Bold"/>
                <a:ea typeface="DM Sans Bold"/>
                <a:cs typeface="DM Sans Bold"/>
                <a:sym typeface="DM Sans Bold"/>
              </a:rPr>
              <a:t>The browser Cursor's agents built</a:t>
            </a:r>
          </a:p>
        </p:txBody>
      </p:sp>
      <p:sp>
        <p:nvSpPr>
          <p:cNvPr name="TextBox 29" id="29"/>
          <p:cNvSpPr txBox="true"/>
          <p:nvPr/>
        </p:nvSpPr>
        <p:spPr>
          <a:xfrm rot="0">
            <a:off x="10334625" y="5972175"/>
            <a:ext cx="6533960" cy="716166"/>
          </a:xfrm>
          <a:prstGeom prst="rect">
            <a:avLst/>
          </a:prstGeom>
        </p:spPr>
        <p:txBody>
          <a:bodyPr anchor="t" rtlCol="false" tIns="0" lIns="0" bIns="0" rIns="0">
            <a:spAutoFit/>
          </a:bodyPr>
          <a:lstStyle/>
          <a:p>
            <a:pPr algn="l">
              <a:lnSpc>
                <a:spcPts val="2520"/>
              </a:lnSpc>
            </a:pPr>
            <a:r>
              <a:rPr lang="en-US" sz="1800">
                <a:solidFill>
                  <a:srgbClr val="646983"/>
                </a:solidFill>
                <a:latin typeface="DM Sans"/>
                <a:ea typeface="DM Sans"/>
                <a:cs typeface="DM Sans"/>
                <a:sym typeface="DM Sans"/>
              </a:rPr>
              <a:t>Cursor, “Scaling long-running autonomous coding”, Jan 2026</a:t>
            </a:r>
          </a:p>
        </p:txBody>
      </p:sp>
      <p:sp>
        <p:nvSpPr>
          <p:cNvPr name="TextBox 30" id="30"/>
          <p:cNvSpPr txBox="true"/>
          <p:nvPr/>
        </p:nvSpPr>
        <p:spPr>
          <a:xfrm rot="0">
            <a:off x="10334625" y="6688341"/>
            <a:ext cx="6533960" cy="396183"/>
          </a:xfrm>
          <a:prstGeom prst="rect">
            <a:avLst/>
          </a:prstGeom>
        </p:spPr>
        <p:txBody>
          <a:bodyPr anchor="t" rtlCol="false" tIns="0" lIns="0" bIns="0" rIns="0">
            <a:spAutoFit/>
          </a:bodyPr>
          <a:lstStyle/>
          <a:p>
            <a:pPr algn="l">
              <a:lnSpc>
                <a:spcPts val="2520"/>
              </a:lnSpc>
            </a:pPr>
            <a:r>
              <a:rPr lang="en-US" sz="1800" u="sng">
                <a:solidFill>
                  <a:srgbClr val="2B2F45"/>
                </a:solidFill>
                <a:latin typeface="DM Sans"/>
                <a:ea typeface="DM Sans"/>
                <a:cs typeface="DM Sans"/>
                <a:sym typeface="DM Sans"/>
                <a:hlinkClick r:id="rId7" tooltip="https://cursor.com/blog/scaling-agents"/>
              </a:rPr>
              <a:t>Open the post</a:t>
            </a:r>
          </a:p>
        </p:txBody>
      </p:sp>
      <p:sp>
        <p:nvSpPr>
          <p:cNvPr name="TextBox 31" id="31"/>
          <p:cNvSpPr txBox="true"/>
          <p:nvPr/>
        </p:nvSpPr>
        <p:spPr>
          <a:xfrm rot="0">
            <a:off x="16799195" y="9319317"/>
            <a:ext cx="269605" cy="396183"/>
          </a:xfrm>
          <a:prstGeom prst="rect">
            <a:avLst/>
          </a:prstGeom>
        </p:spPr>
        <p:txBody>
          <a:bodyPr anchor="t" rtlCol="false" tIns="0" lIns="0" bIns="0" rIns="0">
            <a:spAutoFit/>
          </a:bodyPr>
          <a:lstStyle/>
          <a:p>
            <a:pPr algn="r">
              <a:lnSpc>
                <a:spcPts val="2520"/>
              </a:lnSpc>
            </a:pPr>
            <a:r>
              <a:rPr lang="en-US" sz="1800">
                <a:solidFill>
                  <a:srgbClr val="646983"/>
                </a:solidFill>
                <a:latin typeface="DM Sans"/>
                <a:ea typeface="DM Sans"/>
                <a:cs typeface="DM Sans"/>
                <a:sym typeface="DM Sans"/>
              </a:rPr>
              <a:t>17</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CE6F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DCE6FB">
                    <a:alpha val="100000"/>
                  </a:srgbClr>
                </a:gs>
                <a:gs pos="55000">
                  <a:srgbClr val="E9E2FA">
                    <a:alpha val="100000"/>
                  </a:srgbClr>
                </a:gs>
                <a:gs pos="100000">
                  <a:srgbClr val="EFE4F7">
                    <a:alpha val="100000"/>
                  </a:srgbClr>
                </a:gs>
              </a:gsLst>
              <a:lin ang="2700000"/>
            </a:gradFill>
          </p:spPr>
        </p:sp>
      </p:grpSp>
      <p:sp>
        <p:nvSpPr>
          <p:cNvPr name="TextBox 4" id="4"/>
          <p:cNvSpPr txBox="true"/>
          <p:nvPr/>
        </p:nvSpPr>
        <p:spPr>
          <a:xfrm rot="0">
            <a:off x="1219200" y="1266825"/>
            <a:ext cx="16325088" cy="661016"/>
          </a:xfrm>
          <a:prstGeom prst="rect">
            <a:avLst/>
          </a:prstGeom>
        </p:spPr>
        <p:txBody>
          <a:bodyPr anchor="t" rtlCol="false" tIns="0" lIns="0" bIns="0" rIns="0">
            <a:spAutoFit/>
          </a:bodyPr>
          <a:lstStyle/>
          <a:p>
            <a:pPr algn="l">
              <a:lnSpc>
                <a:spcPts val="5280"/>
              </a:lnSpc>
            </a:pPr>
            <a:r>
              <a:rPr lang="en-US" b="true" sz="4800" spc="-112">
                <a:solidFill>
                  <a:srgbClr val="2B2F45"/>
                </a:solidFill>
                <a:latin typeface="DM Sans Bold"/>
                <a:ea typeface="DM Sans Bold"/>
                <a:cs typeface="DM Sans Bold"/>
                <a:sym typeface="DM Sans Bold"/>
              </a:rPr>
              <a:t>Start your harness this week</a:t>
            </a:r>
          </a:p>
        </p:txBody>
      </p:sp>
      <p:grpSp>
        <p:nvGrpSpPr>
          <p:cNvPr name="Group 5" id="5"/>
          <p:cNvGrpSpPr/>
          <p:nvPr/>
        </p:nvGrpSpPr>
        <p:grpSpPr>
          <a:xfrm rot="0">
            <a:off x="4461650" y="2347829"/>
            <a:ext cx="4545306" cy="2658627"/>
            <a:chOff x="0" y="0"/>
            <a:chExt cx="5054600" cy="2956522"/>
          </a:xfrm>
        </p:grpSpPr>
        <p:sp>
          <p:nvSpPr>
            <p:cNvPr name="Freeform 6" id="6"/>
            <p:cNvSpPr/>
            <p:nvPr/>
          </p:nvSpPr>
          <p:spPr>
            <a:xfrm flipH="false" flipV="false" rot="0">
              <a:off x="0" y="0"/>
              <a:ext cx="5054600" cy="2956560"/>
            </a:xfrm>
            <a:custGeom>
              <a:avLst/>
              <a:gdLst/>
              <a:ahLst/>
              <a:cxnLst/>
              <a:rect r="r" b="b" t="t" l="l"/>
              <a:pathLst>
                <a:path h="2956560" w="5054600">
                  <a:moveTo>
                    <a:pt x="0" y="304800"/>
                  </a:moveTo>
                  <a:cubicBezTo>
                    <a:pt x="0" y="136398"/>
                    <a:pt x="136398" y="0"/>
                    <a:pt x="304800" y="0"/>
                  </a:cubicBezTo>
                  <a:lnTo>
                    <a:pt x="4749800" y="0"/>
                  </a:lnTo>
                  <a:cubicBezTo>
                    <a:pt x="4918075" y="0"/>
                    <a:pt x="5054600" y="136398"/>
                    <a:pt x="5054600" y="304800"/>
                  </a:cubicBezTo>
                  <a:lnTo>
                    <a:pt x="5054600" y="2651760"/>
                  </a:lnTo>
                  <a:cubicBezTo>
                    <a:pt x="5054600" y="2820035"/>
                    <a:pt x="4918202" y="2956560"/>
                    <a:pt x="4749800" y="2956560"/>
                  </a:cubicBezTo>
                  <a:lnTo>
                    <a:pt x="304800" y="2956560"/>
                  </a:lnTo>
                  <a:cubicBezTo>
                    <a:pt x="136525" y="2956560"/>
                    <a:pt x="0" y="2820162"/>
                    <a:pt x="0" y="2651760"/>
                  </a:cubicBezTo>
                  <a:close/>
                </a:path>
              </a:pathLst>
            </a:custGeom>
            <a:solidFill>
              <a:srgbClr val="FFFFFF">
                <a:alpha val="35686"/>
              </a:srgbClr>
            </a:solidFill>
          </p:spPr>
        </p:sp>
      </p:grpSp>
      <p:grpSp>
        <p:nvGrpSpPr>
          <p:cNvPr name="Group 7" id="7"/>
          <p:cNvGrpSpPr/>
          <p:nvPr/>
        </p:nvGrpSpPr>
        <p:grpSpPr>
          <a:xfrm rot="0">
            <a:off x="4918464" y="2804643"/>
            <a:ext cx="639541" cy="639541"/>
            <a:chOff x="0" y="0"/>
            <a:chExt cx="711200" cy="711200"/>
          </a:xfrm>
        </p:grpSpPr>
        <p:sp>
          <p:nvSpPr>
            <p:cNvPr name="Freeform 8" id="8" descr="Search"/>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3"/>
              <a:stretch>
                <a:fillRect l="0" t="0" r="0" b="0"/>
              </a:stretch>
            </a:blipFill>
          </p:spPr>
        </p:sp>
      </p:grpSp>
      <p:sp>
        <p:nvSpPr>
          <p:cNvPr name="TextBox 9" id="9"/>
          <p:cNvSpPr txBox="true"/>
          <p:nvPr/>
        </p:nvSpPr>
        <p:spPr>
          <a:xfrm rot="0">
            <a:off x="4918464" y="3689698"/>
            <a:ext cx="3740627" cy="905625"/>
          </a:xfrm>
          <a:prstGeom prst="rect">
            <a:avLst/>
          </a:prstGeom>
        </p:spPr>
        <p:txBody>
          <a:bodyPr anchor="t" rtlCol="false" tIns="0" lIns="0" bIns="0" rIns="0">
            <a:spAutoFit/>
          </a:bodyPr>
          <a:lstStyle/>
          <a:p>
            <a:pPr algn="l">
              <a:lnSpc>
                <a:spcPts val="3273"/>
              </a:lnSpc>
            </a:pPr>
            <a:r>
              <a:rPr lang="en-US" sz="2517" b="true">
                <a:solidFill>
                  <a:srgbClr val="2B2F45"/>
                </a:solidFill>
                <a:latin typeface="DM Sans Bold"/>
                <a:ea typeface="DM Sans Bold"/>
                <a:cs typeface="DM Sans Bold"/>
                <a:sym typeface="DM Sans Bold"/>
              </a:rPr>
              <a:t>Log every mistake you fix by hand</a:t>
            </a:r>
          </a:p>
        </p:txBody>
      </p:sp>
      <p:grpSp>
        <p:nvGrpSpPr>
          <p:cNvPr name="Group 10" id="10"/>
          <p:cNvGrpSpPr/>
          <p:nvPr/>
        </p:nvGrpSpPr>
        <p:grpSpPr>
          <a:xfrm rot="0">
            <a:off x="9281044" y="2347829"/>
            <a:ext cx="4545306" cy="2658627"/>
            <a:chOff x="0" y="0"/>
            <a:chExt cx="5054600" cy="2956522"/>
          </a:xfrm>
        </p:grpSpPr>
        <p:sp>
          <p:nvSpPr>
            <p:cNvPr name="Freeform 11" id="11"/>
            <p:cNvSpPr/>
            <p:nvPr/>
          </p:nvSpPr>
          <p:spPr>
            <a:xfrm flipH="false" flipV="false" rot="0">
              <a:off x="0" y="0"/>
              <a:ext cx="5054600" cy="2956560"/>
            </a:xfrm>
            <a:custGeom>
              <a:avLst/>
              <a:gdLst/>
              <a:ahLst/>
              <a:cxnLst/>
              <a:rect r="r" b="b" t="t" l="l"/>
              <a:pathLst>
                <a:path h="2956560" w="5054600">
                  <a:moveTo>
                    <a:pt x="0" y="304800"/>
                  </a:moveTo>
                  <a:cubicBezTo>
                    <a:pt x="0" y="136398"/>
                    <a:pt x="136398" y="0"/>
                    <a:pt x="304800" y="0"/>
                  </a:cubicBezTo>
                  <a:lnTo>
                    <a:pt x="4749800" y="0"/>
                  </a:lnTo>
                  <a:cubicBezTo>
                    <a:pt x="4918075" y="0"/>
                    <a:pt x="5054600" y="136398"/>
                    <a:pt x="5054600" y="304800"/>
                  </a:cubicBezTo>
                  <a:lnTo>
                    <a:pt x="5054600" y="2651760"/>
                  </a:lnTo>
                  <a:cubicBezTo>
                    <a:pt x="5054600" y="2820035"/>
                    <a:pt x="4918202" y="2956560"/>
                    <a:pt x="4749800" y="2956560"/>
                  </a:cubicBezTo>
                  <a:lnTo>
                    <a:pt x="304800" y="2956560"/>
                  </a:lnTo>
                  <a:cubicBezTo>
                    <a:pt x="136525" y="2956560"/>
                    <a:pt x="0" y="2820162"/>
                    <a:pt x="0" y="2651760"/>
                  </a:cubicBezTo>
                  <a:close/>
                </a:path>
              </a:pathLst>
            </a:custGeom>
            <a:solidFill>
              <a:srgbClr val="FFFFFF">
                <a:alpha val="35686"/>
              </a:srgbClr>
            </a:solidFill>
          </p:spPr>
        </p:sp>
      </p:grpSp>
      <p:grpSp>
        <p:nvGrpSpPr>
          <p:cNvPr name="Group 12" id="12"/>
          <p:cNvGrpSpPr/>
          <p:nvPr/>
        </p:nvGrpSpPr>
        <p:grpSpPr>
          <a:xfrm rot="0">
            <a:off x="9737859" y="2804643"/>
            <a:ext cx="639541" cy="639541"/>
            <a:chOff x="0" y="0"/>
            <a:chExt cx="711200" cy="711200"/>
          </a:xfrm>
        </p:grpSpPr>
        <p:sp>
          <p:nvSpPr>
            <p:cNvPr name="Freeform 13" id="13" descr="Wrench"/>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4"/>
              <a:stretch>
                <a:fillRect l="0" t="0" r="0" b="0"/>
              </a:stretch>
            </a:blipFill>
          </p:spPr>
        </p:sp>
      </p:grpSp>
      <p:sp>
        <p:nvSpPr>
          <p:cNvPr name="TextBox 14" id="14"/>
          <p:cNvSpPr txBox="true"/>
          <p:nvPr/>
        </p:nvSpPr>
        <p:spPr>
          <a:xfrm rot="0">
            <a:off x="9737859" y="3689698"/>
            <a:ext cx="3740627" cy="905625"/>
          </a:xfrm>
          <a:prstGeom prst="rect">
            <a:avLst/>
          </a:prstGeom>
        </p:spPr>
        <p:txBody>
          <a:bodyPr anchor="t" rtlCol="false" tIns="0" lIns="0" bIns="0" rIns="0">
            <a:spAutoFit/>
          </a:bodyPr>
          <a:lstStyle/>
          <a:p>
            <a:pPr algn="l">
              <a:lnSpc>
                <a:spcPts val="3273"/>
              </a:lnSpc>
            </a:pPr>
            <a:r>
              <a:rPr lang="en-US" sz="2517" b="true">
                <a:solidFill>
                  <a:srgbClr val="2B2F45"/>
                </a:solidFill>
                <a:latin typeface="DM Sans Bold"/>
                <a:ea typeface="DM Sans Bold"/>
                <a:cs typeface="DM Sans Bold"/>
                <a:sym typeface="DM Sans Bold"/>
              </a:rPr>
              <a:t>Turn repeats into guides or sensors</a:t>
            </a:r>
          </a:p>
        </p:txBody>
      </p:sp>
      <p:grpSp>
        <p:nvGrpSpPr>
          <p:cNvPr name="Group 15" id="15"/>
          <p:cNvGrpSpPr/>
          <p:nvPr/>
        </p:nvGrpSpPr>
        <p:grpSpPr>
          <a:xfrm rot="0">
            <a:off x="4461650" y="5280544"/>
            <a:ext cx="4545306" cy="2658627"/>
            <a:chOff x="0" y="0"/>
            <a:chExt cx="5054600" cy="2956522"/>
          </a:xfrm>
        </p:grpSpPr>
        <p:sp>
          <p:nvSpPr>
            <p:cNvPr name="Freeform 16" id="16"/>
            <p:cNvSpPr/>
            <p:nvPr/>
          </p:nvSpPr>
          <p:spPr>
            <a:xfrm flipH="false" flipV="false" rot="0">
              <a:off x="0" y="0"/>
              <a:ext cx="5054600" cy="2956560"/>
            </a:xfrm>
            <a:custGeom>
              <a:avLst/>
              <a:gdLst/>
              <a:ahLst/>
              <a:cxnLst/>
              <a:rect r="r" b="b" t="t" l="l"/>
              <a:pathLst>
                <a:path h="2956560" w="5054600">
                  <a:moveTo>
                    <a:pt x="0" y="304800"/>
                  </a:moveTo>
                  <a:cubicBezTo>
                    <a:pt x="0" y="136398"/>
                    <a:pt x="136398" y="0"/>
                    <a:pt x="304800" y="0"/>
                  </a:cubicBezTo>
                  <a:lnTo>
                    <a:pt x="4749800" y="0"/>
                  </a:lnTo>
                  <a:cubicBezTo>
                    <a:pt x="4918075" y="0"/>
                    <a:pt x="5054600" y="136398"/>
                    <a:pt x="5054600" y="304800"/>
                  </a:cubicBezTo>
                  <a:lnTo>
                    <a:pt x="5054600" y="2651760"/>
                  </a:lnTo>
                  <a:cubicBezTo>
                    <a:pt x="5054600" y="2820035"/>
                    <a:pt x="4918202" y="2956560"/>
                    <a:pt x="4749800" y="2956560"/>
                  </a:cubicBezTo>
                  <a:lnTo>
                    <a:pt x="304800" y="2956560"/>
                  </a:lnTo>
                  <a:cubicBezTo>
                    <a:pt x="136525" y="2956560"/>
                    <a:pt x="0" y="2820162"/>
                    <a:pt x="0" y="2651760"/>
                  </a:cubicBezTo>
                  <a:close/>
                </a:path>
              </a:pathLst>
            </a:custGeom>
            <a:solidFill>
              <a:srgbClr val="FFFFFF">
                <a:alpha val="35686"/>
              </a:srgbClr>
            </a:solidFill>
          </p:spPr>
        </p:sp>
      </p:grpSp>
      <p:grpSp>
        <p:nvGrpSpPr>
          <p:cNvPr name="Group 17" id="17"/>
          <p:cNvGrpSpPr/>
          <p:nvPr/>
        </p:nvGrpSpPr>
        <p:grpSpPr>
          <a:xfrm rot="0">
            <a:off x="4918464" y="5737359"/>
            <a:ext cx="639541" cy="639541"/>
            <a:chOff x="0" y="0"/>
            <a:chExt cx="711200" cy="711200"/>
          </a:xfrm>
        </p:grpSpPr>
        <p:sp>
          <p:nvSpPr>
            <p:cNvPr name="Freeform 18" id="18" descr="Book"/>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5"/>
              <a:stretch>
                <a:fillRect l="0" t="0" r="0" b="0"/>
              </a:stretch>
            </a:blipFill>
          </p:spPr>
        </p:sp>
      </p:grpSp>
      <p:sp>
        <p:nvSpPr>
          <p:cNvPr name="TextBox 19" id="19"/>
          <p:cNvSpPr txBox="true"/>
          <p:nvPr/>
        </p:nvSpPr>
        <p:spPr>
          <a:xfrm rot="0">
            <a:off x="4918464" y="6622413"/>
            <a:ext cx="4088491" cy="489935"/>
          </a:xfrm>
          <a:prstGeom prst="rect">
            <a:avLst/>
          </a:prstGeom>
        </p:spPr>
        <p:txBody>
          <a:bodyPr anchor="t" rtlCol="false" tIns="0" lIns="0" bIns="0" rIns="0">
            <a:spAutoFit/>
          </a:bodyPr>
          <a:lstStyle/>
          <a:p>
            <a:pPr algn="l">
              <a:lnSpc>
                <a:spcPts val="3273"/>
              </a:lnSpc>
            </a:pPr>
            <a:r>
              <a:rPr lang="en-US" sz="2517" b="true">
                <a:solidFill>
                  <a:srgbClr val="2B2F45"/>
                </a:solidFill>
                <a:latin typeface="DM Sans Bold"/>
                <a:ea typeface="DM Sans Bold"/>
                <a:cs typeface="DM Sans Bold"/>
                <a:sym typeface="DM Sans Bold"/>
              </a:rPr>
              <a:t>Keep AGENTS.md short</a:t>
            </a:r>
          </a:p>
        </p:txBody>
      </p:sp>
      <p:grpSp>
        <p:nvGrpSpPr>
          <p:cNvPr name="Group 20" id="20"/>
          <p:cNvGrpSpPr/>
          <p:nvPr/>
        </p:nvGrpSpPr>
        <p:grpSpPr>
          <a:xfrm rot="0">
            <a:off x="9281044" y="5280544"/>
            <a:ext cx="4545306" cy="2658627"/>
            <a:chOff x="0" y="0"/>
            <a:chExt cx="5054600" cy="2956522"/>
          </a:xfrm>
        </p:grpSpPr>
        <p:sp>
          <p:nvSpPr>
            <p:cNvPr name="Freeform 21" id="21"/>
            <p:cNvSpPr/>
            <p:nvPr/>
          </p:nvSpPr>
          <p:spPr>
            <a:xfrm flipH="false" flipV="false" rot="0">
              <a:off x="0" y="0"/>
              <a:ext cx="5054600" cy="2956560"/>
            </a:xfrm>
            <a:custGeom>
              <a:avLst/>
              <a:gdLst/>
              <a:ahLst/>
              <a:cxnLst/>
              <a:rect r="r" b="b" t="t" l="l"/>
              <a:pathLst>
                <a:path h="2956560" w="5054600">
                  <a:moveTo>
                    <a:pt x="0" y="304800"/>
                  </a:moveTo>
                  <a:cubicBezTo>
                    <a:pt x="0" y="136398"/>
                    <a:pt x="136398" y="0"/>
                    <a:pt x="304800" y="0"/>
                  </a:cubicBezTo>
                  <a:lnTo>
                    <a:pt x="4749800" y="0"/>
                  </a:lnTo>
                  <a:cubicBezTo>
                    <a:pt x="4918075" y="0"/>
                    <a:pt x="5054600" y="136398"/>
                    <a:pt x="5054600" y="304800"/>
                  </a:cubicBezTo>
                  <a:lnTo>
                    <a:pt x="5054600" y="2651760"/>
                  </a:lnTo>
                  <a:cubicBezTo>
                    <a:pt x="5054600" y="2820035"/>
                    <a:pt x="4918202" y="2956560"/>
                    <a:pt x="4749800" y="2956560"/>
                  </a:cubicBezTo>
                  <a:lnTo>
                    <a:pt x="304800" y="2956560"/>
                  </a:lnTo>
                  <a:cubicBezTo>
                    <a:pt x="136525" y="2956560"/>
                    <a:pt x="0" y="2820162"/>
                    <a:pt x="0" y="2651760"/>
                  </a:cubicBezTo>
                  <a:close/>
                </a:path>
              </a:pathLst>
            </a:custGeom>
            <a:solidFill>
              <a:srgbClr val="FFFFFF">
                <a:alpha val="35686"/>
              </a:srgbClr>
            </a:solidFill>
          </p:spPr>
        </p:sp>
      </p:grpSp>
      <p:grpSp>
        <p:nvGrpSpPr>
          <p:cNvPr name="Group 22" id="22"/>
          <p:cNvGrpSpPr/>
          <p:nvPr/>
        </p:nvGrpSpPr>
        <p:grpSpPr>
          <a:xfrm rot="0">
            <a:off x="9737859" y="5737359"/>
            <a:ext cx="639541" cy="639541"/>
            <a:chOff x="0" y="0"/>
            <a:chExt cx="711200" cy="711200"/>
          </a:xfrm>
        </p:grpSpPr>
        <p:sp>
          <p:nvSpPr>
            <p:cNvPr name="Freeform 23" id="23" descr="Verified"/>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6"/>
              <a:stretch>
                <a:fillRect l="0" t="0" r="0" b="0"/>
              </a:stretch>
            </a:blipFill>
          </p:spPr>
        </p:sp>
      </p:grpSp>
      <p:sp>
        <p:nvSpPr>
          <p:cNvPr name="TextBox 24" id="24"/>
          <p:cNvSpPr txBox="true"/>
          <p:nvPr/>
        </p:nvSpPr>
        <p:spPr>
          <a:xfrm rot="0">
            <a:off x="9737859" y="6622413"/>
            <a:ext cx="3740627" cy="905625"/>
          </a:xfrm>
          <a:prstGeom prst="rect">
            <a:avLst/>
          </a:prstGeom>
        </p:spPr>
        <p:txBody>
          <a:bodyPr anchor="t" rtlCol="false" tIns="0" lIns="0" bIns="0" rIns="0">
            <a:spAutoFit/>
          </a:bodyPr>
          <a:lstStyle/>
          <a:p>
            <a:pPr algn="l">
              <a:lnSpc>
                <a:spcPts val="3273"/>
              </a:lnSpc>
            </a:pPr>
            <a:r>
              <a:rPr lang="en-US" sz="2517" b="true">
                <a:solidFill>
                  <a:srgbClr val="2B2F45"/>
                </a:solidFill>
                <a:latin typeface="DM Sans Bold"/>
                <a:ea typeface="DM Sans Bold"/>
                <a:cs typeface="DM Sans Bold"/>
                <a:sym typeface="DM Sans Bold"/>
              </a:rPr>
              <a:t>Re-test at every model upgrade</a:t>
            </a:r>
          </a:p>
        </p:txBody>
      </p:sp>
      <p:sp>
        <p:nvSpPr>
          <p:cNvPr name="TextBox 25" id="25"/>
          <p:cNvSpPr txBox="true"/>
          <p:nvPr/>
        </p:nvSpPr>
        <p:spPr>
          <a:xfrm rot="0">
            <a:off x="1219200" y="8593484"/>
            <a:ext cx="16325088" cy="432435"/>
          </a:xfrm>
          <a:prstGeom prst="rect">
            <a:avLst/>
          </a:prstGeom>
        </p:spPr>
        <p:txBody>
          <a:bodyPr anchor="t" rtlCol="false" tIns="0" lIns="0" bIns="0" rIns="0">
            <a:spAutoFit/>
          </a:bodyPr>
          <a:lstStyle/>
          <a:p>
            <a:pPr algn="ctr">
              <a:lnSpc>
                <a:spcPts val="3510"/>
              </a:lnSpc>
            </a:pPr>
            <a:r>
              <a:rPr lang="en-US" sz="2700" b="true">
                <a:solidFill>
                  <a:srgbClr val="2B2F45"/>
                </a:solidFill>
                <a:latin typeface="DM Sans Bold"/>
                <a:ea typeface="DM Sans Bold"/>
                <a:cs typeface="DM Sans Bold"/>
                <a:sym typeface="DM Sans Bold"/>
              </a:rPr>
              <a:t>Agent = Model + Harness. You build the harness.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DCE6F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DCE6FB">
                    <a:alpha val="100000"/>
                  </a:srgbClr>
                </a:gs>
                <a:gs pos="55000">
                  <a:srgbClr val="E9E2FA">
                    <a:alpha val="100000"/>
                  </a:srgbClr>
                </a:gs>
                <a:gs pos="100000">
                  <a:srgbClr val="EFE4F7">
                    <a:alpha val="100000"/>
                  </a:srgbClr>
                </a:gs>
              </a:gsLst>
              <a:lin ang="2700000"/>
            </a:gradFill>
          </p:spPr>
        </p:sp>
      </p:grpSp>
      <p:sp>
        <p:nvSpPr>
          <p:cNvPr name="TextBox 4" id="4"/>
          <p:cNvSpPr txBox="true"/>
          <p:nvPr/>
        </p:nvSpPr>
        <p:spPr>
          <a:xfrm rot="0">
            <a:off x="3499396" y="4274503"/>
            <a:ext cx="11289209" cy="1566544"/>
          </a:xfrm>
          <a:prstGeom prst="rect">
            <a:avLst/>
          </a:prstGeom>
        </p:spPr>
        <p:txBody>
          <a:bodyPr anchor="t" rtlCol="false" tIns="0" lIns="0" bIns="0" rIns="0">
            <a:spAutoFit/>
          </a:bodyPr>
          <a:lstStyle/>
          <a:p>
            <a:pPr algn="ctr">
              <a:lnSpc>
                <a:spcPts val="12880"/>
              </a:lnSpc>
            </a:pPr>
            <a:r>
              <a:rPr lang="en-US" sz="9200" b="true">
                <a:solidFill>
                  <a:srgbClr val="4D5270"/>
                </a:solidFill>
                <a:latin typeface="Canva Sans Bold"/>
                <a:ea typeface="Canva Sans Bold"/>
                <a:cs typeface="Canva Sans Bold"/>
                <a:sym typeface="Canva Sans Bold"/>
              </a:rPr>
              <a:t>End of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DAHXtXvG_E0</dc:identifier>
  <dcterms:modified xsi:type="dcterms:W3CDTF">2011-08-01T06:04:30Z</dcterms:modified>
  <cp:revision>1</cp:revision>
  <dc:title>Harness Engineering From Prompts to Systems.pptx</dc:title>
</cp:coreProperties>
</file>